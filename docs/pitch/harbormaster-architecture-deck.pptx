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4213D"/>
                </a:solidFill>
                <a:latin typeface="Arial"/>
              </a:defRPr>
            </a:pPr>
            <a:r>
              <a:rPr sz="1000" b="0" i="0" u="none" strike="noStrike">
                <a:solidFill>
                  <a:srgbClr val="14213D"/>
                </a:solidFill>
                <a:latin typeface="Arial"/>
              </a:rPr>
              <a:t>Ratios (1.0 = target met)</a:t>
            </a:r>
          </a:p>
        </c:rich>
      </c:tx>
      <c:layout/>
      <c:overlay val="0"/>
    </c:title>
    <c:autoTitleDeleted val="0"/>
    <c:plotArea>
      <c:layout/>
      <c:barChart>
        <c:barDir val="bar"/>
        <c:grouping val="clustered"/>
        <c:varyColors val="0"/>
        <c:ser>
          <c:idx val="0"/>
          <c:order val="0"/>
          <c:tx>
            <c:strRef>
              <c:f>Sheet1!$B$1</c:f>
              <c:strCache>
                <c:ptCount val="1"/>
                <c:pt idx="0">
                  <c:v>Value</c:v>
                </c:pt>
              </c:strCache>
            </c:strRef>
          </c:tx>
          <c:spPr>
            <a:solidFill>
              <a:srgbClr val="2EC4B6"/>
            </a:solidFill>
            <a:effectLst/>
          </c:spPr>
          <c:invertIfNegative val="0"/>
          <c:dLbls>
            <c:numFmt formatCode="0.00" sourceLinked="0"/>
            <c:txPr>
              <a:bodyPr/>
              <a:lstStyle/>
              <a:p>
                <a:pPr>
                  <a:defRPr b="0" i="0" strike="noStrike" sz="900" u="none">
                    <a:solidFill>
                      <a:srgbClr val="1B2A41"/>
                    </a:solidFill>
                    <a:latin typeface="Arial"/>
                  </a:defRPr>
                </a:pPr>
              </a:p>
            </c:txPr>
            <c:showLegendKey val="0"/>
            <c:showVal val="1"/>
            <c:showCatName val="0"/>
            <c:showSerName val="0"/>
            <c:showPercent val="0"/>
            <c:showBubbleSize val="0"/>
            <c:showLeaderLines val="0"/>
          </c:dLbls>
          <c:cat>
            <c:multiLvlStrRef>
              <c:f>Sheet1!$A$2:$A$6</c:f>
              <c:multiLvlStrCache>
                <c:ptCount val="5"/>
                <c:lvl>
                  <c:pt idx="0">
                    <c:v>Field-mapping accuracy</c:v>
                  </c:pt>
                  <c:pt idx="1">
                    <c:v>Resolved w/o a model</c:v>
                  </c:pt>
                  <c:pt idx="2">
                    <c:v>Quarantine precision</c:v>
                  </c:pt>
                  <c:pt idx="3">
                    <c:v>Quarantine recall</c:v>
                  </c:pt>
                  <c:pt idx="4">
                    <c:v>Tests passing (÷400)</c:v>
                  </c:pt>
                </c:lvl>
              </c:multiLvlStrCache>
            </c:multiLvlStrRef>
          </c:cat>
          <c:val>
            <c:numRef>
              <c:f>Sheet1!$B$2:$B$6</c:f>
              <c:numCache>
                <c:formatCode>General</c:formatCode>
                <c:ptCount val="5"/>
                <c:pt idx="0">
                  <c:v>0.977</c:v>
                </c:pt>
                <c:pt idx="1">
                  <c:v>0.808</c:v>
                </c:pt>
                <c:pt idx="2">
                  <c:v>1</c:v>
                </c:pt>
                <c:pt idx="3">
                  <c:v>0.667</c:v>
                </c:pt>
                <c:pt idx="4">
                  <c:v>0.87</c:v>
                </c:pt>
              </c:numCache>
            </c:numRef>
          </c:val>
        </c:ser>
        <c:dLbls>
          <c:numFmt formatCode="0.00" sourceLinked="0"/>
          <c:txPr>
            <a:bodyPr/>
            <a:lstStyle/>
            <a:p>
              <a:pPr>
                <a:defRPr b="0" i="0" strike="noStrike" sz="900" u="none">
                  <a:solidFill>
                    <a:srgbClr val="1B2A4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C9D3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7A9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23444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Harbormaster</a:t>
            </a:r>
            <a:endParaRPr lang="en-US" sz="4400" dirty="0"/>
          </a:p>
        </p:txBody>
      </p:sp>
      <p:sp>
        <p:nvSpPr>
          <p:cNvPr id="3" name="Text 1"/>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2200" dirty="0">
                <a:solidFill>
                  <a:srgbClr val="DCE7F5"/>
                </a:solidFill>
                <a:latin typeface="Calibri" pitchFamily="34" charset="0"/>
                <a:ea typeface="Calibri" pitchFamily="34" charset="-122"/>
                <a:cs typeface="Calibri" pitchFamily="34" charset="-120"/>
              </a:rPr>
              <a:t>AI Systems Architecture Review</a:t>
            </a:r>
            <a:endParaRPr lang="en-US" sz="2200" dirty="0"/>
          </a:p>
        </p:txBody>
      </p:sp>
      <p:sp>
        <p:nvSpPr>
          <p:cNvPr id="4" name="Text 2"/>
          <p:cNvSpPr txBox="1"/>
          <p:nvPr/>
        </p:nvSpPr>
        <p:spPr>
          <a:xfrm>
            <a:off x="548640" y="2542032"/>
            <a:ext cx="7863840" cy="548640"/>
          </a:xfrm>
          <a:prstGeom prst="rect">
            <a:avLst/>
          </a:prstGeom>
          <a:noFill/>
          <a:ln/>
        </p:spPr>
        <p:txBody>
          <a:bodyPr wrap="square" lIns="0" tIns="0" rIns="0" bIns="0" rtlCol="0" anchor="ctr"/>
          <a:lstStyle/>
          <a:p>
            <a:pPr indent="0" marL="0">
              <a:buNone/>
            </a:pPr>
            <a:r>
              <a:rPr lang="en-US" sz="1300" i="1" dirty="0">
                <a:solidFill>
                  <a:srgbClr val="DCE7F5"/>
                </a:solidFill>
                <a:latin typeface="Calibri" pitchFamily="34" charset="0"/>
                <a:ea typeface="Calibri" pitchFamily="34" charset="-122"/>
                <a:cs typeface="Calibri" pitchFamily="34" charset="-120"/>
              </a:rPr>
              <a:t>Intelligent file-arrival control for financial reconciliation — a three-tier mapping ladder, quarantine and four-eyes review, hash-chained audit</a:t>
            </a:r>
            <a:endParaRPr lang="en-US" sz="1300" dirty="0"/>
          </a:p>
        </p:txBody>
      </p:sp>
      <p:sp>
        <p:nvSpPr>
          <p:cNvPr id="5" name="Text 3"/>
          <p:cNvSpPr txBox="1"/>
          <p:nvPr/>
        </p:nvSpPr>
        <p:spPr>
          <a:xfrm>
            <a:off x="548640" y="4206240"/>
            <a:ext cx="8046720" cy="274320"/>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Ship readiness complete · 12 September 2026 · Roshan Rana, AI Systems Architect</a:t>
            </a:r>
            <a:endParaRPr lang="en-US" sz="1000" dirty="0"/>
          </a:p>
        </p:txBody>
      </p:sp>
      <p:sp>
        <p:nvSpPr>
          <p:cNvPr id="6" name="Shape 4"/>
          <p:cNvSpPr/>
          <p:nvPr/>
        </p:nvSpPr>
        <p:spPr>
          <a:xfrm>
            <a:off x="7498080" y="1097280"/>
            <a:ext cx="1005840" cy="1005840"/>
          </a:xfrm>
          <a:prstGeom prst="ellipse">
            <a:avLst/>
          </a:prstGeom>
          <a:solidFill>
            <a:srgbClr val="2EC4B6"/>
          </a:solidFill>
          <a:ln w="12700">
            <a:solidFill>
              <a:srgbClr val="2EC4B6"/>
            </a:solidFill>
            <a:prstDash val="solid"/>
          </a:ln>
        </p:spPr>
      </p:sp>
      <p:sp>
        <p:nvSpPr>
          <p:cNvPr id="7" name="Text 5"/>
          <p:cNvSpPr txBox="1"/>
          <p:nvPr/>
        </p:nvSpPr>
        <p:spPr>
          <a:xfrm>
            <a:off x="7498080" y="1097280"/>
            <a:ext cx="1005840" cy="1005840"/>
          </a:xfrm>
          <a:prstGeom prst="rect">
            <a:avLst/>
          </a:prstGeom>
          <a:noFill/>
          <a:ln/>
        </p:spPr>
        <p:txBody>
          <a:bodyPr wrap="square" lIns="0" tIns="0" rIns="0" bIns="0" rtlCol="0" anchor="ctr"/>
          <a:lstStyle/>
          <a:p>
            <a:pPr algn="ctr" indent="0" marL="0">
              <a:buNone/>
            </a:pPr>
            <a:r>
              <a:rPr lang="en-US" sz="4000" b="1" dirty="0">
                <a:solidFill>
                  <a:srgbClr val="14213D"/>
                </a:solidFill>
                <a:latin typeface="Cambria" pitchFamily="34" charset="0"/>
                <a:ea typeface="Cambria" pitchFamily="34" charset="-122"/>
                <a:cs typeface="Cambria" pitchFamily="34" charset="-120"/>
              </a:rPr>
              <a:t>H</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OVERVIEW</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Executive summary</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2</a:t>
            </a:r>
            <a:endParaRPr lang="en-US" sz="800" dirty="0"/>
          </a:p>
        </p:txBody>
      </p:sp>
      <p:sp>
        <p:nvSpPr>
          <p:cNvPr id="5" name="Shape 3"/>
          <p:cNvSpPr/>
          <p:nvPr/>
        </p:nvSpPr>
        <p:spPr>
          <a:xfrm>
            <a:off x="457200" y="1188720"/>
            <a:ext cx="2651760" cy="2971800"/>
          </a:xfrm>
          <a:prstGeom prst="roundRect">
            <a:avLst>
              <a:gd name="adj" fmla="val 2069"/>
            </a:avLst>
          </a:prstGeom>
          <a:solidFill>
            <a:srgbClr val="F3F6FA"/>
          </a:solidFill>
          <a:ln w="9525">
            <a:solidFill>
              <a:srgbClr val="C9D3E0"/>
            </a:solidFill>
            <a:prstDash val="solid"/>
          </a:ln>
        </p:spPr>
      </p:sp>
      <p:sp>
        <p:nvSpPr>
          <p:cNvPr id="6" name="Text 4"/>
          <p:cNvSpPr txBox="1"/>
          <p:nvPr/>
        </p:nvSpPr>
        <p:spPr>
          <a:xfrm>
            <a:off x="594360" y="1280160"/>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What it is</a:t>
            </a:r>
            <a:endParaRPr lang="en-US" sz="1500" dirty="0"/>
          </a:p>
        </p:txBody>
      </p:sp>
      <p:sp>
        <p:nvSpPr>
          <p:cNvPr id="7" name="Text 5"/>
          <p:cNvSpPr txBox="1"/>
          <p:nvPr/>
        </p:nvSpPr>
        <p:spPr>
          <a:xfrm>
            <a:off x="594360" y="1691640"/>
            <a:ext cx="2377440" cy="23774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B2A41"/>
                </a:solidFill>
                <a:latin typeface="Calibri" pitchFamily="34" charset="0"/>
                <a:ea typeface="Calibri" pitchFamily="34" charset="-122"/>
                <a:cs typeface="Calibri" pitchFamily="34" charset="-120"/>
              </a:rPr>
              <a:t>The control layer between a bank's FTP landing directory / JSON queue and its reconciliation engine: six event-driven services (Go + Python) that decide which client a file belongs to, which value date it describes, and how its columns map onto one canonical schema.</a:t>
            </a:r>
            <a:endParaRPr lang="en-US" sz="1050" dirty="0"/>
          </a:p>
          <a:p>
            <a:pPr marL="342900" indent="-342900">
              <a:spcAft>
                <a:spcPts val="400"/>
              </a:spcAft>
              <a:buSzPct val="100000"/>
              <a:buChar char="•"/>
            </a:pPr>
            <a:r>
              <a:rPr lang="en-US" sz="1050" dirty="0">
                <a:solidFill>
                  <a:srgbClr val="1B2A41"/>
                </a:solidFill>
                <a:latin typeface="Calibri" pitchFamily="34" charset="0"/>
                <a:ea typeface="Calibri" pitchFamily="34" charset="-122"/>
                <a:cs typeface="Calibri" pitchFamily="34" charset="-120"/>
              </a:rPr>
              <a:t>It declines when it cannot decide, quarantines for a human, and records why.</a:t>
            </a:r>
            <a:endParaRPr lang="en-US" sz="1050" dirty="0"/>
          </a:p>
        </p:txBody>
      </p:sp>
      <p:sp>
        <p:nvSpPr>
          <p:cNvPr id="8" name="Shape 6"/>
          <p:cNvSpPr/>
          <p:nvPr/>
        </p:nvSpPr>
        <p:spPr>
          <a:xfrm>
            <a:off x="3246120" y="1188720"/>
            <a:ext cx="2651760" cy="2971800"/>
          </a:xfrm>
          <a:prstGeom prst="roundRect">
            <a:avLst>
              <a:gd name="adj" fmla="val 2069"/>
            </a:avLst>
          </a:prstGeom>
          <a:solidFill>
            <a:srgbClr val="F3F6FA"/>
          </a:solidFill>
          <a:ln w="9525">
            <a:solidFill>
              <a:srgbClr val="C9D3E0"/>
            </a:solidFill>
            <a:prstDash val="solid"/>
          </a:ln>
        </p:spPr>
      </p:sp>
      <p:sp>
        <p:nvSpPr>
          <p:cNvPr id="9" name="Text 7"/>
          <p:cNvSpPr txBox="1"/>
          <p:nvPr/>
        </p:nvSpPr>
        <p:spPr>
          <a:xfrm>
            <a:off x="3383280" y="1280160"/>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What it proves</a:t>
            </a:r>
            <a:endParaRPr lang="en-US" sz="1500" dirty="0"/>
          </a:p>
        </p:txBody>
      </p:sp>
      <p:sp>
        <p:nvSpPr>
          <p:cNvPr id="10" name="Text 8"/>
          <p:cNvSpPr txBox="1"/>
          <p:nvPr/>
        </p:nvSpPr>
        <p:spPr>
          <a:xfrm>
            <a:off x="3383280" y="1691640"/>
            <a:ext cx="2377440" cy="23774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B2A41"/>
                </a:solidFill>
                <a:latin typeface="Calibri" pitchFamily="34" charset="0"/>
                <a:ea typeface="Calibri" pitchFamily="34" charset="-122"/>
                <a:cs typeface="Calibri" pitchFamily="34" charset="-120"/>
              </a:rPr>
              <a:t>A three-tier mapping ladder — alias dictionary, then fuzzy match, then a model — whose model dependence falls over time as confirmed mappings are cached and promoted into configuration.</a:t>
            </a:r>
            <a:endParaRPr lang="en-US" sz="1050" dirty="0"/>
          </a:p>
          <a:p>
            <a:pPr marL="342900" indent="-342900">
              <a:spcAft>
                <a:spcPts val="400"/>
              </a:spcAft>
              <a:buSzPct val="100000"/>
              <a:buChar char="•"/>
            </a:pPr>
            <a:r>
              <a:rPr lang="en-US" sz="1050" dirty="0">
                <a:solidFill>
                  <a:srgbClr val="1B2A41"/>
                </a:solidFill>
                <a:latin typeface="Calibri" pitchFamily="34" charset="0"/>
                <a:ea typeface="Calibri" pitchFamily="34" charset="-122"/>
                <a:cs typeface="Calibri" pitchFamily="34" charset="-120"/>
              </a:rPr>
              <a:t>97.7% field-mapping accuracy and 80.8% resolved without a model, measured against a 214-column hand-labelled corpus by a bench harness that reproduces the same numbers on every run.</a:t>
            </a:r>
            <a:endParaRPr lang="en-US" sz="1050" dirty="0"/>
          </a:p>
        </p:txBody>
      </p:sp>
      <p:sp>
        <p:nvSpPr>
          <p:cNvPr id="11" name="Shape 9"/>
          <p:cNvSpPr/>
          <p:nvPr/>
        </p:nvSpPr>
        <p:spPr>
          <a:xfrm>
            <a:off x="6035040" y="1188720"/>
            <a:ext cx="2651760" cy="2971800"/>
          </a:xfrm>
          <a:prstGeom prst="roundRect">
            <a:avLst>
              <a:gd name="adj" fmla="val 2069"/>
            </a:avLst>
          </a:prstGeom>
          <a:solidFill>
            <a:srgbClr val="F3F6FA"/>
          </a:solidFill>
          <a:ln w="9525">
            <a:solidFill>
              <a:srgbClr val="C9D3E0"/>
            </a:solidFill>
            <a:prstDash val="solid"/>
          </a:ln>
        </p:spPr>
      </p:sp>
      <p:sp>
        <p:nvSpPr>
          <p:cNvPr id="12" name="Text 10"/>
          <p:cNvSpPr txBox="1"/>
          <p:nvPr/>
        </p:nvSpPr>
        <p:spPr>
          <a:xfrm>
            <a:off x="6172200" y="1280160"/>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Why it is enterprise-ready</a:t>
            </a:r>
            <a:endParaRPr lang="en-US" sz="1500" dirty="0"/>
          </a:p>
        </p:txBody>
      </p:sp>
      <p:sp>
        <p:nvSpPr>
          <p:cNvPr id="13" name="Text 11"/>
          <p:cNvSpPr txBox="1"/>
          <p:nvPr/>
        </p:nvSpPr>
        <p:spPr>
          <a:xfrm>
            <a:off x="6172200" y="1691640"/>
            <a:ext cx="2377440" cy="23774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B2A41"/>
                </a:solidFill>
                <a:latin typeface="Calibri" pitchFamily="34" charset="0"/>
                <a:ea typeface="Calibri" pitchFamily="34" charset="-122"/>
                <a:cs typeface="Calibri" pitchFamily="34" charset="-120"/>
              </a:rPr>
              <a:t>Hash-chained, tamper-evident audit (an edited or deleted record is detected and the chain fails closed); quarantine with four-eyes review; masking of account numbers by default.</a:t>
            </a:r>
            <a:endParaRPr lang="en-US" sz="1050" dirty="0"/>
          </a:p>
          <a:p>
            <a:pPr marL="342900" indent="-342900">
              <a:spcAft>
                <a:spcPts val="400"/>
              </a:spcAft>
              <a:buSzPct val="100000"/>
              <a:buChar char="•"/>
            </a:pPr>
            <a:r>
              <a:rPr lang="en-US" sz="1050" dirty="0">
                <a:solidFill>
                  <a:srgbClr val="1B2A41"/>
                </a:solidFill>
                <a:latin typeface="Calibri" pitchFamily="34" charset="0"/>
                <a:ea typeface="Calibri" pitchFamily="34" charset="-122"/>
                <a:cs typeface="Calibri" pitchFamily="34" charset="-120"/>
              </a:rPr>
              <a:t>20 architecture decisions, 50 task packs, twelve named adversarial fixtures, 347 tests passing offline in this run, CI running the same gate.</a:t>
            </a:r>
            <a:endParaRPr lang="en-US" sz="1050" dirty="0"/>
          </a:p>
        </p:txBody>
      </p:sp>
      <p:sp>
        <p:nvSpPr>
          <p:cNvPr id="14" name="Text 12"/>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1000" i="1" dirty="0">
                <a:solidFill>
                  <a:srgbClr val="1B2A41"/>
                </a:solidFill>
                <a:latin typeface="Calibri" pitchFamily="34" charset="0"/>
                <a:ea typeface="Calibri" pitchFamily="34" charset="-122"/>
                <a:cs typeface="Calibri" pitchFamily="34" charset="-120"/>
              </a:rPr>
              <a:t>Ask of the audience: agree the pilot scope (host-validated Docker run of make up / make test-e2e / HM_LIVE=1 make test-live, load test against the NFR-2 latency target) and whether Tier 2 embeddings (fastembed) ship enabled or degraded.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CONTEXT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problem and the users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3</a:t>
            </a:r>
            <a:endParaRPr lang="en-US" sz="800" dirty="0"/>
          </a:p>
        </p:txBody>
      </p:sp>
      <p:sp>
        <p:nvSpPr>
          <p:cNvPr id="5" name="Shape 3"/>
          <p:cNvSpPr/>
          <p:nvPr/>
        </p:nvSpPr>
        <p:spPr>
          <a:xfrm>
            <a:off x="457200" y="1188720"/>
            <a:ext cx="3931920" cy="1600200"/>
          </a:xfrm>
          <a:prstGeom prst="roundRect">
            <a:avLst>
              <a:gd name="adj" fmla="val 3429"/>
            </a:avLst>
          </a:prstGeom>
          <a:solidFill>
            <a:srgbClr val="F3F6FA"/>
          </a:solidFill>
          <a:ln w="9525">
            <a:solidFill>
              <a:srgbClr val="C9D3E0"/>
            </a:solidFill>
            <a:prstDash val="solid"/>
          </a:ln>
        </p:spPr>
      </p:sp>
      <p:sp>
        <p:nvSpPr>
          <p:cNvPr id="6" name="Text 4"/>
          <p:cNvSpPr txBox="1"/>
          <p:nvPr/>
        </p:nvSpPr>
        <p:spPr>
          <a:xfrm>
            <a:off x="548640" y="124358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The bank's problem</a:t>
            </a:r>
            <a:endParaRPr lang="en-US" sz="1100" dirty="0"/>
          </a:p>
        </p:txBody>
      </p:sp>
      <p:sp>
        <p:nvSpPr>
          <p:cNvPr id="7" name="Text 5"/>
          <p:cNvSpPr txBox="1"/>
          <p:nvPr/>
        </p:nvSpPr>
        <p:spPr>
          <a:xfrm>
            <a:off x="548640" y="1499616"/>
            <a:ext cx="3749040" cy="123444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Client, custodian and exchange reports land all day into one FTP directory as CSV, Excel, XML, FIXML and free-text email, plus a parallel JSON queue. Every venue names its columns differently, filenames are unreliable, and a file produced late at the client carries yesterday's business under today's date.</a:t>
            </a:r>
            <a:endParaRPr lang="en-US" sz="1000" dirty="0"/>
          </a:p>
        </p:txBody>
      </p:sp>
      <p:sp>
        <p:nvSpPr>
          <p:cNvPr id="8" name="Shape 6"/>
          <p:cNvSpPr/>
          <p:nvPr/>
        </p:nvSpPr>
        <p:spPr>
          <a:xfrm>
            <a:off x="4754880" y="1188720"/>
            <a:ext cx="3931920" cy="1600200"/>
          </a:xfrm>
          <a:prstGeom prst="roundRect">
            <a:avLst>
              <a:gd name="adj" fmla="val 3429"/>
            </a:avLst>
          </a:prstGeom>
          <a:solidFill>
            <a:srgbClr val="F3F6FA"/>
          </a:solidFill>
          <a:ln w="9525">
            <a:solidFill>
              <a:srgbClr val="C9D3E0"/>
            </a:solidFill>
            <a:prstDash val="solid"/>
          </a:ln>
        </p:spPr>
      </p:sp>
      <p:sp>
        <p:nvSpPr>
          <p:cNvPr id="9" name="Text 7"/>
          <p:cNvSpPr txBox="1"/>
          <p:nvPr/>
        </p:nvSpPr>
        <p:spPr>
          <a:xfrm>
            <a:off x="4846320" y="124358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The engine's constraint</a:t>
            </a:r>
            <a:endParaRPr lang="en-US" sz="1100" dirty="0"/>
          </a:p>
        </p:txBody>
      </p:sp>
      <p:sp>
        <p:nvSpPr>
          <p:cNvPr id="10" name="Text 8"/>
          <p:cNvSpPr txBox="1"/>
          <p:nvPr/>
        </p:nvSpPr>
        <p:spPr>
          <a:xfrm>
            <a:off x="4846320" y="1499616"/>
            <a:ext cx="3749040" cy="123444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The downstream reconciliation engine is deliberately simple: it matches records for an expected file on each side. It has no opinion about which client, which value date, or which of four price columns is the trade price. It has to be told — correctly, or not at all.</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8229600" cy="914400"/>
        </p:xfrm>
        <a:graphic>
          <a:graphicData uri="http://schemas.openxmlformats.org/drawingml/2006/table">
            <a:tbl>
              <a:tblPr/>
              <a:tblGrid>
                <a:gridCol w="2377440"/>
                <a:gridCol w="4389120"/>
                <a:gridCol w="146304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Actor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Needs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Frequency</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Reconciliation engine (downstream)</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One canonical Parquet schema per file, with client, value date and side already resolved</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Continuous, all day</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Four-eyes reviewer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A specific reason for every quarantine, and the ability to correct, release or reject</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On quarantine (0% of well-formed fixtures)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Client onboarding / ops team</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Per-client YAML config; a promoted mapping resolves at Tier 1 forever after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As new clients or venues arrive</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Compliance / auditor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A tamper-evident decision log that reconstructs any dispatch after the fact</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On review, or on demand</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APPROACH</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Solution at a glance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4</a:t>
            </a:r>
            <a:endParaRPr lang="en-US" sz="800" dirty="0"/>
          </a:p>
        </p:txBody>
      </p:sp>
      <p:sp>
        <p:nvSpPr>
          <p:cNvPr id="5" name="Shape 3"/>
          <p:cNvSpPr/>
          <p:nvPr/>
        </p:nvSpPr>
        <p:spPr>
          <a:xfrm>
            <a:off x="457200" y="1234440"/>
            <a:ext cx="1965960" cy="1965960"/>
          </a:xfrm>
          <a:prstGeom prst="roundRect">
            <a:avLst>
              <a:gd name="adj" fmla="val 2791"/>
            </a:avLst>
          </a:prstGeom>
          <a:solidFill>
            <a:srgbClr val="1C2B4F"/>
          </a:solidFill>
          <a:ln w="9525">
            <a:solidFill>
              <a:srgbClr val="1C2B4F"/>
            </a:solidFill>
            <a:prstDash val="solid"/>
          </a:ln>
        </p:spPr>
      </p:sp>
      <p:sp>
        <p:nvSpPr>
          <p:cNvPr id="6" name="Shape 4"/>
          <p:cNvSpPr/>
          <p:nvPr/>
        </p:nvSpPr>
        <p:spPr>
          <a:xfrm>
            <a:off x="594360" y="1371600"/>
            <a:ext cx="365760" cy="365760"/>
          </a:xfrm>
          <a:prstGeom prst="ellipse">
            <a:avLst/>
          </a:prstGeom>
          <a:solidFill>
            <a:srgbClr val="2EC4B6"/>
          </a:solidFill>
          <a:ln w="12700">
            <a:solidFill>
              <a:srgbClr val="2EC4B6"/>
            </a:solidFill>
            <a:prstDash val="solid"/>
          </a:ln>
        </p:spPr>
      </p:sp>
      <p:sp>
        <p:nvSpPr>
          <p:cNvPr id="7" name="Text 5"/>
          <p:cNvSpPr txBox="1"/>
          <p:nvPr/>
        </p:nvSpPr>
        <p:spPr>
          <a:xfrm>
            <a:off x="59436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51560" y="1389888"/>
            <a:ext cx="12801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Arrival</a:t>
            </a:r>
            <a:endParaRPr lang="en-US" sz="1300" dirty="0"/>
          </a:p>
        </p:txBody>
      </p:sp>
      <p:sp>
        <p:nvSpPr>
          <p:cNvPr id="9" name="Text 7"/>
          <p:cNvSpPr txBox="1"/>
          <p:nvPr/>
        </p:nvSpPr>
        <p:spPr>
          <a:xfrm>
            <a:off x="59436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Portwatch detects a fully-written file or JSON payload, streams a SHA-256, and gates exact duplicates and same-content redeliveries by hash, not filename.</a:t>
            </a:r>
            <a:endParaRPr lang="en-US" sz="850" dirty="0"/>
          </a:p>
        </p:txBody>
      </p:sp>
      <p:sp>
        <p:nvSpPr>
          <p:cNvPr id="10" name="Shape 8"/>
          <p:cNvSpPr/>
          <p:nvPr/>
        </p:nvSpPr>
        <p:spPr>
          <a:xfrm>
            <a:off x="2423160" y="2194560"/>
            <a:ext cx="137160" cy="9144"/>
          </a:xfrm>
          <a:prstGeom prst="line">
            <a:avLst/>
          </a:prstGeom>
          <a:noFill/>
          <a:ln w="25400">
            <a:solidFill>
              <a:srgbClr val="2EC4B6"/>
            </a:solidFill>
            <a:prstDash val="solid"/>
            <a:tailEnd type="triangle"/>
          </a:ln>
        </p:spPr>
      </p:sp>
      <p:sp>
        <p:nvSpPr>
          <p:cNvPr id="11" name="Shape 9"/>
          <p:cNvSpPr/>
          <p:nvPr/>
        </p:nvSpPr>
        <p:spPr>
          <a:xfrm>
            <a:off x="2560320" y="1234440"/>
            <a:ext cx="1965960" cy="1965960"/>
          </a:xfrm>
          <a:prstGeom prst="roundRect">
            <a:avLst>
              <a:gd name="adj" fmla="val 2791"/>
            </a:avLst>
          </a:prstGeom>
          <a:solidFill>
            <a:srgbClr val="1C2B4F"/>
          </a:solidFill>
          <a:ln w="9525">
            <a:solidFill>
              <a:srgbClr val="1C2B4F"/>
            </a:solidFill>
            <a:prstDash val="solid"/>
          </a:ln>
        </p:spPr>
      </p:sp>
      <p:sp>
        <p:nvSpPr>
          <p:cNvPr id="12" name="Shape 10"/>
          <p:cNvSpPr/>
          <p:nvPr/>
        </p:nvSpPr>
        <p:spPr>
          <a:xfrm>
            <a:off x="2697480" y="1371600"/>
            <a:ext cx="365760" cy="365760"/>
          </a:xfrm>
          <a:prstGeom prst="ellipse">
            <a:avLst/>
          </a:prstGeom>
          <a:solidFill>
            <a:srgbClr val="2EC4B6"/>
          </a:solidFill>
          <a:ln w="12700">
            <a:solidFill>
              <a:srgbClr val="2EC4B6"/>
            </a:solidFill>
            <a:prstDash val="solid"/>
          </a:ln>
        </p:spPr>
      </p:sp>
      <p:sp>
        <p:nvSpPr>
          <p:cNvPr id="13" name="Text 11"/>
          <p:cNvSpPr txBox="1"/>
          <p:nvPr/>
        </p:nvSpPr>
        <p:spPr>
          <a:xfrm>
            <a:off x="269748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154680" y="1389888"/>
            <a:ext cx="12801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Classify</a:t>
            </a:r>
            <a:endParaRPr lang="en-US" sz="1300" dirty="0"/>
          </a:p>
        </p:txBody>
      </p:sp>
      <p:sp>
        <p:nvSpPr>
          <p:cNvPr id="15" name="Text 13"/>
          <p:cNvSpPr txBox="1"/>
          <p:nvPr/>
        </p:nvSpPr>
        <p:spPr>
          <a:xfrm>
            <a:off x="269748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Inspector sniffs the format by content, attributes the client, and resolves the value date from three independent sources ranked by how much each actually knows.</a:t>
            </a:r>
            <a:endParaRPr lang="en-US" sz="850" dirty="0"/>
          </a:p>
        </p:txBody>
      </p:sp>
      <p:sp>
        <p:nvSpPr>
          <p:cNvPr id="16" name="Shape 14"/>
          <p:cNvSpPr/>
          <p:nvPr/>
        </p:nvSpPr>
        <p:spPr>
          <a:xfrm>
            <a:off x="4526280" y="2194560"/>
            <a:ext cx="137160" cy="9144"/>
          </a:xfrm>
          <a:prstGeom prst="line">
            <a:avLst/>
          </a:prstGeom>
          <a:noFill/>
          <a:ln w="25400">
            <a:solidFill>
              <a:srgbClr val="2EC4B6"/>
            </a:solidFill>
            <a:prstDash val="solid"/>
            <a:tailEnd type="triangle"/>
          </a:ln>
        </p:spPr>
      </p:sp>
      <p:sp>
        <p:nvSpPr>
          <p:cNvPr id="17" name="Shape 15"/>
          <p:cNvSpPr/>
          <p:nvPr/>
        </p:nvSpPr>
        <p:spPr>
          <a:xfrm>
            <a:off x="4663440" y="1234440"/>
            <a:ext cx="1965960" cy="1965960"/>
          </a:xfrm>
          <a:prstGeom prst="roundRect">
            <a:avLst>
              <a:gd name="adj" fmla="val 2791"/>
            </a:avLst>
          </a:prstGeom>
          <a:solidFill>
            <a:srgbClr val="1C2B4F"/>
          </a:solidFill>
          <a:ln w="9525">
            <a:solidFill>
              <a:srgbClr val="1C2B4F"/>
            </a:solidFill>
            <a:prstDash val="solid"/>
          </a:ln>
        </p:spPr>
      </p:sp>
      <p:sp>
        <p:nvSpPr>
          <p:cNvPr id="18" name="Shape 16"/>
          <p:cNvSpPr/>
          <p:nvPr/>
        </p:nvSpPr>
        <p:spPr>
          <a:xfrm>
            <a:off x="4800600" y="1371600"/>
            <a:ext cx="365760" cy="365760"/>
          </a:xfrm>
          <a:prstGeom prst="ellipse">
            <a:avLst/>
          </a:prstGeom>
          <a:solidFill>
            <a:srgbClr val="2EC4B6"/>
          </a:solidFill>
          <a:ln w="12700">
            <a:solidFill>
              <a:srgbClr val="2EC4B6"/>
            </a:solidFill>
            <a:prstDash val="solid"/>
          </a:ln>
        </p:spPr>
      </p:sp>
      <p:sp>
        <p:nvSpPr>
          <p:cNvPr id="19" name="Text 17"/>
          <p:cNvSpPr txBox="1"/>
          <p:nvPr/>
        </p:nvSpPr>
        <p:spPr>
          <a:xfrm>
            <a:off x="480060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5257800" y="1389888"/>
            <a:ext cx="12801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Map &amp; score</a:t>
            </a:r>
            <a:endParaRPr lang="en-US" sz="1300" dirty="0"/>
          </a:p>
        </p:txBody>
      </p:sp>
      <p:sp>
        <p:nvSpPr>
          <p:cNvPr id="21" name="Text 19"/>
          <p:cNvSpPr txBox="1"/>
          <p:nvPr/>
        </p:nvSpPr>
        <p:spPr>
          <a:xfrm>
            <a:off x="480060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The mapping ladder resolves every column — alias, then fuzzy, then a model for the residue — and a composed confidence routes to dispatch, quarantine or reject.</a:t>
            </a:r>
            <a:endParaRPr lang="en-US" sz="850" dirty="0"/>
          </a:p>
        </p:txBody>
      </p:sp>
      <p:sp>
        <p:nvSpPr>
          <p:cNvPr id="22" name="Shape 20"/>
          <p:cNvSpPr/>
          <p:nvPr/>
        </p:nvSpPr>
        <p:spPr>
          <a:xfrm>
            <a:off x="6629400" y="2194560"/>
            <a:ext cx="137160" cy="9144"/>
          </a:xfrm>
          <a:prstGeom prst="line">
            <a:avLst/>
          </a:prstGeom>
          <a:noFill/>
          <a:ln w="25400">
            <a:solidFill>
              <a:srgbClr val="2EC4B6"/>
            </a:solidFill>
            <a:prstDash val="solid"/>
            <a:tailEnd type="triangle"/>
          </a:ln>
        </p:spPr>
      </p:sp>
      <p:sp>
        <p:nvSpPr>
          <p:cNvPr id="23" name="Shape 21"/>
          <p:cNvSpPr/>
          <p:nvPr/>
        </p:nvSpPr>
        <p:spPr>
          <a:xfrm>
            <a:off x="6766560" y="1234440"/>
            <a:ext cx="1965960" cy="1965960"/>
          </a:xfrm>
          <a:prstGeom prst="roundRect">
            <a:avLst>
              <a:gd name="adj" fmla="val 2791"/>
            </a:avLst>
          </a:prstGeom>
          <a:solidFill>
            <a:srgbClr val="1C2B4F"/>
          </a:solidFill>
          <a:ln w="9525">
            <a:solidFill>
              <a:srgbClr val="1C2B4F"/>
            </a:solidFill>
            <a:prstDash val="solid"/>
          </a:ln>
        </p:spPr>
      </p:sp>
      <p:sp>
        <p:nvSpPr>
          <p:cNvPr id="24" name="Shape 22"/>
          <p:cNvSpPr/>
          <p:nvPr/>
        </p:nvSpPr>
        <p:spPr>
          <a:xfrm>
            <a:off x="6903720" y="1371600"/>
            <a:ext cx="365760" cy="365760"/>
          </a:xfrm>
          <a:prstGeom prst="ellipse">
            <a:avLst/>
          </a:prstGeom>
          <a:solidFill>
            <a:srgbClr val="2EC4B6"/>
          </a:solidFill>
          <a:ln w="12700">
            <a:solidFill>
              <a:srgbClr val="2EC4B6"/>
            </a:solidFill>
            <a:prstDash val="solid"/>
          </a:ln>
        </p:spPr>
      </p:sp>
      <p:sp>
        <p:nvSpPr>
          <p:cNvPr id="25" name="Text 23"/>
          <p:cNvSpPr txBox="1"/>
          <p:nvPr/>
        </p:nvSpPr>
        <p:spPr>
          <a:xfrm>
            <a:off x="690372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7360920" y="1389888"/>
            <a:ext cx="12801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Berth assignment</a:t>
            </a:r>
            <a:endParaRPr lang="en-US" sz="1300" dirty="0"/>
          </a:p>
        </p:txBody>
      </p:sp>
      <p:sp>
        <p:nvSpPr>
          <p:cNvPr id="27" name="Text 25"/>
          <p:cNvSpPr txBox="1"/>
          <p:nvPr/>
        </p:nvSpPr>
        <p:spPr>
          <a:xfrm>
            <a:off x="690372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Berthmaster pairs both sides for the same client / domain / value date, handles the late window and supersession, and issues the assignment the recon engine consumes.</a:t>
            </a:r>
            <a:endParaRPr lang="en-US" sz="850" dirty="0"/>
          </a:p>
        </p:txBody>
      </p:sp>
      <p:sp>
        <p:nvSpPr>
          <p:cNvPr id="28" name="Shape 26"/>
          <p:cNvSpPr/>
          <p:nvPr/>
        </p:nvSpPr>
        <p:spPr>
          <a:xfrm>
            <a:off x="457200" y="3429000"/>
            <a:ext cx="4023360" cy="1188720"/>
          </a:xfrm>
          <a:prstGeom prst="roundRect">
            <a:avLst>
              <a:gd name="adj" fmla="val 4615"/>
            </a:avLst>
          </a:prstGeom>
          <a:solidFill>
            <a:srgbClr val="F3F6FA"/>
          </a:solidFill>
          <a:ln w="9525">
            <a:solidFill>
              <a:srgbClr val="C9D3E0"/>
            </a:solidFill>
            <a:prstDash val="solid"/>
          </a:ln>
        </p:spPr>
      </p:sp>
      <p:sp>
        <p:nvSpPr>
          <p:cNvPr id="29" name="Text 27"/>
          <p:cNvSpPr txBox="1"/>
          <p:nvPr/>
        </p:nvSpPr>
        <p:spPr>
          <a:xfrm>
            <a:off x="548640" y="348386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Six services, one log</a:t>
            </a:r>
            <a:endParaRPr lang="en-US" sz="1100" dirty="0"/>
          </a:p>
        </p:txBody>
      </p:sp>
      <p:sp>
        <p:nvSpPr>
          <p:cNvPr id="30" name="Text 28"/>
          <p:cNvSpPr txBox="1"/>
          <p:nvPr/>
        </p:nvSpPr>
        <p:spPr>
          <a:xfrm>
            <a:off x="548640" y="3739896"/>
            <a:ext cx="3840480" cy="82296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Portwatch, Inspector, Berthmaster and Control plane over Kafka-compatible topics (Redpanda), a review queue with four-eyes decisions, and an operations console at /api/ops. Everything is replayable from offset zero.</a:t>
            </a:r>
            <a:endParaRPr lang="en-US" sz="1000" dirty="0"/>
          </a:p>
        </p:txBody>
      </p:sp>
      <p:sp>
        <p:nvSpPr>
          <p:cNvPr id="31" name="Shape 29"/>
          <p:cNvSpPr/>
          <p:nvPr/>
        </p:nvSpPr>
        <p:spPr>
          <a:xfrm>
            <a:off x="4663440" y="3429000"/>
            <a:ext cx="4023360" cy="1188720"/>
          </a:xfrm>
          <a:prstGeom prst="roundRect">
            <a:avLst>
              <a:gd name="adj" fmla="val 4615"/>
            </a:avLst>
          </a:prstGeom>
          <a:solidFill>
            <a:srgbClr val="F3F6FA"/>
          </a:solidFill>
          <a:ln w="9525">
            <a:solidFill>
              <a:srgbClr val="C9D3E0"/>
            </a:solidFill>
            <a:prstDash val="solid"/>
          </a:ln>
        </p:spPr>
      </p:sp>
      <p:sp>
        <p:nvSpPr>
          <p:cNvPr id="32" name="Text 30"/>
          <p:cNvSpPr txBox="1"/>
          <p:nvPr/>
        </p:nvSpPr>
        <p:spPr>
          <a:xfrm>
            <a:off x="4754880" y="348386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Deterministic by default</a:t>
            </a:r>
            <a:endParaRPr lang="en-US" sz="1100" dirty="0"/>
          </a:p>
        </p:txBody>
      </p:sp>
      <p:sp>
        <p:nvSpPr>
          <p:cNvPr id="33" name="Text 31"/>
          <p:cNvSpPr txBox="1"/>
          <p:nvPr/>
        </p:nvSpPr>
        <p:spPr>
          <a:xfrm>
            <a:off x="4754880" y="3739896"/>
            <a:ext cx="3840480" cy="82296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The model tier is bound to a deterministic stand-in unless HM_ADJUDICATOR=claude and ANTHROPIC_API_KEY are set. make check and make bench run fully offline: no broker, no database, no network, no key.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C4 LEVEL 1</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System context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5</a:t>
            </a:r>
            <a:endParaRPr lang="en-US" sz="800" dirty="0"/>
          </a:p>
        </p:txBody>
      </p:sp>
      <p:sp>
        <p:nvSpPr>
          <p:cNvPr id="5" name="Shape 3"/>
          <p:cNvSpPr/>
          <p:nvPr/>
        </p:nvSpPr>
        <p:spPr>
          <a:xfrm>
            <a:off x="457200" y="1188720"/>
            <a:ext cx="1463040" cy="640080"/>
          </a:xfrm>
          <a:prstGeom prst="roundRect">
            <a:avLst>
              <a:gd name="adj" fmla="val 8571"/>
            </a:avLst>
          </a:prstGeom>
          <a:solidFill>
            <a:srgbClr val="F3F6FA"/>
          </a:solidFill>
          <a:ln w="9525">
            <a:solidFill>
              <a:srgbClr val="C9D3E0"/>
            </a:solidFill>
            <a:prstDash val="solid"/>
          </a:ln>
        </p:spPr>
      </p:sp>
      <p:sp>
        <p:nvSpPr>
          <p:cNvPr id="6" name="Text 4"/>
          <p:cNvSpPr txBox="1"/>
          <p:nvPr/>
        </p:nvSpPr>
        <p:spPr>
          <a:xfrm>
            <a:off x="548640" y="1243584"/>
            <a:ext cx="12801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FTP landing dir</a:t>
            </a:r>
            <a:endParaRPr lang="en-US" sz="1100" dirty="0"/>
          </a:p>
        </p:txBody>
      </p:sp>
      <p:sp>
        <p:nvSpPr>
          <p:cNvPr id="7" name="Text 5"/>
          <p:cNvSpPr txBox="1"/>
          <p:nvPr/>
        </p:nvSpPr>
        <p:spPr>
          <a:xfrm>
            <a:off x="548640" y="1499616"/>
            <a:ext cx="1280160" cy="27432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client / custodian files</a:t>
            </a:r>
            <a:endParaRPr lang="en-US" sz="850" dirty="0"/>
          </a:p>
        </p:txBody>
      </p:sp>
      <p:sp>
        <p:nvSpPr>
          <p:cNvPr id="8" name="Shape 6"/>
          <p:cNvSpPr/>
          <p:nvPr/>
        </p:nvSpPr>
        <p:spPr>
          <a:xfrm>
            <a:off x="1920240" y="1508760"/>
            <a:ext cx="594360" cy="1097280"/>
          </a:xfrm>
          <a:prstGeom prst="line">
            <a:avLst/>
          </a:prstGeom>
          <a:noFill/>
          <a:ln w="12700">
            <a:solidFill>
              <a:srgbClr val="6B7A90"/>
            </a:solidFill>
            <a:prstDash val="solid"/>
            <a:tailEnd type="triangle"/>
          </a:ln>
        </p:spPr>
      </p:sp>
      <p:sp>
        <p:nvSpPr>
          <p:cNvPr id="9" name="Shape 7"/>
          <p:cNvSpPr/>
          <p:nvPr/>
        </p:nvSpPr>
        <p:spPr>
          <a:xfrm>
            <a:off x="457200" y="1965960"/>
            <a:ext cx="1463040" cy="640080"/>
          </a:xfrm>
          <a:prstGeom prst="roundRect">
            <a:avLst>
              <a:gd name="adj" fmla="val 8571"/>
            </a:avLst>
          </a:prstGeom>
          <a:solidFill>
            <a:srgbClr val="F3F6FA"/>
          </a:solidFill>
          <a:ln w="9525">
            <a:solidFill>
              <a:srgbClr val="C9D3E0"/>
            </a:solidFill>
            <a:prstDash val="solid"/>
          </a:ln>
        </p:spPr>
      </p:sp>
      <p:sp>
        <p:nvSpPr>
          <p:cNvPr id="10" name="Text 8"/>
          <p:cNvSpPr txBox="1"/>
          <p:nvPr/>
        </p:nvSpPr>
        <p:spPr>
          <a:xfrm>
            <a:off x="548640" y="2020824"/>
            <a:ext cx="12801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Upstream queue</a:t>
            </a:r>
            <a:endParaRPr lang="en-US" sz="1100" dirty="0"/>
          </a:p>
        </p:txBody>
      </p:sp>
      <p:sp>
        <p:nvSpPr>
          <p:cNvPr id="11" name="Text 9"/>
          <p:cNvSpPr txBox="1"/>
          <p:nvPr/>
        </p:nvSpPr>
        <p:spPr>
          <a:xfrm>
            <a:off x="548640" y="2276856"/>
            <a:ext cx="1280160" cy="27432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JSON payloads</a:t>
            </a:r>
            <a:endParaRPr lang="en-US" sz="850" dirty="0"/>
          </a:p>
        </p:txBody>
      </p:sp>
      <p:sp>
        <p:nvSpPr>
          <p:cNvPr id="12" name="Shape 10"/>
          <p:cNvSpPr/>
          <p:nvPr/>
        </p:nvSpPr>
        <p:spPr>
          <a:xfrm>
            <a:off x="1920240" y="2286000"/>
            <a:ext cx="594360" cy="320040"/>
          </a:xfrm>
          <a:prstGeom prst="line">
            <a:avLst/>
          </a:prstGeom>
          <a:noFill/>
          <a:ln w="12700">
            <a:solidFill>
              <a:srgbClr val="6B7A90"/>
            </a:solidFill>
            <a:prstDash val="solid"/>
            <a:tailEnd type="triangle"/>
          </a:ln>
        </p:spPr>
      </p:sp>
      <p:sp>
        <p:nvSpPr>
          <p:cNvPr id="13" name="Shape 11"/>
          <p:cNvSpPr/>
          <p:nvPr/>
        </p:nvSpPr>
        <p:spPr>
          <a:xfrm>
            <a:off x="457200" y="2743200"/>
            <a:ext cx="1463040" cy="640080"/>
          </a:xfrm>
          <a:prstGeom prst="roundRect">
            <a:avLst>
              <a:gd name="adj" fmla="val 8571"/>
            </a:avLst>
          </a:prstGeom>
          <a:solidFill>
            <a:srgbClr val="F3F6FA"/>
          </a:solidFill>
          <a:ln w="9525">
            <a:solidFill>
              <a:srgbClr val="C9D3E0"/>
            </a:solidFill>
            <a:prstDash val="solid"/>
          </a:ln>
        </p:spPr>
      </p:sp>
      <p:sp>
        <p:nvSpPr>
          <p:cNvPr id="14" name="Text 12"/>
          <p:cNvSpPr txBox="1"/>
          <p:nvPr/>
        </p:nvSpPr>
        <p:spPr>
          <a:xfrm>
            <a:off x="548640" y="2798064"/>
            <a:ext cx="12801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Ops reviewer</a:t>
            </a:r>
            <a:endParaRPr lang="en-US" sz="1100" dirty="0"/>
          </a:p>
        </p:txBody>
      </p:sp>
      <p:sp>
        <p:nvSpPr>
          <p:cNvPr id="15" name="Text 13"/>
          <p:cNvSpPr txBox="1"/>
          <p:nvPr/>
        </p:nvSpPr>
        <p:spPr>
          <a:xfrm>
            <a:off x="548640" y="3054096"/>
            <a:ext cx="1280160" cy="27432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browser, four-eyes</a:t>
            </a:r>
            <a:endParaRPr lang="en-US" sz="850" dirty="0"/>
          </a:p>
        </p:txBody>
      </p:sp>
      <p:sp>
        <p:nvSpPr>
          <p:cNvPr id="16" name="Shape 14"/>
          <p:cNvSpPr/>
          <p:nvPr/>
        </p:nvSpPr>
        <p:spPr>
          <a:xfrm flipV="1">
            <a:off x="1920240" y="2606040"/>
            <a:ext cx="594360" cy="457200"/>
          </a:xfrm>
          <a:prstGeom prst="line">
            <a:avLst/>
          </a:prstGeom>
          <a:noFill/>
          <a:ln w="12700">
            <a:solidFill>
              <a:srgbClr val="6B7A90"/>
            </a:solidFill>
            <a:prstDash val="solid"/>
            <a:tailEnd type="triangle"/>
          </a:ln>
        </p:spPr>
      </p:sp>
      <p:sp>
        <p:nvSpPr>
          <p:cNvPr id="17" name="Shape 15"/>
          <p:cNvSpPr/>
          <p:nvPr/>
        </p:nvSpPr>
        <p:spPr>
          <a:xfrm>
            <a:off x="457200" y="3520440"/>
            <a:ext cx="1463040" cy="640080"/>
          </a:xfrm>
          <a:prstGeom prst="roundRect">
            <a:avLst>
              <a:gd name="adj" fmla="val 8571"/>
            </a:avLst>
          </a:prstGeom>
          <a:solidFill>
            <a:srgbClr val="F3F6FA"/>
          </a:solidFill>
          <a:ln w="9525">
            <a:solidFill>
              <a:srgbClr val="C9D3E0"/>
            </a:solidFill>
            <a:prstDash val="solid"/>
          </a:ln>
        </p:spPr>
      </p:sp>
      <p:sp>
        <p:nvSpPr>
          <p:cNvPr id="18" name="Text 16"/>
          <p:cNvSpPr txBox="1"/>
          <p:nvPr/>
        </p:nvSpPr>
        <p:spPr>
          <a:xfrm>
            <a:off x="548640" y="3575304"/>
            <a:ext cx="12801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Recon engine</a:t>
            </a:r>
            <a:endParaRPr lang="en-US" sz="1100" dirty="0"/>
          </a:p>
        </p:txBody>
      </p:sp>
      <p:sp>
        <p:nvSpPr>
          <p:cNvPr id="19" name="Text 17"/>
          <p:cNvSpPr txBox="1"/>
          <p:nvPr/>
        </p:nvSpPr>
        <p:spPr>
          <a:xfrm>
            <a:off x="548640" y="3831336"/>
            <a:ext cx="1280160" cy="27432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downstream, stubbed</a:t>
            </a:r>
            <a:endParaRPr lang="en-US" sz="850" dirty="0"/>
          </a:p>
        </p:txBody>
      </p:sp>
      <p:sp>
        <p:nvSpPr>
          <p:cNvPr id="20" name="Shape 18"/>
          <p:cNvSpPr/>
          <p:nvPr/>
        </p:nvSpPr>
        <p:spPr>
          <a:xfrm flipV="1">
            <a:off x="1920240" y="2606040"/>
            <a:ext cx="594360" cy="1234440"/>
          </a:xfrm>
          <a:prstGeom prst="line">
            <a:avLst/>
          </a:prstGeom>
          <a:noFill/>
          <a:ln w="12700">
            <a:solidFill>
              <a:srgbClr val="6B7A90"/>
            </a:solidFill>
            <a:prstDash val="solid"/>
            <a:tailEnd type="triangle"/>
          </a:ln>
        </p:spPr>
      </p:sp>
      <p:sp>
        <p:nvSpPr>
          <p:cNvPr id="21" name="Shape 19"/>
          <p:cNvSpPr/>
          <p:nvPr/>
        </p:nvSpPr>
        <p:spPr>
          <a:xfrm>
            <a:off x="2560320" y="1188720"/>
            <a:ext cx="3108960" cy="3108960"/>
          </a:xfrm>
          <a:prstGeom prst="roundRect">
            <a:avLst>
              <a:gd name="adj" fmla="val 1765"/>
            </a:avLst>
          </a:prstGeom>
          <a:solidFill>
            <a:srgbClr val="EEF6F4"/>
          </a:solidFill>
          <a:ln w="9525">
            <a:solidFill>
              <a:srgbClr val="2EC4B6"/>
            </a:solidFill>
            <a:prstDash val="solid"/>
          </a:ln>
        </p:spPr>
      </p:sp>
      <p:sp>
        <p:nvSpPr>
          <p:cNvPr id="22" name="Text 20"/>
          <p:cNvSpPr txBox="1"/>
          <p:nvPr/>
        </p:nvSpPr>
        <p:spPr>
          <a:xfrm>
            <a:off x="2697480" y="1261872"/>
            <a:ext cx="2743200" cy="27432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Harbormaster</a:t>
            </a:r>
            <a:endParaRPr lang="en-US" sz="1400" dirty="0"/>
          </a:p>
        </p:txBody>
      </p:sp>
      <p:sp>
        <p:nvSpPr>
          <p:cNvPr id="23" name="Shape 21"/>
          <p:cNvSpPr/>
          <p:nvPr/>
        </p:nvSpPr>
        <p:spPr>
          <a:xfrm>
            <a:off x="2697480" y="1600200"/>
            <a:ext cx="2834640" cy="685800"/>
          </a:xfrm>
          <a:prstGeom prst="roundRect">
            <a:avLst>
              <a:gd name="adj" fmla="val 8000"/>
            </a:avLst>
          </a:prstGeom>
          <a:solidFill>
            <a:srgbClr val="F3F6FA"/>
          </a:solidFill>
          <a:ln w="9525">
            <a:solidFill>
              <a:srgbClr val="C9D3E0"/>
            </a:solidFill>
            <a:prstDash val="solid"/>
          </a:ln>
        </p:spPr>
      </p:sp>
      <p:sp>
        <p:nvSpPr>
          <p:cNvPr id="24" name="Text 22"/>
          <p:cNvSpPr txBox="1"/>
          <p:nvPr/>
        </p:nvSpPr>
        <p:spPr>
          <a:xfrm>
            <a:off x="2788920" y="1655064"/>
            <a:ext cx="2651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Ingestion</a:t>
            </a:r>
            <a:endParaRPr lang="en-US" sz="1100" dirty="0"/>
          </a:p>
        </p:txBody>
      </p:sp>
      <p:sp>
        <p:nvSpPr>
          <p:cNvPr id="25" name="Text 23"/>
          <p:cNvSpPr txBox="1"/>
          <p:nvPr/>
        </p:nvSpPr>
        <p:spPr>
          <a:xfrm>
            <a:off x="2788920" y="1911096"/>
            <a:ext cx="2651760" cy="32004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Portwatch (Go): write-completion, hashing, dedupe, JSON ingress</a:t>
            </a:r>
            <a:endParaRPr lang="en-US" sz="850" dirty="0"/>
          </a:p>
        </p:txBody>
      </p:sp>
      <p:sp>
        <p:nvSpPr>
          <p:cNvPr id="26" name="Shape 24"/>
          <p:cNvSpPr/>
          <p:nvPr/>
        </p:nvSpPr>
        <p:spPr>
          <a:xfrm>
            <a:off x="2697480" y="2377440"/>
            <a:ext cx="2834640" cy="914400"/>
          </a:xfrm>
          <a:prstGeom prst="roundRect">
            <a:avLst>
              <a:gd name="adj" fmla="val 6000"/>
            </a:avLst>
          </a:prstGeom>
          <a:solidFill>
            <a:srgbClr val="F3F6FA"/>
          </a:solidFill>
          <a:ln w="9525">
            <a:solidFill>
              <a:srgbClr val="C9D3E0"/>
            </a:solidFill>
            <a:prstDash val="solid"/>
          </a:ln>
        </p:spPr>
      </p:sp>
      <p:sp>
        <p:nvSpPr>
          <p:cNvPr id="27" name="Text 25"/>
          <p:cNvSpPr txBox="1"/>
          <p:nvPr/>
        </p:nvSpPr>
        <p:spPr>
          <a:xfrm>
            <a:off x="2788920" y="2432304"/>
            <a:ext cx="2651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Inspector (Python)</a:t>
            </a:r>
            <a:endParaRPr lang="en-US" sz="1100" dirty="0"/>
          </a:p>
        </p:txBody>
      </p:sp>
      <p:sp>
        <p:nvSpPr>
          <p:cNvPr id="28" name="Text 26"/>
          <p:cNvSpPr txBox="1"/>
          <p:nvPr/>
        </p:nvSpPr>
        <p:spPr>
          <a:xfrm>
            <a:off x="2788920" y="2688336"/>
            <a:ext cx="2651760" cy="54864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format sniff · attribution · value date · mapping ladder T1/T2/T3 · confidence</a:t>
            </a:r>
            <a:endParaRPr lang="en-US" sz="850" dirty="0"/>
          </a:p>
        </p:txBody>
      </p:sp>
      <p:sp>
        <p:nvSpPr>
          <p:cNvPr id="29" name="Shape 27"/>
          <p:cNvSpPr/>
          <p:nvPr/>
        </p:nvSpPr>
        <p:spPr>
          <a:xfrm>
            <a:off x="2697480" y="3383280"/>
            <a:ext cx="2834640" cy="777240"/>
          </a:xfrm>
          <a:prstGeom prst="roundRect">
            <a:avLst>
              <a:gd name="adj" fmla="val 7059"/>
            </a:avLst>
          </a:prstGeom>
          <a:solidFill>
            <a:srgbClr val="F3F6FA"/>
          </a:solidFill>
          <a:ln w="9525">
            <a:solidFill>
              <a:srgbClr val="C9D3E0"/>
            </a:solidFill>
            <a:prstDash val="solid"/>
          </a:ln>
        </p:spPr>
      </p:sp>
      <p:sp>
        <p:nvSpPr>
          <p:cNvPr id="30" name="Text 28"/>
          <p:cNvSpPr txBox="1"/>
          <p:nvPr/>
        </p:nvSpPr>
        <p:spPr>
          <a:xfrm>
            <a:off x="2788920" y="3438144"/>
            <a:ext cx="2651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Berthmaster + Control plane (Go)</a:t>
            </a:r>
            <a:endParaRPr lang="en-US" sz="1100" dirty="0"/>
          </a:p>
        </p:txBody>
      </p:sp>
      <p:sp>
        <p:nvSpPr>
          <p:cNvPr id="31" name="Text 29"/>
          <p:cNvSpPr txBox="1"/>
          <p:nvPr/>
        </p:nvSpPr>
        <p:spPr>
          <a:xfrm>
            <a:off x="2788920" y="3694176"/>
            <a:ext cx="2651760" cy="41148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slot lifecycle · review queue · ops console /api/ops</a:t>
            </a:r>
            <a:endParaRPr lang="en-US" sz="850" dirty="0"/>
          </a:p>
        </p:txBody>
      </p:sp>
      <p:sp>
        <p:nvSpPr>
          <p:cNvPr id="32" name="Shape 30"/>
          <p:cNvSpPr/>
          <p:nvPr/>
        </p:nvSpPr>
        <p:spPr>
          <a:xfrm>
            <a:off x="6309360" y="1188720"/>
            <a:ext cx="2377440" cy="685800"/>
          </a:xfrm>
          <a:prstGeom prst="roundRect">
            <a:avLst>
              <a:gd name="adj" fmla="val 8000"/>
            </a:avLst>
          </a:prstGeom>
          <a:solidFill>
            <a:srgbClr val="F3F6FA"/>
          </a:solidFill>
          <a:ln w="9525">
            <a:solidFill>
              <a:srgbClr val="C9D3E0"/>
            </a:solidFill>
            <a:prstDash val="solid"/>
          </a:ln>
        </p:spPr>
      </p:sp>
      <p:sp>
        <p:nvSpPr>
          <p:cNvPr id="33" name="Text 31"/>
          <p:cNvSpPr txBox="1"/>
          <p:nvPr/>
        </p:nvSpPr>
        <p:spPr>
          <a:xfrm>
            <a:off x="6400800" y="1243584"/>
            <a:ext cx="21945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Redpanda (Kafka-compatible)</a:t>
            </a:r>
            <a:endParaRPr lang="en-US" sz="1100" dirty="0"/>
          </a:p>
        </p:txBody>
      </p:sp>
      <p:sp>
        <p:nvSpPr>
          <p:cNvPr id="34" name="Text 32"/>
          <p:cNvSpPr txBox="1"/>
          <p:nvPr/>
        </p:nvSpPr>
        <p:spPr>
          <a:xfrm>
            <a:off x="6400800" y="1499616"/>
            <a:ext cx="2194560" cy="32004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8 durable topics; the event log is the audit trail</a:t>
            </a:r>
            <a:endParaRPr lang="en-US" sz="800" dirty="0"/>
          </a:p>
        </p:txBody>
      </p:sp>
      <p:sp>
        <p:nvSpPr>
          <p:cNvPr id="35" name="Shape 33"/>
          <p:cNvSpPr/>
          <p:nvPr/>
        </p:nvSpPr>
        <p:spPr>
          <a:xfrm>
            <a:off x="6309360" y="2011680"/>
            <a:ext cx="2377440" cy="685800"/>
          </a:xfrm>
          <a:prstGeom prst="roundRect">
            <a:avLst>
              <a:gd name="adj" fmla="val 8000"/>
            </a:avLst>
          </a:prstGeom>
          <a:solidFill>
            <a:srgbClr val="F3F6FA"/>
          </a:solidFill>
          <a:ln w="9525">
            <a:solidFill>
              <a:srgbClr val="C9D3E0"/>
            </a:solidFill>
            <a:prstDash val="solid"/>
          </a:ln>
        </p:spPr>
      </p:sp>
      <p:sp>
        <p:nvSpPr>
          <p:cNvPr id="36" name="Text 34"/>
          <p:cNvSpPr txBox="1"/>
          <p:nvPr/>
        </p:nvSpPr>
        <p:spPr>
          <a:xfrm>
            <a:off x="6400800" y="2066544"/>
            <a:ext cx="21945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Postgres 16</a:t>
            </a:r>
            <a:endParaRPr lang="en-US" sz="1100" dirty="0"/>
          </a:p>
        </p:txBody>
      </p:sp>
      <p:sp>
        <p:nvSpPr>
          <p:cNvPr id="37" name="Text 35"/>
          <p:cNvSpPr txBox="1"/>
          <p:nvPr/>
        </p:nvSpPr>
        <p:spPr>
          <a:xfrm>
            <a:off x="6400800" y="2322576"/>
            <a:ext cx="2194560" cy="32004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read models, slot state, decision log, template cache</a:t>
            </a:r>
            <a:endParaRPr lang="en-US" sz="800" dirty="0"/>
          </a:p>
        </p:txBody>
      </p:sp>
      <p:sp>
        <p:nvSpPr>
          <p:cNvPr id="38" name="Shape 36"/>
          <p:cNvSpPr/>
          <p:nvPr/>
        </p:nvSpPr>
        <p:spPr>
          <a:xfrm>
            <a:off x="6309360" y="2834640"/>
            <a:ext cx="2377440" cy="685800"/>
          </a:xfrm>
          <a:prstGeom prst="roundRect">
            <a:avLst>
              <a:gd name="adj" fmla="val 8000"/>
            </a:avLst>
          </a:prstGeom>
          <a:solidFill>
            <a:srgbClr val="F3F6FA"/>
          </a:solidFill>
          <a:ln w="9525">
            <a:solidFill>
              <a:srgbClr val="C9D3E0"/>
            </a:solidFill>
            <a:prstDash val="solid"/>
          </a:ln>
        </p:spPr>
      </p:sp>
      <p:sp>
        <p:nvSpPr>
          <p:cNvPr id="39" name="Text 37"/>
          <p:cNvSpPr txBox="1"/>
          <p:nvPr/>
        </p:nvSpPr>
        <p:spPr>
          <a:xfrm>
            <a:off x="6400800" y="2889504"/>
            <a:ext cx="21945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Object store</a:t>
            </a:r>
            <a:endParaRPr lang="en-US" sz="1100" dirty="0"/>
          </a:p>
        </p:txBody>
      </p:sp>
      <p:sp>
        <p:nvSpPr>
          <p:cNvPr id="40" name="Text 38"/>
          <p:cNvSpPr txBox="1"/>
          <p:nvPr/>
        </p:nvSpPr>
        <p:spPr>
          <a:xfrm>
            <a:off x="6400800" y="3145536"/>
            <a:ext cx="2194560" cy="32004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landed files + canonical Parquet; fs adapter default, S3 unwired</a:t>
            </a:r>
            <a:endParaRPr lang="en-US" sz="800" dirty="0"/>
          </a:p>
        </p:txBody>
      </p:sp>
      <p:sp>
        <p:nvSpPr>
          <p:cNvPr id="41" name="Shape 39"/>
          <p:cNvSpPr/>
          <p:nvPr/>
        </p:nvSpPr>
        <p:spPr>
          <a:xfrm>
            <a:off x="6309360" y="3657600"/>
            <a:ext cx="2377440" cy="640080"/>
          </a:xfrm>
          <a:prstGeom prst="roundRect">
            <a:avLst>
              <a:gd name="adj" fmla="val 8571"/>
            </a:avLst>
          </a:prstGeom>
          <a:solidFill>
            <a:srgbClr val="F3F6FA"/>
          </a:solidFill>
          <a:ln w="9525">
            <a:solidFill>
              <a:srgbClr val="C9D3E0"/>
            </a:solidFill>
            <a:prstDash val="solid"/>
          </a:ln>
        </p:spPr>
      </p:sp>
      <p:sp>
        <p:nvSpPr>
          <p:cNvPr id="42" name="Text 40"/>
          <p:cNvSpPr txBox="1"/>
          <p:nvPr/>
        </p:nvSpPr>
        <p:spPr>
          <a:xfrm>
            <a:off x="6400800" y="3712464"/>
            <a:ext cx="21945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Anthropic Claude (opt-in)</a:t>
            </a:r>
            <a:endParaRPr lang="en-US" sz="1100" dirty="0"/>
          </a:p>
        </p:txBody>
      </p:sp>
      <p:sp>
        <p:nvSpPr>
          <p:cNvPr id="43" name="Text 41"/>
          <p:cNvSpPr txBox="1"/>
          <p:nvPr/>
        </p:nvSpPr>
        <p:spPr>
          <a:xfrm>
            <a:off x="6400800" y="3968496"/>
            <a:ext cx="2194560" cy="27432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Tier 3 adjudicator; deterministic fake bound by default</a:t>
            </a:r>
            <a:endParaRPr lang="en-US" sz="800" dirty="0"/>
          </a:p>
        </p:txBody>
      </p:sp>
      <p:sp>
        <p:nvSpPr>
          <p:cNvPr id="44" name="Shape 42"/>
          <p:cNvSpPr/>
          <p:nvPr/>
        </p:nvSpPr>
        <p:spPr>
          <a:xfrm flipV="1">
            <a:off x="5669280" y="1527048"/>
            <a:ext cx="640080" cy="1216152"/>
          </a:xfrm>
          <a:prstGeom prst="line">
            <a:avLst/>
          </a:prstGeom>
          <a:noFill/>
          <a:ln w="12700">
            <a:solidFill>
              <a:srgbClr val="6B7A90"/>
            </a:solidFill>
            <a:prstDash val="solid"/>
            <a:tailEnd type="triangle"/>
          </a:ln>
        </p:spPr>
      </p:sp>
      <p:sp>
        <p:nvSpPr>
          <p:cNvPr id="45" name="Shape 43"/>
          <p:cNvSpPr/>
          <p:nvPr/>
        </p:nvSpPr>
        <p:spPr>
          <a:xfrm flipV="1">
            <a:off x="5669280" y="2350008"/>
            <a:ext cx="640080" cy="484632"/>
          </a:xfrm>
          <a:prstGeom prst="line">
            <a:avLst/>
          </a:prstGeom>
          <a:noFill/>
          <a:ln w="12700">
            <a:solidFill>
              <a:srgbClr val="6B7A90"/>
            </a:solidFill>
            <a:prstDash val="solid"/>
            <a:tailEnd type="triangle"/>
          </a:ln>
        </p:spPr>
      </p:sp>
      <p:sp>
        <p:nvSpPr>
          <p:cNvPr id="46" name="Shape 44"/>
          <p:cNvSpPr/>
          <p:nvPr/>
        </p:nvSpPr>
        <p:spPr>
          <a:xfrm>
            <a:off x="5669280" y="2926080"/>
            <a:ext cx="640080" cy="246888"/>
          </a:xfrm>
          <a:prstGeom prst="line">
            <a:avLst/>
          </a:prstGeom>
          <a:noFill/>
          <a:ln w="12700">
            <a:solidFill>
              <a:srgbClr val="6B7A90"/>
            </a:solidFill>
            <a:prstDash val="solid"/>
            <a:tailEnd type="triangle"/>
          </a:ln>
        </p:spPr>
      </p:sp>
      <p:sp>
        <p:nvSpPr>
          <p:cNvPr id="47" name="Shape 45"/>
          <p:cNvSpPr/>
          <p:nvPr/>
        </p:nvSpPr>
        <p:spPr>
          <a:xfrm>
            <a:off x="5669280" y="3017520"/>
            <a:ext cx="640080" cy="960120"/>
          </a:xfrm>
          <a:prstGeom prst="line">
            <a:avLst/>
          </a:prstGeom>
          <a:noFill/>
          <a:ln w="12700">
            <a:solidFill>
              <a:srgbClr val="6B7A90"/>
            </a:solidFill>
            <a:prstDash val="solid"/>
            <a:tailEnd type="triangle"/>
          </a:ln>
        </p:spPr>
      </p:sp>
      <p:sp>
        <p:nvSpPr>
          <p:cNvPr id="48" name="Text 46"/>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Docker (Redpanda, Postgres, all six services) is host-validated: not run in this build environment (ADR-018). The gate and the bench harness never touch a network.</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C4 LEVEL 2</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Component architecture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6</a:t>
            </a:r>
            <a:endParaRPr lang="en-US" sz="800" dirty="0"/>
          </a:p>
        </p:txBody>
      </p:sp>
      <p:sp>
        <p:nvSpPr>
          <p:cNvPr id="5" name="Shape 3"/>
          <p:cNvSpPr/>
          <p:nvPr/>
        </p:nvSpPr>
        <p:spPr>
          <a:xfrm>
            <a:off x="457200" y="1188720"/>
            <a:ext cx="1965960" cy="3246120"/>
          </a:xfrm>
          <a:prstGeom prst="roundRect">
            <a:avLst>
              <a:gd name="adj" fmla="val 2791"/>
            </a:avLst>
          </a:prstGeom>
          <a:solidFill>
            <a:srgbClr val="F3F6FA"/>
          </a:solidFill>
          <a:ln w="9525">
            <a:solidFill>
              <a:srgbClr val="C9D3E0"/>
            </a:solidFill>
            <a:prstDash val="solid"/>
          </a:ln>
        </p:spPr>
      </p:sp>
      <p:sp>
        <p:nvSpPr>
          <p:cNvPr id="6" name="Text 4"/>
          <p:cNvSpPr txBox="1"/>
          <p:nvPr/>
        </p:nvSpPr>
        <p:spPr>
          <a:xfrm>
            <a:off x="548640" y="1243584"/>
            <a:ext cx="182880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Portwatch (Go)</a:t>
            </a:r>
            <a:endParaRPr lang="en-US" sz="1100" dirty="0"/>
          </a:p>
        </p:txBody>
      </p:sp>
      <p:sp>
        <p:nvSpPr>
          <p:cNvPr id="7" name="Shape 5"/>
          <p:cNvSpPr/>
          <p:nvPr/>
        </p:nvSpPr>
        <p:spPr>
          <a:xfrm>
            <a:off x="548640" y="1572768"/>
            <a:ext cx="1783080" cy="493776"/>
          </a:xfrm>
          <a:prstGeom prst="roundRect">
            <a:avLst>
              <a:gd name="adj" fmla="val 9259"/>
            </a:avLst>
          </a:prstGeom>
          <a:solidFill>
            <a:srgbClr val="FFFFFF"/>
          </a:solidFill>
          <a:ln w="9525">
            <a:solidFill>
              <a:srgbClr val="C9D3E0"/>
            </a:solidFill>
            <a:prstDash val="solid"/>
          </a:ln>
        </p:spPr>
      </p:sp>
      <p:sp>
        <p:nvSpPr>
          <p:cNvPr id="8" name="Text 6"/>
          <p:cNvSpPr txBox="1"/>
          <p:nvPr/>
        </p:nvSpPr>
        <p:spPr>
          <a:xfrm>
            <a:off x="621792" y="1600200"/>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scanner.go</a:t>
            </a:r>
            <a:endParaRPr lang="en-US" sz="850" dirty="0"/>
          </a:p>
        </p:txBody>
      </p:sp>
      <p:sp>
        <p:nvSpPr>
          <p:cNvPr id="9" name="Text 7"/>
          <p:cNvSpPr txBox="1"/>
          <p:nvPr/>
        </p:nvSpPr>
        <p:spPr>
          <a:xfrm>
            <a:off x="621792" y="1801368"/>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write-completion detection</a:t>
            </a:r>
            <a:endParaRPr lang="en-US" sz="800" dirty="0"/>
          </a:p>
        </p:txBody>
      </p:sp>
      <p:sp>
        <p:nvSpPr>
          <p:cNvPr id="10" name="Shape 8"/>
          <p:cNvSpPr/>
          <p:nvPr/>
        </p:nvSpPr>
        <p:spPr>
          <a:xfrm>
            <a:off x="548640" y="2139696"/>
            <a:ext cx="1783080" cy="493776"/>
          </a:xfrm>
          <a:prstGeom prst="roundRect">
            <a:avLst>
              <a:gd name="adj" fmla="val 9259"/>
            </a:avLst>
          </a:prstGeom>
          <a:solidFill>
            <a:srgbClr val="FFFFFF"/>
          </a:solidFill>
          <a:ln w="9525">
            <a:solidFill>
              <a:srgbClr val="C9D3E0"/>
            </a:solidFill>
            <a:prstDash val="solid"/>
          </a:ln>
        </p:spPr>
      </p:sp>
      <p:sp>
        <p:nvSpPr>
          <p:cNvPr id="11" name="Text 9"/>
          <p:cNvSpPr txBox="1"/>
          <p:nvPr/>
        </p:nvSpPr>
        <p:spPr>
          <a:xfrm>
            <a:off x="621792" y="2167128"/>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dedupe.go</a:t>
            </a:r>
            <a:endParaRPr lang="en-US" sz="850" dirty="0"/>
          </a:p>
        </p:txBody>
      </p:sp>
      <p:sp>
        <p:nvSpPr>
          <p:cNvPr id="12" name="Text 10"/>
          <p:cNvSpPr txBox="1"/>
          <p:nvPr/>
        </p:nvSpPr>
        <p:spPr>
          <a:xfrm>
            <a:off x="621792" y="2368296"/>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content hashing gate</a:t>
            </a:r>
            <a:endParaRPr lang="en-US" sz="800" dirty="0"/>
          </a:p>
        </p:txBody>
      </p:sp>
      <p:sp>
        <p:nvSpPr>
          <p:cNvPr id="13" name="Shape 11"/>
          <p:cNvSpPr/>
          <p:nvPr/>
        </p:nvSpPr>
        <p:spPr>
          <a:xfrm>
            <a:off x="548640" y="2706624"/>
            <a:ext cx="1783080" cy="493776"/>
          </a:xfrm>
          <a:prstGeom prst="roundRect">
            <a:avLst>
              <a:gd name="adj" fmla="val 9259"/>
            </a:avLst>
          </a:prstGeom>
          <a:solidFill>
            <a:srgbClr val="FFFFFF"/>
          </a:solidFill>
          <a:ln w="9525">
            <a:solidFill>
              <a:srgbClr val="C9D3E0"/>
            </a:solidFill>
            <a:prstDash val="solid"/>
          </a:ln>
        </p:spPr>
      </p:sp>
      <p:sp>
        <p:nvSpPr>
          <p:cNvPr id="14" name="Text 12"/>
          <p:cNvSpPr txBox="1"/>
          <p:nvPr/>
        </p:nvSpPr>
        <p:spPr>
          <a:xfrm>
            <a:off x="621792" y="2734056"/>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ingress/queue.go</a:t>
            </a:r>
            <a:endParaRPr lang="en-US" sz="850" dirty="0"/>
          </a:p>
        </p:txBody>
      </p:sp>
      <p:sp>
        <p:nvSpPr>
          <p:cNvPr id="15" name="Text 13"/>
          <p:cNvSpPr txBox="1"/>
          <p:nvPr/>
        </p:nvSpPr>
        <p:spPr>
          <a:xfrm>
            <a:off x="621792" y="2935224"/>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JSON ingress path</a:t>
            </a:r>
            <a:endParaRPr lang="en-US" sz="800" dirty="0"/>
          </a:p>
        </p:txBody>
      </p:sp>
      <p:sp>
        <p:nvSpPr>
          <p:cNvPr id="16" name="Shape 14"/>
          <p:cNvSpPr/>
          <p:nvPr/>
        </p:nvSpPr>
        <p:spPr>
          <a:xfrm>
            <a:off x="2606040" y="1188720"/>
            <a:ext cx="1965960" cy="3246120"/>
          </a:xfrm>
          <a:prstGeom prst="roundRect">
            <a:avLst>
              <a:gd name="adj" fmla="val 2791"/>
            </a:avLst>
          </a:prstGeom>
          <a:solidFill>
            <a:srgbClr val="F3F6FA"/>
          </a:solidFill>
          <a:ln w="9525">
            <a:solidFill>
              <a:srgbClr val="C9D3E0"/>
            </a:solidFill>
            <a:prstDash val="solid"/>
          </a:ln>
        </p:spPr>
      </p:sp>
      <p:sp>
        <p:nvSpPr>
          <p:cNvPr id="17" name="Text 15"/>
          <p:cNvSpPr txBox="1"/>
          <p:nvPr/>
        </p:nvSpPr>
        <p:spPr>
          <a:xfrm>
            <a:off x="2697480" y="1243584"/>
            <a:ext cx="182880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Inspector (Python)</a:t>
            </a:r>
            <a:endParaRPr lang="en-US" sz="1100" dirty="0"/>
          </a:p>
        </p:txBody>
      </p:sp>
      <p:sp>
        <p:nvSpPr>
          <p:cNvPr id="18" name="Shape 16"/>
          <p:cNvSpPr/>
          <p:nvPr/>
        </p:nvSpPr>
        <p:spPr>
          <a:xfrm>
            <a:off x="2697480" y="1572768"/>
            <a:ext cx="1783080" cy="493776"/>
          </a:xfrm>
          <a:prstGeom prst="roundRect">
            <a:avLst>
              <a:gd name="adj" fmla="val 9259"/>
            </a:avLst>
          </a:prstGeom>
          <a:solidFill>
            <a:srgbClr val="FFFFFF"/>
          </a:solidFill>
          <a:ln w="9525">
            <a:solidFill>
              <a:srgbClr val="C9D3E0"/>
            </a:solidFill>
            <a:prstDash val="solid"/>
          </a:ln>
        </p:spPr>
      </p:sp>
      <p:sp>
        <p:nvSpPr>
          <p:cNvPr id="19" name="Text 17"/>
          <p:cNvSpPr txBox="1"/>
          <p:nvPr/>
        </p:nvSpPr>
        <p:spPr>
          <a:xfrm>
            <a:off x="2770632" y="1600200"/>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parsers/*</a:t>
            </a:r>
            <a:endParaRPr lang="en-US" sz="850" dirty="0"/>
          </a:p>
        </p:txBody>
      </p:sp>
      <p:sp>
        <p:nvSpPr>
          <p:cNvPr id="20" name="Text 18"/>
          <p:cNvSpPr txBox="1"/>
          <p:nvPr/>
        </p:nvSpPr>
        <p:spPr>
          <a:xfrm>
            <a:off x="2770632" y="1801368"/>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delimited · excel · xml · fixml · email</a:t>
            </a:r>
            <a:endParaRPr lang="en-US" sz="800" dirty="0"/>
          </a:p>
        </p:txBody>
      </p:sp>
      <p:sp>
        <p:nvSpPr>
          <p:cNvPr id="21" name="Shape 19"/>
          <p:cNvSpPr/>
          <p:nvPr/>
        </p:nvSpPr>
        <p:spPr>
          <a:xfrm>
            <a:off x="2697480" y="2139696"/>
            <a:ext cx="1783080" cy="493776"/>
          </a:xfrm>
          <a:prstGeom prst="roundRect">
            <a:avLst>
              <a:gd name="adj" fmla="val 9259"/>
            </a:avLst>
          </a:prstGeom>
          <a:solidFill>
            <a:srgbClr val="FFFFFF"/>
          </a:solidFill>
          <a:ln w="9525">
            <a:solidFill>
              <a:srgbClr val="C9D3E0"/>
            </a:solidFill>
            <a:prstDash val="solid"/>
          </a:ln>
        </p:spPr>
      </p:sp>
      <p:sp>
        <p:nvSpPr>
          <p:cNvPr id="22" name="Text 20"/>
          <p:cNvSpPr txBox="1"/>
          <p:nvPr/>
        </p:nvSpPr>
        <p:spPr>
          <a:xfrm>
            <a:off x="2770632" y="2167128"/>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attribution.py</a:t>
            </a:r>
            <a:endParaRPr lang="en-US" sz="850" dirty="0"/>
          </a:p>
        </p:txBody>
      </p:sp>
      <p:sp>
        <p:nvSpPr>
          <p:cNvPr id="23" name="Text 21"/>
          <p:cNvSpPr txBox="1"/>
          <p:nvPr/>
        </p:nvSpPr>
        <p:spPr>
          <a:xfrm>
            <a:off x="2770632" y="2368296"/>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client scoring</a:t>
            </a:r>
            <a:endParaRPr lang="en-US" sz="800" dirty="0"/>
          </a:p>
        </p:txBody>
      </p:sp>
      <p:sp>
        <p:nvSpPr>
          <p:cNvPr id="24" name="Shape 22"/>
          <p:cNvSpPr/>
          <p:nvPr/>
        </p:nvSpPr>
        <p:spPr>
          <a:xfrm>
            <a:off x="2697480" y="2706624"/>
            <a:ext cx="1783080" cy="493776"/>
          </a:xfrm>
          <a:prstGeom prst="roundRect">
            <a:avLst>
              <a:gd name="adj" fmla="val 9259"/>
            </a:avLst>
          </a:prstGeom>
          <a:solidFill>
            <a:srgbClr val="FFFFFF"/>
          </a:solidFill>
          <a:ln w="9525">
            <a:solidFill>
              <a:srgbClr val="C9D3E0"/>
            </a:solidFill>
            <a:prstDash val="solid"/>
          </a:ln>
        </p:spPr>
      </p:sp>
      <p:sp>
        <p:nvSpPr>
          <p:cNvPr id="25" name="Text 23"/>
          <p:cNvSpPr txBox="1"/>
          <p:nvPr/>
        </p:nvSpPr>
        <p:spPr>
          <a:xfrm>
            <a:off x="2770632" y="2734056"/>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valuedate.py</a:t>
            </a:r>
            <a:endParaRPr lang="en-US" sz="850" dirty="0"/>
          </a:p>
        </p:txBody>
      </p:sp>
      <p:sp>
        <p:nvSpPr>
          <p:cNvPr id="26" name="Text 24"/>
          <p:cNvSpPr txBox="1"/>
          <p:nvPr/>
        </p:nvSpPr>
        <p:spPr>
          <a:xfrm>
            <a:off x="2770632" y="2935224"/>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3-source resolution</a:t>
            </a:r>
            <a:endParaRPr lang="en-US" sz="800" dirty="0"/>
          </a:p>
        </p:txBody>
      </p:sp>
      <p:sp>
        <p:nvSpPr>
          <p:cNvPr id="27" name="Shape 25"/>
          <p:cNvSpPr/>
          <p:nvPr/>
        </p:nvSpPr>
        <p:spPr>
          <a:xfrm>
            <a:off x="2697480" y="3273552"/>
            <a:ext cx="1783080" cy="493776"/>
          </a:xfrm>
          <a:prstGeom prst="roundRect">
            <a:avLst>
              <a:gd name="adj" fmla="val 9259"/>
            </a:avLst>
          </a:prstGeom>
          <a:solidFill>
            <a:srgbClr val="FFFFFF"/>
          </a:solidFill>
          <a:ln w="9525">
            <a:solidFill>
              <a:srgbClr val="C9D3E0"/>
            </a:solidFill>
            <a:prstDash val="solid"/>
          </a:ln>
        </p:spPr>
      </p:sp>
      <p:sp>
        <p:nvSpPr>
          <p:cNvPr id="28" name="Text 26"/>
          <p:cNvSpPr txBox="1"/>
          <p:nvPr/>
        </p:nvSpPr>
        <p:spPr>
          <a:xfrm>
            <a:off x="2770632" y="3300984"/>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mapping/*</a:t>
            </a:r>
            <a:endParaRPr lang="en-US" sz="850" dirty="0"/>
          </a:p>
        </p:txBody>
      </p:sp>
      <p:sp>
        <p:nvSpPr>
          <p:cNvPr id="29" name="Text 27"/>
          <p:cNvSpPr txBox="1"/>
          <p:nvPr/>
        </p:nvSpPr>
        <p:spPr>
          <a:xfrm>
            <a:off x="2770632" y="3502152"/>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tier1 · tier2 · tier3 · resolver</a:t>
            </a:r>
            <a:endParaRPr lang="en-US" sz="800" dirty="0"/>
          </a:p>
        </p:txBody>
      </p:sp>
      <p:sp>
        <p:nvSpPr>
          <p:cNvPr id="30" name="Shape 28"/>
          <p:cNvSpPr/>
          <p:nvPr/>
        </p:nvSpPr>
        <p:spPr>
          <a:xfrm>
            <a:off x="2697480" y="3840480"/>
            <a:ext cx="1783080" cy="493776"/>
          </a:xfrm>
          <a:prstGeom prst="roundRect">
            <a:avLst>
              <a:gd name="adj" fmla="val 9259"/>
            </a:avLst>
          </a:prstGeom>
          <a:solidFill>
            <a:srgbClr val="FFFFFF"/>
          </a:solidFill>
          <a:ln w="9525">
            <a:solidFill>
              <a:srgbClr val="C9D3E0"/>
            </a:solidFill>
            <a:prstDash val="solid"/>
          </a:ln>
        </p:spPr>
      </p:sp>
      <p:sp>
        <p:nvSpPr>
          <p:cNvPr id="31" name="Text 29"/>
          <p:cNvSpPr txBox="1"/>
          <p:nvPr/>
        </p:nvSpPr>
        <p:spPr>
          <a:xfrm>
            <a:off x="2770632" y="3867912"/>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confidence.py</a:t>
            </a:r>
            <a:endParaRPr lang="en-US" sz="850" dirty="0"/>
          </a:p>
        </p:txBody>
      </p:sp>
      <p:sp>
        <p:nvSpPr>
          <p:cNvPr id="32" name="Text 30"/>
          <p:cNvSpPr txBox="1"/>
          <p:nvPr/>
        </p:nvSpPr>
        <p:spPr>
          <a:xfrm>
            <a:off x="2770632" y="4069080"/>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dispatch/quarantine/reject</a:t>
            </a:r>
            <a:endParaRPr lang="en-US" sz="800" dirty="0"/>
          </a:p>
        </p:txBody>
      </p:sp>
      <p:sp>
        <p:nvSpPr>
          <p:cNvPr id="33" name="Shape 31"/>
          <p:cNvSpPr/>
          <p:nvPr/>
        </p:nvSpPr>
        <p:spPr>
          <a:xfrm>
            <a:off x="4754880" y="1188720"/>
            <a:ext cx="1965960" cy="3246120"/>
          </a:xfrm>
          <a:prstGeom prst="roundRect">
            <a:avLst>
              <a:gd name="adj" fmla="val 2791"/>
            </a:avLst>
          </a:prstGeom>
          <a:solidFill>
            <a:srgbClr val="F3F6FA"/>
          </a:solidFill>
          <a:ln w="9525">
            <a:solidFill>
              <a:srgbClr val="C9D3E0"/>
            </a:solidFill>
            <a:prstDash val="solid"/>
          </a:ln>
        </p:spPr>
      </p:sp>
      <p:sp>
        <p:nvSpPr>
          <p:cNvPr id="34" name="Text 32"/>
          <p:cNvSpPr txBox="1"/>
          <p:nvPr/>
        </p:nvSpPr>
        <p:spPr>
          <a:xfrm>
            <a:off x="4846320" y="1243584"/>
            <a:ext cx="182880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Berthmaster (Go)</a:t>
            </a:r>
            <a:endParaRPr lang="en-US" sz="1100" dirty="0"/>
          </a:p>
        </p:txBody>
      </p:sp>
      <p:sp>
        <p:nvSpPr>
          <p:cNvPr id="35" name="Shape 33"/>
          <p:cNvSpPr/>
          <p:nvPr/>
        </p:nvSpPr>
        <p:spPr>
          <a:xfrm>
            <a:off x="4846320" y="1572768"/>
            <a:ext cx="1783080" cy="493776"/>
          </a:xfrm>
          <a:prstGeom prst="roundRect">
            <a:avLst>
              <a:gd name="adj" fmla="val 9259"/>
            </a:avLst>
          </a:prstGeom>
          <a:solidFill>
            <a:srgbClr val="FFFFFF"/>
          </a:solidFill>
          <a:ln w="9525">
            <a:solidFill>
              <a:srgbClr val="C9D3E0"/>
            </a:solidFill>
            <a:prstDash val="solid"/>
          </a:ln>
        </p:spPr>
      </p:sp>
      <p:sp>
        <p:nvSpPr>
          <p:cNvPr id="36" name="Text 34"/>
          <p:cNvSpPr txBox="1"/>
          <p:nvPr/>
        </p:nvSpPr>
        <p:spPr>
          <a:xfrm>
            <a:off x="4919472" y="1600200"/>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slot state machine</a:t>
            </a:r>
            <a:endParaRPr lang="en-US" sz="850" dirty="0"/>
          </a:p>
        </p:txBody>
      </p:sp>
      <p:sp>
        <p:nvSpPr>
          <p:cNvPr id="37" name="Text 35"/>
          <p:cNvSpPr txBox="1"/>
          <p:nvPr/>
        </p:nvSpPr>
        <p:spPr>
          <a:xfrm>
            <a:off x="4919472" y="1801368"/>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expectation, late window</a:t>
            </a:r>
            <a:endParaRPr lang="en-US" sz="800" dirty="0"/>
          </a:p>
        </p:txBody>
      </p:sp>
      <p:sp>
        <p:nvSpPr>
          <p:cNvPr id="38" name="Shape 36"/>
          <p:cNvSpPr/>
          <p:nvPr/>
        </p:nvSpPr>
        <p:spPr>
          <a:xfrm>
            <a:off x="4846320" y="2139696"/>
            <a:ext cx="1783080" cy="493776"/>
          </a:xfrm>
          <a:prstGeom prst="roundRect">
            <a:avLst>
              <a:gd name="adj" fmla="val 9259"/>
            </a:avLst>
          </a:prstGeom>
          <a:solidFill>
            <a:srgbClr val="FFFFFF"/>
          </a:solidFill>
          <a:ln w="9525">
            <a:solidFill>
              <a:srgbClr val="C9D3E0"/>
            </a:solidFill>
            <a:prstDash val="solid"/>
          </a:ln>
        </p:spPr>
      </p:sp>
      <p:sp>
        <p:nvSpPr>
          <p:cNvPr id="39" name="Text 37"/>
          <p:cNvSpPr txBox="1"/>
          <p:nvPr/>
        </p:nvSpPr>
        <p:spPr>
          <a:xfrm>
            <a:off x="4919472" y="2167128"/>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supersession</a:t>
            </a:r>
            <a:endParaRPr lang="en-US" sz="850" dirty="0"/>
          </a:p>
        </p:txBody>
      </p:sp>
      <p:sp>
        <p:nvSpPr>
          <p:cNvPr id="40" name="Text 38"/>
          <p:cNvSpPr txBox="1"/>
          <p:nvPr/>
        </p:nvSpPr>
        <p:spPr>
          <a:xfrm>
            <a:off x="4919472" y="2368296"/>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void + replace, ordered</a:t>
            </a:r>
            <a:endParaRPr lang="en-US" sz="800" dirty="0"/>
          </a:p>
        </p:txBody>
      </p:sp>
      <p:sp>
        <p:nvSpPr>
          <p:cNvPr id="41" name="Shape 39"/>
          <p:cNvSpPr/>
          <p:nvPr/>
        </p:nvSpPr>
        <p:spPr>
          <a:xfrm>
            <a:off x="4846320" y="2706624"/>
            <a:ext cx="1783080" cy="493776"/>
          </a:xfrm>
          <a:prstGeom prst="roundRect">
            <a:avLst>
              <a:gd name="adj" fmla="val 9259"/>
            </a:avLst>
          </a:prstGeom>
          <a:solidFill>
            <a:srgbClr val="FFFFFF"/>
          </a:solidFill>
          <a:ln w="9525">
            <a:solidFill>
              <a:srgbClr val="C9D3E0"/>
            </a:solidFill>
            <a:prstDash val="solid"/>
          </a:ln>
        </p:spPr>
      </p:sp>
      <p:sp>
        <p:nvSpPr>
          <p:cNvPr id="42" name="Text 40"/>
          <p:cNvSpPr txBox="1"/>
          <p:nvPr/>
        </p:nvSpPr>
        <p:spPr>
          <a:xfrm>
            <a:off x="4919472" y="2734056"/>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missing-file alerts</a:t>
            </a:r>
            <a:endParaRPr lang="en-US" sz="850" dirty="0"/>
          </a:p>
        </p:txBody>
      </p:sp>
      <p:sp>
        <p:nvSpPr>
          <p:cNvPr id="43" name="Text 41"/>
          <p:cNvSpPr txBox="1"/>
          <p:nvPr/>
        </p:nvSpPr>
        <p:spPr>
          <a:xfrm>
            <a:off x="4919472" y="2935224"/>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unmet expectations</a:t>
            </a:r>
            <a:endParaRPr lang="en-US" sz="800" dirty="0"/>
          </a:p>
        </p:txBody>
      </p:sp>
      <p:sp>
        <p:nvSpPr>
          <p:cNvPr id="44" name="Shape 42"/>
          <p:cNvSpPr/>
          <p:nvPr/>
        </p:nvSpPr>
        <p:spPr>
          <a:xfrm>
            <a:off x="6903720" y="1188720"/>
            <a:ext cx="1965960" cy="3246120"/>
          </a:xfrm>
          <a:prstGeom prst="roundRect">
            <a:avLst>
              <a:gd name="adj" fmla="val 2791"/>
            </a:avLst>
          </a:prstGeom>
          <a:solidFill>
            <a:srgbClr val="F3F6FA"/>
          </a:solidFill>
          <a:ln w="9525">
            <a:solidFill>
              <a:srgbClr val="C9D3E0"/>
            </a:solidFill>
            <a:prstDash val="solid"/>
          </a:ln>
        </p:spPr>
      </p:sp>
      <p:sp>
        <p:nvSpPr>
          <p:cNvPr id="45" name="Text 43"/>
          <p:cNvSpPr txBox="1"/>
          <p:nvPr/>
        </p:nvSpPr>
        <p:spPr>
          <a:xfrm>
            <a:off x="6995160" y="1243584"/>
            <a:ext cx="182880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Control plane (Go)</a:t>
            </a:r>
            <a:endParaRPr lang="en-US" sz="1100" dirty="0"/>
          </a:p>
        </p:txBody>
      </p:sp>
      <p:sp>
        <p:nvSpPr>
          <p:cNvPr id="46" name="Shape 44"/>
          <p:cNvSpPr/>
          <p:nvPr/>
        </p:nvSpPr>
        <p:spPr>
          <a:xfrm>
            <a:off x="6995160" y="1572768"/>
            <a:ext cx="1783080" cy="493776"/>
          </a:xfrm>
          <a:prstGeom prst="roundRect">
            <a:avLst>
              <a:gd name="adj" fmla="val 9259"/>
            </a:avLst>
          </a:prstGeom>
          <a:solidFill>
            <a:srgbClr val="FFFFFF"/>
          </a:solidFill>
          <a:ln w="9525">
            <a:solidFill>
              <a:srgbClr val="C9D3E0"/>
            </a:solidFill>
            <a:prstDash val="solid"/>
          </a:ln>
        </p:spPr>
      </p:sp>
      <p:sp>
        <p:nvSpPr>
          <p:cNvPr id="47" name="Text 45"/>
          <p:cNvSpPr txBox="1"/>
          <p:nvPr/>
        </p:nvSpPr>
        <p:spPr>
          <a:xfrm>
            <a:off x="7068312" y="1600200"/>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web/</a:t>
            </a:r>
            <a:endParaRPr lang="en-US" sz="850" dirty="0"/>
          </a:p>
        </p:txBody>
      </p:sp>
      <p:sp>
        <p:nvSpPr>
          <p:cNvPr id="48" name="Text 46"/>
          <p:cNvSpPr txBox="1"/>
          <p:nvPr/>
        </p:nvSpPr>
        <p:spPr>
          <a:xfrm>
            <a:off x="7068312" y="1801368"/>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html/template + HTMX board</a:t>
            </a:r>
            <a:endParaRPr lang="en-US" sz="800" dirty="0"/>
          </a:p>
        </p:txBody>
      </p:sp>
      <p:sp>
        <p:nvSpPr>
          <p:cNvPr id="49" name="Shape 47"/>
          <p:cNvSpPr/>
          <p:nvPr/>
        </p:nvSpPr>
        <p:spPr>
          <a:xfrm>
            <a:off x="6995160" y="2139696"/>
            <a:ext cx="1783080" cy="493776"/>
          </a:xfrm>
          <a:prstGeom prst="roundRect">
            <a:avLst>
              <a:gd name="adj" fmla="val 9259"/>
            </a:avLst>
          </a:prstGeom>
          <a:solidFill>
            <a:srgbClr val="FFFFFF"/>
          </a:solidFill>
          <a:ln w="9525">
            <a:solidFill>
              <a:srgbClr val="C9D3E0"/>
            </a:solidFill>
            <a:prstDash val="solid"/>
          </a:ln>
        </p:spPr>
      </p:sp>
      <p:sp>
        <p:nvSpPr>
          <p:cNvPr id="50" name="Text 48"/>
          <p:cNvSpPr txBox="1"/>
          <p:nvPr/>
        </p:nvSpPr>
        <p:spPr>
          <a:xfrm>
            <a:off x="7068312" y="2167128"/>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/api/ops</a:t>
            </a:r>
            <a:endParaRPr lang="en-US" sz="850" dirty="0"/>
          </a:p>
        </p:txBody>
      </p:sp>
      <p:sp>
        <p:nvSpPr>
          <p:cNvPr id="51" name="Text 49"/>
          <p:cNvSpPr txBox="1"/>
          <p:nvPr/>
        </p:nvSpPr>
        <p:spPr>
          <a:xfrm>
            <a:off x="7068312" y="2368296"/>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operator posture</a:t>
            </a:r>
            <a:endParaRPr lang="en-US" sz="800" dirty="0"/>
          </a:p>
        </p:txBody>
      </p:sp>
      <p:sp>
        <p:nvSpPr>
          <p:cNvPr id="52" name="Shape 50"/>
          <p:cNvSpPr/>
          <p:nvPr/>
        </p:nvSpPr>
        <p:spPr>
          <a:xfrm>
            <a:off x="6995160" y="2706624"/>
            <a:ext cx="1783080" cy="493776"/>
          </a:xfrm>
          <a:prstGeom prst="roundRect">
            <a:avLst>
              <a:gd name="adj" fmla="val 9259"/>
            </a:avLst>
          </a:prstGeom>
          <a:solidFill>
            <a:srgbClr val="FFFFFF"/>
          </a:solidFill>
          <a:ln w="9525">
            <a:solidFill>
              <a:srgbClr val="C9D3E0"/>
            </a:solidFill>
            <a:prstDash val="solid"/>
          </a:ln>
        </p:spPr>
      </p:sp>
      <p:sp>
        <p:nvSpPr>
          <p:cNvPr id="53" name="Text 51"/>
          <p:cNvSpPr txBox="1"/>
          <p:nvPr/>
        </p:nvSpPr>
        <p:spPr>
          <a:xfrm>
            <a:off x="7068312" y="2734056"/>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review queue</a:t>
            </a:r>
            <a:endParaRPr lang="en-US" sz="850" dirty="0"/>
          </a:p>
        </p:txBody>
      </p:sp>
      <p:sp>
        <p:nvSpPr>
          <p:cNvPr id="54" name="Text 52"/>
          <p:cNvSpPr txBox="1"/>
          <p:nvPr/>
        </p:nvSpPr>
        <p:spPr>
          <a:xfrm>
            <a:off x="7068312" y="2935224"/>
            <a:ext cx="1645920" cy="237744"/>
          </a:xfrm>
          <a:prstGeom prst="rect">
            <a:avLst/>
          </a:prstGeom>
          <a:noFill/>
          <a:ln/>
        </p:spPr>
        <p:txBody>
          <a:bodyPr wrap="square" lIns="0" tIns="0" rIns="0" bIns="0" rtlCol="0" anchor="ctr"/>
          <a:lstStyle/>
          <a:p>
            <a:pPr indent="0" marL="0">
              <a:buNone/>
            </a:pPr>
            <a:r>
              <a:rPr lang="en-US" sz="800" dirty="0">
                <a:solidFill>
                  <a:srgbClr val="1B2A41"/>
                </a:solidFill>
                <a:latin typeface="Calibri" pitchFamily="34" charset="0"/>
                <a:ea typeface="Calibri" pitchFamily="34" charset="-122"/>
                <a:cs typeface="Calibri" pitchFamily="34" charset="-120"/>
              </a:rPr>
              <a:t>four-eyes decisions</a:t>
            </a:r>
            <a:endParaRPr lang="en-US" sz="800" dirty="0"/>
          </a:p>
        </p:txBody>
      </p:sp>
      <p:sp>
        <p:nvSpPr>
          <p:cNvPr id="55" name="Shape 53"/>
          <p:cNvSpPr/>
          <p:nvPr/>
        </p:nvSpPr>
        <p:spPr>
          <a:xfrm>
            <a:off x="2423160" y="2834640"/>
            <a:ext cx="182880" cy="9144"/>
          </a:xfrm>
          <a:prstGeom prst="line">
            <a:avLst/>
          </a:prstGeom>
          <a:noFill/>
          <a:ln w="25400">
            <a:solidFill>
              <a:srgbClr val="2EC4B6"/>
            </a:solidFill>
            <a:prstDash val="solid"/>
            <a:tailEnd type="triangle"/>
          </a:ln>
        </p:spPr>
      </p:sp>
      <p:sp>
        <p:nvSpPr>
          <p:cNvPr id="56" name="Shape 54"/>
          <p:cNvSpPr/>
          <p:nvPr/>
        </p:nvSpPr>
        <p:spPr>
          <a:xfrm>
            <a:off x="4572000" y="2834640"/>
            <a:ext cx="182880" cy="9144"/>
          </a:xfrm>
          <a:prstGeom prst="line">
            <a:avLst/>
          </a:prstGeom>
          <a:noFill/>
          <a:ln w="25400">
            <a:solidFill>
              <a:srgbClr val="2EC4B6"/>
            </a:solidFill>
            <a:prstDash val="solid"/>
            <a:tailEnd type="triangle"/>
          </a:ln>
        </p:spPr>
      </p:sp>
      <p:sp>
        <p:nvSpPr>
          <p:cNvPr id="57" name="Shape 55"/>
          <p:cNvSpPr/>
          <p:nvPr/>
        </p:nvSpPr>
        <p:spPr>
          <a:xfrm>
            <a:off x="6720840" y="2834640"/>
            <a:ext cx="182880" cy="9144"/>
          </a:xfrm>
          <a:prstGeom prst="line">
            <a:avLst/>
          </a:prstGeom>
          <a:noFill/>
          <a:ln w="25400">
            <a:solidFill>
              <a:srgbClr val="2EC4B6"/>
            </a:solidFill>
            <a:prstDash val="solid"/>
            <a:tailEnd type="triangle"/>
          </a:ln>
        </p:spPr>
      </p:sp>
      <p:sp>
        <p:nvSpPr>
          <p:cNvPr id="58" name="Text 56"/>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Message contracts are defined once in proto/ and generated for both languages with buf; protojson on the wire keeps topics human-readable for triage.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CRITICAL FLOW</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arrival-to-berth-assignment pipeline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7</a:t>
            </a:r>
            <a:endParaRPr lang="en-US" sz="800" dirty="0"/>
          </a:p>
        </p:txBody>
      </p:sp>
      <p:sp>
        <p:nvSpPr>
          <p:cNvPr id="5" name="Shape 3"/>
          <p:cNvSpPr/>
          <p:nvPr/>
        </p:nvSpPr>
        <p:spPr>
          <a:xfrm>
            <a:off x="457200" y="1280160"/>
            <a:ext cx="1965960" cy="1234440"/>
          </a:xfrm>
          <a:prstGeom prst="roundRect">
            <a:avLst>
              <a:gd name="adj" fmla="val 4444"/>
            </a:avLst>
          </a:prstGeom>
          <a:solidFill>
            <a:srgbClr val="F3F6FA"/>
          </a:solidFill>
          <a:ln w="9525">
            <a:solidFill>
              <a:srgbClr val="C9D3E0"/>
            </a:solidFill>
            <a:prstDash val="solid"/>
          </a:ln>
        </p:spPr>
      </p:sp>
      <p:sp>
        <p:nvSpPr>
          <p:cNvPr id="6" name="Text 4"/>
          <p:cNvSpPr txBox="1"/>
          <p:nvPr/>
        </p:nvSpPr>
        <p:spPr>
          <a:xfrm>
            <a:off x="54864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1. Detect</a:t>
            </a:r>
            <a:endParaRPr lang="en-US" sz="1100" dirty="0"/>
          </a:p>
        </p:txBody>
      </p:sp>
      <p:sp>
        <p:nvSpPr>
          <p:cNvPr id="7" name="Text 5"/>
          <p:cNvSpPr txBox="1"/>
          <p:nvPr/>
        </p:nvSpPr>
        <p:spPr>
          <a:xfrm>
            <a:off x="54864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write-completion + SHA-256; exact duplicate and redelivery suppressed by content hash</a:t>
            </a:r>
            <a:endParaRPr lang="en-US" sz="850" dirty="0"/>
          </a:p>
        </p:txBody>
      </p:sp>
      <p:sp>
        <p:nvSpPr>
          <p:cNvPr id="8" name="Shape 6"/>
          <p:cNvSpPr/>
          <p:nvPr/>
        </p:nvSpPr>
        <p:spPr>
          <a:xfrm>
            <a:off x="2423160" y="1892808"/>
            <a:ext cx="137160" cy="9144"/>
          </a:xfrm>
          <a:prstGeom prst="line">
            <a:avLst/>
          </a:prstGeom>
          <a:noFill/>
          <a:ln w="15875">
            <a:solidFill>
              <a:srgbClr val="6B7A90"/>
            </a:solidFill>
            <a:prstDash val="solid"/>
            <a:tailEnd type="triangle"/>
          </a:ln>
        </p:spPr>
      </p:sp>
      <p:sp>
        <p:nvSpPr>
          <p:cNvPr id="9" name="Shape 7"/>
          <p:cNvSpPr/>
          <p:nvPr/>
        </p:nvSpPr>
        <p:spPr>
          <a:xfrm>
            <a:off x="2560320" y="1280160"/>
            <a:ext cx="1965960" cy="1234440"/>
          </a:xfrm>
          <a:prstGeom prst="roundRect">
            <a:avLst>
              <a:gd name="adj" fmla="val 4444"/>
            </a:avLst>
          </a:prstGeom>
          <a:solidFill>
            <a:srgbClr val="F3F6FA"/>
          </a:solidFill>
          <a:ln w="9525">
            <a:solidFill>
              <a:srgbClr val="C9D3E0"/>
            </a:solidFill>
            <a:prstDash val="solid"/>
          </a:ln>
        </p:spPr>
      </p:sp>
      <p:sp>
        <p:nvSpPr>
          <p:cNvPr id="10" name="Text 8"/>
          <p:cNvSpPr txBox="1"/>
          <p:nvPr/>
        </p:nvSpPr>
        <p:spPr>
          <a:xfrm>
            <a:off x="265176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2. Sniff &amp; parse</a:t>
            </a:r>
            <a:endParaRPr lang="en-US" sz="1100" dirty="0"/>
          </a:p>
        </p:txBody>
      </p:sp>
      <p:sp>
        <p:nvSpPr>
          <p:cNvPr id="11" name="Text 9"/>
          <p:cNvSpPr txBox="1"/>
          <p:nvPr/>
        </p:nvSpPr>
        <p:spPr>
          <a:xfrm>
            <a:off x="265176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format decided by content, not extension; six parsers behind one interface</a:t>
            </a:r>
            <a:endParaRPr lang="en-US" sz="850" dirty="0"/>
          </a:p>
        </p:txBody>
      </p:sp>
      <p:sp>
        <p:nvSpPr>
          <p:cNvPr id="12" name="Shape 10"/>
          <p:cNvSpPr/>
          <p:nvPr/>
        </p:nvSpPr>
        <p:spPr>
          <a:xfrm>
            <a:off x="4526280" y="1892808"/>
            <a:ext cx="137160" cy="9144"/>
          </a:xfrm>
          <a:prstGeom prst="line">
            <a:avLst/>
          </a:prstGeom>
          <a:noFill/>
          <a:ln w="15875">
            <a:solidFill>
              <a:srgbClr val="6B7A90"/>
            </a:solidFill>
            <a:prstDash val="solid"/>
            <a:tailEnd type="triangle"/>
          </a:ln>
        </p:spPr>
      </p:sp>
      <p:sp>
        <p:nvSpPr>
          <p:cNvPr id="13" name="Shape 11"/>
          <p:cNvSpPr/>
          <p:nvPr/>
        </p:nvSpPr>
        <p:spPr>
          <a:xfrm>
            <a:off x="4663440" y="1280160"/>
            <a:ext cx="1965960" cy="1234440"/>
          </a:xfrm>
          <a:prstGeom prst="roundRect">
            <a:avLst>
              <a:gd name="adj" fmla="val 4444"/>
            </a:avLst>
          </a:prstGeom>
          <a:solidFill>
            <a:srgbClr val="F3F6FA"/>
          </a:solidFill>
          <a:ln w="9525">
            <a:solidFill>
              <a:srgbClr val="C9D3E0"/>
            </a:solidFill>
            <a:prstDash val="solid"/>
          </a:ln>
        </p:spPr>
      </p:sp>
      <p:sp>
        <p:nvSpPr>
          <p:cNvPr id="14" name="Text 12"/>
          <p:cNvSpPr txBox="1"/>
          <p:nvPr/>
        </p:nvSpPr>
        <p:spPr>
          <a:xfrm>
            <a:off x="475488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3. Attribute</a:t>
            </a:r>
            <a:endParaRPr lang="en-US" sz="1100" dirty="0"/>
          </a:p>
        </p:txBody>
      </p:sp>
      <p:sp>
        <p:nvSpPr>
          <p:cNvPr id="15" name="Text 13"/>
          <p:cNvSpPr txBox="1"/>
          <p:nvPr/>
        </p:nvSpPr>
        <p:spPr>
          <a:xfrm>
            <a:off x="475488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client scored from filename patterns + embedded account IDs, not a priority list</a:t>
            </a:r>
            <a:endParaRPr lang="en-US" sz="850" dirty="0"/>
          </a:p>
        </p:txBody>
      </p:sp>
      <p:sp>
        <p:nvSpPr>
          <p:cNvPr id="16" name="Shape 14"/>
          <p:cNvSpPr/>
          <p:nvPr/>
        </p:nvSpPr>
        <p:spPr>
          <a:xfrm>
            <a:off x="6629400" y="1892808"/>
            <a:ext cx="137160" cy="9144"/>
          </a:xfrm>
          <a:prstGeom prst="line">
            <a:avLst/>
          </a:prstGeom>
          <a:noFill/>
          <a:ln w="15875">
            <a:solidFill>
              <a:srgbClr val="6B7A90"/>
            </a:solidFill>
            <a:prstDash val="solid"/>
            <a:tailEnd type="triangle"/>
          </a:ln>
        </p:spPr>
      </p:sp>
      <p:sp>
        <p:nvSpPr>
          <p:cNvPr id="17" name="Shape 15"/>
          <p:cNvSpPr/>
          <p:nvPr/>
        </p:nvSpPr>
        <p:spPr>
          <a:xfrm>
            <a:off x="6766560" y="1280160"/>
            <a:ext cx="1965960" cy="1234440"/>
          </a:xfrm>
          <a:prstGeom prst="roundRect">
            <a:avLst>
              <a:gd name="adj" fmla="val 4444"/>
            </a:avLst>
          </a:prstGeom>
          <a:solidFill>
            <a:srgbClr val="F3F6FA"/>
          </a:solidFill>
          <a:ln w="9525">
            <a:solidFill>
              <a:srgbClr val="C9D3E0"/>
            </a:solidFill>
            <a:prstDash val="solid"/>
          </a:ln>
        </p:spPr>
      </p:sp>
      <p:sp>
        <p:nvSpPr>
          <p:cNvPr id="18" name="Text 16"/>
          <p:cNvSpPr txBox="1"/>
          <p:nvPr/>
        </p:nvSpPr>
        <p:spPr>
          <a:xfrm>
            <a:off x="685800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4. Resolve date</a:t>
            </a:r>
            <a:endParaRPr lang="en-US" sz="1100" dirty="0"/>
          </a:p>
        </p:txBody>
      </p:sp>
      <p:sp>
        <p:nvSpPr>
          <p:cNvPr id="19" name="Text 17"/>
          <p:cNvSpPr txBox="1"/>
          <p:nvPr/>
        </p:nvSpPr>
        <p:spPr>
          <a:xfrm>
            <a:off x="685800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filename, content and arrival time ranked; disagreement always flagged, never silent</a:t>
            </a:r>
            <a:endParaRPr lang="en-US" sz="850" dirty="0"/>
          </a:p>
        </p:txBody>
      </p:sp>
      <p:sp>
        <p:nvSpPr>
          <p:cNvPr id="20" name="Shape 18"/>
          <p:cNvSpPr/>
          <p:nvPr/>
        </p:nvSpPr>
        <p:spPr>
          <a:xfrm>
            <a:off x="457200" y="2834640"/>
            <a:ext cx="1965960" cy="1234440"/>
          </a:xfrm>
          <a:prstGeom prst="roundRect">
            <a:avLst>
              <a:gd name="adj" fmla="val 4444"/>
            </a:avLst>
          </a:prstGeom>
          <a:solidFill>
            <a:srgbClr val="EEF6F4"/>
          </a:solidFill>
          <a:ln w="9525">
            <a:solidFill>
              <a:srgbClr val="2EC4B6"/>
            </a:solidFill>
            <a:prstDash val="solid"/>
          </a:ln>
        </p:spPr>
      </p:sp>
      <p:sp>
        <p:nvSpPr>
          <p:cNvPr id="21" name="Text 19"/>
          <p:cNvSpPr txBox="1"/>
          <p:nvPr/>
        </p:nvSpPr>
        <p:spPr>
          <a:xfrm>
            <a:off x="54864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5. Map columns</a:t>
            </a:r>
            <a:endParaRPr lang="en-US" sz="1100" dirty="0"/>
          </a:p>
        </p:txBody>
      </p:sp>
      <p:sp>
        <p:nvSpPr>
          <p:cNvPr id="22" name="Text 20"/>
          <p:cNvSpPr txBox="1"/>
          <p:nvPr/>
        </p:nvSpPr>
        <p:spPr>
          <a:xfrm>
            <a:off x="54864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alias → fuzzy → model, one-way escalation, cached by template fingerprint</a:t>
            </a:r>
            <a:endParaRPr lang="en-US" sz="850" dirty="0"/>
          </a:p>
        </p:txBody>
      </p:sp>
      <p:sp>
        <p:nvSpPr>
          <p:cNvPr id="23" name="Shape 21"/>
          <p:cNvSpPr/>
          <p:nvPr/>
        </p:nvSpPr>
        <p:spPr>
          <a:xfrm>
            <a:off x="2423160" y="3447288"/>
            <a:ext cx="137160" cy="9144"/>
          </a:xfrm>
          <a:prstGeom prst="line">
            <a:avLst/>
          </a:prstGeom>
          <a:noFill/>
          <a:ln w="15875">
            <a:solidFill>
              <a:srgbClr val="6B7A90"/>
            </a:solidFill>
            <a:prstDash val="solid"/>
            <a:tailEnd type="triangle"/>
          </a:ln>
        </p:spPr>
      </p:sp>
      <p:sp>
        <p:nvSpPr>
          <p:cNvPr id="24" name="Shape 22"/>
          <p:cNvSpPr/>
          <p:nvPr/>
        </p:nvSpPr>
        <p:spPr>
          <a:xfrm>
            <a:off x="2560320" y="2834640"/>
            <a:ext cx="1965960" cy="1234440"/>
          </a:xfrm>
          <a:prstGeom prst="roundRect">
            <a:avLst>
              <a:gd name="adj" fmla="val 4444"/>
            </a:avLst>
          </a:prstGeom>
          <a:solidFill>
            <a:srgbClr val="EEF6F4"/>
          </a:solidFill>
          <a:ln w="9525">
            <a:solidFill>
              <a:srgbClr val="2EC4B6"/>
            </a:solidFill>
            <a:prstDash val="solid"/>
          </a:ln>
        </p:spPr>
      </p:sp>
      <p:sp>
        <p:nvSpPr>
          <p:cNvPr id="25" name="Text 23"/>
          <p:cNvSpPr txBox="1"/>
          <p:nvPr/>
        </p:nvSpPr>
        <p:spPr>
          <a:xfrm>
            <a:off x="265176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6. Score</a:t>
            </a:r>
            <a:endParaRPr lang="en-US" sz="1100" dirty="0"/>
          </a:p>
        </p:txBody>
      </p:sp>
      <p:sp>
        <p:nvSpPr>
          <p:cNvPr id="26" name="Text 24"/>
          <p:cNvSpPr txBox="1"/>
          <p:nvPr/>
        </p:nvSpPr>
        <p:spPr>
          <a:xfrm>
            <a:off x="265176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weighted composite confidence; material fields count 3× incidental ones</a:t>
            </a:r>
            <a:endParaRPr lang="en-US" sz="850" dirty="0"/>
          </a:p>
        </p:txBody>
      </p:sp>
      <p:sp>
        <p:nvSpPr>
          <p:cNvPr id="27" name="Shape 25"/>
          <p:cNvSpPr/>
          <p:nvPr/>
        </p:nvSpPr>
        <p:spPr>
          <a:xfrm>
            <a:off x="4526280" y="3447288"/>
            <a:ext cx="137160" cy="9144"/>
          </a:xfrm>
          <a:prstGeom prst="line">
            <a:avLst/>
          </a:prstGeom>
          <a:noFill/>
          <a:ln w="15875">
            <a:solidFill>
              <a:srgbClr val="6B7A90"/>
            </a:solidFill>
            <a:prstDash val="solid"/>
            <a:tailEnd type="triangle"/>
          </a:ln>
        </p:spPr>
      </p:sp>
      <p:sp>
        <p:nvSpPr>
          <p:cNvPr id="28" name="Shape 26"/>
          <p:cNvSpPr/>
          <p:nvPr/>
        </p:nvSpPr>
        <p:spPr>
          <a:xfrm>
            <a:off x="4663440" y="2834640"/>
            <a:ext cx="1965960" cy="1234440"/>
          </a:xfrm>
          <a:prstGeom prst="roundRect">
            <a:avLst>
              <a:gd name="adj" fmla="val 4444"/>
            </a:avLst>
          </a:prstGeom>
          <a:solidFill>
            <a:srgbClr val="EEF6F4"/>
          </a:solidFill>
          <a:ln w="9525">
            <a:solidFill>
              <a:srgbClr val="2EC4B6"/>
            </a:solidFill>
            <a:prstDash val="solid"/>
          </a:ln>
        </p:spPr>
      </p:sp>
      <p:sp>
        <p:nvSpPr>
          <p:cNvPr id="29" name="Text 27"/>
          <p:cNvSpPr txBox="1"/>
          <p:nvPr/>
        </p:nvSpPr>
        <p:spPr>
          <a:xfrm>
            <a:off x="475488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7. Route</a:t>
            </a:r>
            <a:endParaRPr lang="en-US" sz="1100" dirty="0"/>
          </a:p>
        </p:txBody>
      </p:sp>
      <p:sp>
        <p:nvSpPr>
          <p:cNvPr id="30" name="Text 28"/>
          <p:cNvSpPr txBox="1"/>
          <p:nvPr/>
        </p:nvSpPr>
        <p:spPr>
          <a:xfrm>
            <a:off x="475488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dispatch above threshold; quarantine to four-eyes; reject below the floor</a:t>
            </a:r>
            <a:endParaRPr lang="en-US" sz="850" dirty="0"/>
          </a:p>
        </p:txBody>
      </p:sp>
      <p:sp>
        <p:nvSpPr>
          <p:cNvPr id="31" name="Shape 29"/>
          <p:cNvSpPr/>
          <p:nvPr/>
        </p:nvSpPr>
        <p:spPr>
          <a:xfrm>
            <a:off x="6629400" y="3447288"/>
            <a:ext cx="137160" cy="9144"/>
          </a:xfrm>
          <a:prstGeom prst="line">
            <a:avLst/>
          </a:prstGeom>
          <a:noFill/>
          <a:ln w="15875">
            <a:solidFill>
              <a:srgbClr val="6B7A90"/>
            </a:solidFill>
            <a:prstDash val="solid"/>
            <a:tailEnd type="triangle"/>
          </a:ln>
        </p:spPr>
      </p:sp>
      <p:sp>
        <p:nvSpPr>
          <p:cNvPr id="32" name="Shape 30"/>
          <p:cNvSpPr/>
          <p:nvPr/>
        </p:nvSpPr>
        <p:spPr>
          <a:xfrm>
            <a:off x="6766560" y="2834640"/>
            <a:ext cx="1965960" cy="1234440"/>
          </a:xfrm>
          <a:prstGeom prst="roundRect">
            <a:avLst>
              <a:gd name="adj" fmla="val 4444"/>
            </a:avLst>
          </a:prstGeom>
          <a:solidFill>
            <a:srgbClr val="EEF6F4"/>
          </a:solidFill>
          <a:ln w="9525">
            <a:solidFill>
              <a:srgbClr val="2EC4B6"/>
            </a:solidFill>
            <a:prstDash val="solid"/>
          </a:ln>
        </p:spPr>
      </p:sp>
      <p:sp>
        <p:nvSpPr>
          <p:cNvPr id="33" name="Text 31"/>
          <p:cNvSpPr txBox="1"/>
          <p:nvPr/>
        </p:nvSpPr>
        <p:spPr>
          <a:xfrm>
            <a:off x="685800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8. Assign berth</a:t>
            </a:r>
            <a:endParaRPr lang="en-US" sz="1100" dirty="0"/>
          </a:p>
        </p:txBody>
      </p:sp>
      <p:sp>
        <p:nvSpPr>
          <p:cNvPr id="34" name="Text 32"/>
          <p:cNvSpPr txBox="1"/>
          <p:nvPr/>
        </p:nvSpPr>
        <p:spPr>
          <a:xfrm>
            <a:off x="685800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both sides paired per client/domain/value-date; supersession replaces in order</a:t>
            </a:r>
            <a:endParaRPr lang="en-US" sz="850" dirty="0"/>
          </a:p>
        </p:txBody>
      </p:sp>
      <p:sp>
        <p:nvSpPr>
          <p:cNvPr id="35" name="Shape 33"/>
          <p:cNvSpPr/>
          <p:nvPr/>
        </p:nvSpPr>
        <p:spPr>
          <a:xfrm>
            <a:off x="8229600" y="2514600"/>
            <a:ext cx="9144" cy="320040"/>
          </a:xfrm>
          <a:prstGeom prst="line">
            <a:avLst/>
          </a:prstGeom>
          <a:noFill/>
          <a:ln w="15875">
            <a:solidFill>
              <a:srgbClr val="6B7A90"/>
            </a:solidFill>
            <a:prstDash val="solid"/>
            <a:tailEnd type="triangle"/>
          </a:ln>
        </p:spPr>
      </p:sp>
      <p:sp>
        <p:nvSpPr>
          <p:cNvPr id="36" name="Text 34"/>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Every stage records why it decided what it did. Audit is a property of the architecture: each decision appends to a hash-chained log, and read models are projections rebuildable from offset zero.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DESIGN · CORE MECHANISM</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mapping ladder: falling model dependence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8</a:t>
            </a:r>
            <a:endParaRPr lang="en-US" sz="800" dirty="0"/>
          </a:p>
        </p:txBody>
      </p:sp>
      <p:sp>
        <p:nvSpPr>
          <p:cNvPr id="5" name="Shape 3"/>
          <p:cNvSpPr/>
          <p:nvPr/>
        </p:nvSpPr>
        <p:spPr>
          <a:xfrm>
            <a:off x="457200" y="1188720"/>
            <a:ext cx="4206240" cy="3246120"/>
          </a:xfrm>
          <a:prstGeom prst="roundRect">
            <a:avLst>
              <a:gd name="adj" fmla="val 1690"/>
            </a:avLst>
          </a:prstGeom>
          <a:solidFill>
            <a:srgbClr val="1C2B4F"/>
          </a:solidFill>
          <a:ln w="9525">
            <a:solidFill>
              <a:srgbClr val="1C2B4F"/>
            </a:solidFill>
            <a:prstDash val="solid"/>
          </a:ln>
        </p:spPr>
      </p:sp>
      <p:sp>
        <p:nvSpPr>
          <p:cNvPr id="6" name="Text 4"/>
          <p:cNvSpPr txBox="1"/>
          <p:nvPr/>
        </p:nvSpPr>
        <p:spPr>
          <a:xfrm>
            <a:off x="594360" y="1261872"/>
            <a:ext cx="3931920" cy="274320"/>
          </a:xfrm>
          <a:prstGeom prst="rect">
            <a:avLst/>
          </a:prstGeom>
          <a:noFill/>
          <a:ln/>
        </p:spPr>
        <p:txBody>
          <a:bodyPr wrap="square" lIns="0" tIns="0" rIns="0" bIns="0" rtlCol="0" anchor="ctr"/>
          <a:lstStyle/>
          <a:p>
            <a:pPr indent="0" marL="0">
              <a:buNone/>
            </a:pPr>
            <a:r>
              <a:rPr lang="en-US" sz="1100" b="1" dirty="0">
                <a:solidFill>
                  <a:srgbClr val="2EC4B6"/>
                </a:solidFill>
                <a:latin typeface="Calibri" pitchFamily="34" charset="0"/>
                <a:ea typeface="Calibri" pitchFamily="34" charset="-122"/>
                <a:cs typeface="Calibri" pitchFamily="34" charset="-120"/>
              </a:rPr>
              <a:t>Three escalating tiers, one-way</a:t>
            </a:r>
            <a:endParaRPr lang="en-US" sz="1100" dirty="0"/>
          </a:p>
        </p:txBody>
      </p:sp>
      <p:sp>
        <p:nvSpPr>
          <p:cNvPr id="7" name="Text 5"/>
          <p:cNvSpPr txBox="1"/>
          <p:nvPr/>
        </p:nvSpPr>
        <p:spPr>
          <a:xfrm>
            <a:off x="594360" y="1600200"/>
            <a:ext cx="3931920" cy="1554480"/>
          </a:xfrm>
          <a:prstGeom prst="rect">
            <a:avLst/>
          </a:prstGeom>
          <a:noFill/>
          <a:ln/>
        </p:spPr>
        <p:txBody>
          <a:bodyPr wrap="square" lIns="0" tIns="0" rIns="0" bIns="0" rtlCol="0" anchor="t"/>
          <a:lstStyle/>
          <a:p>
            <a:pPr indent="0" marL="0">
              <a:buNone/>
            </a:pPr>
            <a:r>
              <a:rPr lang="en-US" sz="950" dirty="0">
                <a:solidFill>
                  <a:srgbClr val="FFFFFF"/>
                </a:solidFill>
                <a:latin typeface="Courier New" pitchFamily="34" charset="0"/>
                <a:ea typeface="Courier New" pitchFamily="34" charset="-122"/>
                <a:cs typeface="Courier New" pitchFamily="34" charset="-120"/>
              </a:rPr>
              <a:t>T1  alias dictionary (µs)      160/214  74.8%</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T1  structural price rule       4/214    1.9%</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T2  fuzzy match (ms)            8/214    3.7%</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client override (promoted) 1/214    0.5%</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T3  model, given the residue    5/214    2.3%</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unresolved, declined      36/214   16.8%</a:t>
            </a:r>
            <a:endParaRPr lang="en-US" sz="950" dirty="0"/>
          </a:p>
        </p:txBody>
      </p:sp>
      <p:sp>
        <p:nvSpPr>
          <p:cNvPr id="8" name="Text 6"/>
          <p:cNvSpPr txBox="1"/>
          <p:nvPr/>
        </p:nvSpPr>
        <p:spPr>
          <a:xfrm>
            <a:off x="594360" y="3200400"/>
            <a:ext cx="3931920" cy="118872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DCE7F5"/>
                </a:solidFill>
                <a:latin typeface="Calibri" pitchFamily="34" charset="0"/>
                <a:ea typeface="Calibri" pitchFamily="34" charset="-122"/>
                <a:cs typeface="Calibri" pitchFamily="34" charset="-120"/>
              </a:rPr>
              <a:t>Each tier sees only what the previous one declined; a column T1 resolved is never re-litigated by a model</a:t>
            </a:r>
            <a:endParaRPr lang="en-US" sz="900" dirty="0"/>
          </a:p>
          <a:p>
            <a:pPr marL="342900" indent="-342900">
              <a:spcAft>
                <a:spcPts val="400"/>
              </a:spcAft>
              <a:buSzPct val="100000"/>
              <a:buChar char="•"/>
            </a:pPr>
            <a:r>
              <a:rPr lang="en-US" sz="900" dirty="0">
                <a:solidFill>
                  <a:srgbClr val="DCE7F5"/>
                </a:solidFill>
                <a:latin typeface="Calibri" pitchFamily="34" charset="0"/>
                <a:ea typeface="Calibri" pitchFamily="34" charset="-122"/>
                <a:cs typeface="Calibri" pitchFamily="34" charset="-120"/>
              </a:rPr>
              <a:t>Results are cached by template fingerprint — the second file with a known layout costs nothing</a:t>
            </a:r>
            <a:endParaRPr lang="en-US" sz="900" dirty="0"/>
          </a:p>
          <a:p>
            <a:pPr marL="342900" indent="-342900">
              <a:spcAft>
                <a:spcPts val="400"/>
              </a:spcAft>
              <a:buSzPct val="100000"/>
              <a:buChar char="•"/>
            </a:pPr>
            <a:r>
              <a:rPr lang="en-US" sz="900" dirty="0">
                <a:solidFill>
                  <a:srgbClr val="DCE7F5"/>
                </a:solidFill>
                <a:latin typeface="Calibri" pitchFamily="34" charset="0"/>
                <a:ea typeface="Calibri" pitchFamily="34" charset="-122"/>
                <a:cs typeface="Calibri" pitchFamily="34" charset="-120"/>
              </a:rPr>
              <a:t>A reviewer can promote a confirmed T3 decision into the client's T1 dictionary; it resolves at T1 forever after</a:t>
            </a:r>
            <a:endParaRPr lang="en-US" sz="900" dirty="0"/>
          </a:p>
        </p:txBody>
      </p:sp>
      <p:sp>
        <p:nvSpPr>
          <p:cNvPr id="9" name="Shape 7"/>
          <p:cNvSpPr/>
          <p:nvPr/>
        </p:nvSpPr>
        <p:spPr>
          <a:xfrm>
            <a:off x="4937760" y="1188720"/>
            <a:ext cx="3749040" cy="1024128"/>
          </a:xfrm>
          <a:prstGeom prst="roundRect">
            <a:avLst>
              <a:gd name="adj" fmla="val 5357"/>
            </a:avLst>
          </a:prstGeom>
          <a:solidFill>
            <a:srgbClr val="F3F6FA"/>
          </a:solidFill>
          <a:ln w="9525">
            <a:solidFill>
              <a:srgbClr val="C9D3E0"/>
            </a:solidFill>
            <a:prstDash val="solid"/>
          </a:ln>
        </p:spPr>
      </p:sp>
      <p:sp>
        <p:nvSpPr>
          <p:cNvPr id="10" name="Text 8"/>
          <p:cNvSpPr txBox="1"/>
          <p:nvPr/>
        </p:nvSpPr>
        <p:spPr>
          <a:xfrm>
            <a:off x="5029200" y="1243584"/>
            <a:ext cx="35661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Structure over vocabulary</a:t>
            </a:r>
            <a:endParaRPr lang="en-US" sz="1100" dirty="0"/>
          </a:p>
        </p:txBody>
      </p:sp>
      <p:sp>
        <p:nvSpPr>
          <p:cNvPr id="11" name="Text 9"/>
          <p:cNvSpPr txBox="1"/>
          <p:nvPr/>
        </p:nvSpPr>
        <p:spPr>
          <a:xfrm>
            <a:off x="5029200" y="1499616"/>
            <a:ext cx="3566160" cy="658368"/>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settlement/mark/prior-settlement repeat per instrument-day; trade price varies per row — resolved by that shape, not the header text</a:t>
            </a:r>
            <a:endParaRPr lang="en-US" sz="900" dirty="0"/>
          </a:p>
        </p:txBody>
      </p:sp>
      <p:sp>
        <p:nvSpPr>
          <p:cNvPr id="12" name="Shape 10"/>
          <p:cNvSpPr/>
          <p:nvPr/>
        </p:nvSpPr>
        <p:spPr>
          <a:xfrm>
            <a:off x="4937760" y="2304288"/>
            <a:ext cx="3749040" cy="1024128"/>
          </a:xfrm>
          <a:prstGeom prst="roundRect">
            <a:avLst>
              <a:gd name="adj" fmla="val 5357"/>
            </a:avLst>
          </a:prstGeom>
          <a:solidFill>
            <a:srgbClr val="F3F6FA"/>
          </a:solidFill>
          <a:ln w="9525">
            <a:solidFill>
              <a:srgbClr val="C9D3E0"/>
            </a:solidFill>
            <a:prstDash val="solid"/>
          </a:ln>
        </p:spPr>
      </p:sp>
      <p:sp>
        <p:nvSpPr>
          <p:cNvPr id="13" name="Text 11"/>
          <p:cNvSpPr txBox="1"/>
          <p:nvPr/>
        </p:nvSpPr>
        <p:spPr>
          <a:xfrm>
            <a:off x="5029200" y="2359152"/>
            <a:ext cx="35661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Provenance on every field</a:t>
            </a:r>
            <a:endParaRPr lang="en-US" sz="1100" dirty="0"/>
          </a:p>
        </p:txBody>
      </p:sp>
      <p:sp>
        <p:nvSpPr>
          <p:cNvPr id="14" name="Text 12"/>
          <p:cNvSpPr txBox="1"/>
          <p:nvPr/>
        </p:nvSpPr>
        <p:spPr>
          <a:xfrm>
            <a:off x="5029200" y="2615184"/>
            <a:ext cx="3566160" cy="658368"/>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each dispatched mapping carries a tier and non-empty evidence string; a mapping with no provenance is a defect</a:t>
            </a:r>
            <a:endParaRPr lang="en-US" sz="900" dirty="0"/>
          </a:p>
        </p:txBody>
      </p:sp>
      <p:sp>
        <p:nvSpPr>
          <p:cNvPr id="15" name="Shape 13"/>
          <p:cNvSpPr/>
          <p:nvPr/>
        </p:nvSpPr>
        <p:spPr>
          <a:xfrm>
            <a:off x="4937760" y="3419856"/>
            <a:ext cx="3749040" cy="1024128"/>
          </a:xfrm>
          <a:prstGeom prst="roundRect">
            <a:avLst>
              <a:gd name="adj" fmla="val 5357"/>
            </a:avLst>
          </a:prstGeom>
          <a:solidFill>
            <a:srgbClr val="F3F6FA"/>
          </a:solidFill>
          <a:ln w="9525">
            <a:solidFill>
              <a:srgbClr val="C9D3E0"/>
            </a:solidFill>
            <a:prstDash val="solid"/>
          </a:ln>
        </p:spPr>
      </p:sp>
      <p:sp>
        <p:nvSpPr>
          <p:cNvPr id="16" name="Text 14"/>
          <p:cNvSpPr txBox="1"/>
          <p:nvPr/>
        </p:nvSpPr>
        <p:spPr>
          <a:xfrm>
            <a:off x="5029200" y="3474720"/>
            <a:ext cx="3566160" cy="256032"/>
          </a:xfrm>
          <a:prstGeom prst="rect">
            <a:avLst/>
          </a:prstGeom>
          <a:noFill/>
          <a:ln/>
        </p:spPr>
        <p:txBody>
          <a:bodyPr wrap="square" lIns="0" tIns="0" rIns="0" bIns="0" rtlCol="0" anchor="ctr"/>
          <a:lstStyle/>
          <a:p>
            <a:pPr indent="0" marL="0">
              <a:buNone/>
            </a:pPr>
            <a:r>
              <a:rPr lang="en-US" sz="1100" b="1" dirty="0">
                <a:solidFill>
                  <a:srgbClr val="D64550"/>
                </a:solidFill>
                <a:latin typeface="Calibri" pitchFamily="34" charset="0"/>
                <a:ea typeface="Calibri" pitchFamily="34" charset="-122"/>
                <a:cs typeface="Calibri" pitchFamily="34" charset="-120"/>
              </a:rPr>
              <a:t>Decline over guess</a:t>
            </a:r>
            <a:endParaRPr lang="en-US" sz="1100" dirty="0"/>
          </a:p>
        </p:txBody>
      </p:sp>
      <p:sp>
        <p:nvSpPr>
          <p:cNvPr id="17" name="Text 15"/>
          <p:cNvSpPr txBox="1"/>
          <p:nvPr/>
        </p:nvSpPr>
        <p:spPr>
          <a:xfrm>
            <a:off x="5029200" y="3730752"/>
            <a:ext cx="3566160" cy="658368"/>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a wrong mapping breaks reconciliation silently; unresolved becomes a review item instead</a:t>
            </a:r>
            <a:endParaRPr lang="en-US" sz="900" dirty="0"/>
          </a:p>
        </p:txBody>
      </p:sp>
      <p:sp>
        <p:nvSpPr>
          <p:cNvPr id="18" name="Shape 16"/>
          <p:cNvSpPr/>
          <p:nvPr/>
        </p:nvSpPr>
        <p:spPr>
          <a:xfrm>
            <a:off x="4937760" y="3657600"/>
            <a:ext cx="3749040" cy="777240"/>
          </a:xfrm>
          <a:prstGeom prst="roundRect">
            <a:avLst>
              <a:gd name="adj" fmla="val 7059"/>
            </a:avLst>
          </a:prstGeom>
          <a:solidFill>
            <a:srgbClr val="F3F6FA"/>
          </a:solidFill>
          <a:ln w="9525">
            <a:solidFill>
              <a:srgbClr val="C9D3E0"/>
            </a:solidFill>
            <a:prstDash val="solid"/>
          </a:ln>
        </p:spPr>
      </p:sp>
      <p:sp>
        <p:nvSpPr>
          <p:cNvPr id="19" name="Text 17"/>
          <p:cNvSpPr txBox="1"/>
          <p:nvPr/>
        </p:nvSpPr>
        <p:spPr>
          <a:xfrm>
            <a:off x="5029200" y="3712464"/>
            <a:ext cx="35661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Measured, not hoped</a:t>
            </a:r>
            <a:endParaRPr lang="en-US" sz="1100" dirty="0"/>
          </a:p>
        </p:txBody>
      </p:sp>
      <p:sp>
        <p:nvSpPr>
          <p:cNvPr id="20" name="Text 18"/>
          <p:cNvSpPr txBox="1"/>
          <p:nvPr/>
        </p:nvSpPr>
        <p:spPr>
          <a:xfrm>
            <a:off x="5029200" y="3968496"/>
            <a:ext cx="3566160" cy="41148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Second file with a known layout costs zero adjudications — asserted in test_correctness_targets_across_the_corpus, not claimed in prose.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DATA</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Data architecture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9</a:t>
            </a:r>
            <a:endParaRPr lang="en-US" sz="800" dirty="0"/>
          </a:p>
        </p:txBody>
      </p:sp>
      <p:sp>
        <p:nvSpPr>
          <p:cNvPr id="5" name="Shape 3"/>
          <p:cNvSpPr/>
          <p:nvPr/>
        </p:nvSpPr>
        <p:spPr>
          <a:xfrm>
            <a:off x="457200" y="1188720"/>
            <a:ext cx="2651760" cy="3246120"/>
          </a:xfrm>
          <a:prstGeom prst="roundRect">
            <a:avLst>
              <a:gd name="adj" fmla="val 2069"/>
            </a:avLst>
          </a:prstGeom>
          <a:solidFill>
            <a:srgbClr val="F3F6FA"/>
          </a:solidFill>
          <a:ln w="9525">
            <a:solidFill>
              <a:srgbClr val="C9D3E0"/>
            </a:solidFill>
            <a:prstDash val="solid"/>
          </a:ln>
        </p:spPr>
      </p:sp>
      <p:sp>
        <p:nvSpPr>
          <p:cNvPr id="6" name="Text 4"/>
          <p:cNvSpPr txBox="1"/>
          <p:nvPr/>
        </p:nvSpPr>
        <p:spPr>
          <a:xfrm>
            <a:off x="54864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8 Kafka-compatible topics</a:t>
            </a:r>
            <a:endParaRPr lang="en-US" sz="1100" dirty="0"/>
          </a:p>
        </p:txBody>
      </p:sp>
      <p:sp>
        <p:nvSpPr>
          <p:cNvPr id="7" name="Text 5"/>
          <p:cNvSpPr txBox="1"/>
          <p:nvPr/>
        </p:nvSpPr>
        <p:spPr>
          <a:xfrm>
            <a:off x="548640" y="1499616"/>
            <a:ext cx="2468880" cy="2880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hm.arrivals.raw (Portwatch→Inspector)</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hm.arrivals.classified (30d)</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hm.arrivals.quarantined (30d)</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hm.review.decisions (30d)</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hm.berth.assigned (90d)</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hm.berth.superseded (90d)</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hm.alerts.missing (30d)</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hm.audit.decisions (compacted, infinite)</a:t>
            </a:r>
            <a:endParaRPr lang="en-US" sz="850" dirty="0"/>
          </a:p>
          <a:p>
            <a:pPr indent="0" marL="0">
              <a:buNone/>
            </a:pP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Partitioned by client:domain:value_date — ordering within a slot is structural, not a runtime hope.</a:t>
            </a:r>
            <a:endParaRPr lang="en-US" sz="850" dirty="0"/>
          </a:p>
        </p:txBody>
      </p:sp>
      <p:sp>
        <p:nvSpPr>
          <p:cNvPr id="8" name="Shape 6"/>
          <p:cNvSpPr/>
          <p:nvPr/>
        </p:nvSpPr>
        <p:spPr>
          <a:xfrm>
            <a:off x="3383280" y="1188720"/>
            <a:ext cx="2514600" cy="1508760"/>
          </a:xfrm>
          <a:prstGeom prst="roundRect">
            <a:avLst>
              <a:gd name="adj" fmla="val 3636"/>
            </a:avLst>
          </a:prstGeom>
          <a:solidFill>
            <a:srgbClr val="F3F6FA"/>
          </a:solidFill>
          <a:ln w="9525">
            <a:solidFill>
              <a:srgbClr val="C9D3E0"/>
            </a:solidFill>
            <a:prstDash val="solid"/>
          </a:ln>
        </p:spPr>
      </p:sp>
      <p:sp>
        <p:nvSpPr>
          <p:cNvPr id="9" name="Text 7"/>
          <p:cNvSpPr txBox="1"/>
          <p:nvPr/>
        </p:nvSpPr>
        <p:spPr>
          <a:xfrm>
            <a:off x="3474720" y="1243584"/>
            <a:ext cx="233172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Postgres 16</a:t>
            </a:r>
            <a:endParaRPr lang="en-US" sz="1100" dirty="0"/>
          </a:p>
        </p:txBody>
      </p:sp>
      <p:sp>
        <p:nvSpPr>
          <p:cNvPr id="10" name="Text 8"/>
          <p:cNvSpPr txBox="1"/>
          <p:nvPr/>
        </p:nvSpPr>
        <p:spPr>
          <a:xfrm>
            <a:off x="3474720" y="1499616"/>
            <a:ext cx="2331720" cy="114300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Read models (arrival board, slot state), expectation state, hash-chained decision log, template mapping cache, review decisions. JSONB for variable-shape payloads.</a:t>
            </a:r>
            <a:endParaRPr lang="en-US" sz="900" dirty="0"/>
          </a:p>
        </p:txBody>
      </p:sp>
      <p:sp>
        <p:nvSpPr>
          <p:cNvPr id="11" name="Shape 9"/>
          <p:cNvSpPr/>
          <p:nvPr/>
        </p:nvSpPr>
        <p:spPr>
          <a:xfrm>
            <a:off x="3383280" y="2834640"/>
            <a:ext cx="2514600" cy="1600200"/>
          </a:xfrm>
          <a:prstGeom prst="roundRect">
            <a:avLst>
              <a:gd name="adj" fmla="val 3429"/>
            </a:avLst>
          </a:prstGeom>
          <a:solidFill>
            <a:srgbClr val="F3F6FA"/>
          </a:solidFill>
          <a:ln w="9525">
            <a:solidFill>
              <a:srgbClr val="C9D3E0"/>
            </a:solidFill>
            <a:prstDash val="solid"/>
          </a:ln>
        </p:spPr>
      </p:sp>
      <p:sp>
        <p:nvSpPr>
          <p:cNvPr id="12" name="Text 10"/>
          <p:cNvSpPr txBox="1"/>
          <p:nvPr/>
        </p:nvSpPr>
        <p:spPr>
          <a:xfrm>
            <a:off x="3474720" y="2889504"/>
            <a:ext cx="233172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Object store</a:t>
            </a:r>
            <a:endParaRPr lang="en-US" sz="1100" dirty="0"/>
          </a:p>
        </p:txBody>
      </p:sp>
      <p:sp>
        <p:nvSpPr>
          <p:cNvPr id="13" name="Text 11"/>
          <p:cNvSpPr txBox="1"/>
          <p:nvPr/>
        </p:nvSpPr>
        <p:spPr>
          <a:xfrm>
            <a:off x="3474720" y="3145536"/>
            <a:ext cx="2331720" cy="12344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Landed raw files + canonical Parquet output, behind an interface. Filesystem adapter is the default; an S3 adapter is implemented and unit-tested but unwired in the demo (ADR-015).</a:t>
            </a:r>
            <a:endParaRPr lang="en-US" sz="900" dirty="0"/>
          </a:p>
        </p:txBody>
      </p:sp>
      <p:sp>
        <p:nvSpPr>
          <p:cNvPr id="14" name="Shape 12"/>
          <p:cNvSpPr/>
          <p:nvPr/>
        </p:nvSpPr>
        <p:spPr>
          <a:xfrm>
            <a:off x="6172200" y="1188720"/>
            <a:ext cx="2514600" cy="1508760"/>
          </a:xfrm>
          <a:prstGeom prst="roundRect">
            <a:avLst>
              <a:gd name="adj" fmla="val 3636"/>
            </a:avLst>
          </a:prstGeom>
          <a:solidFill>
            <a:srgbClr val="F3F6FA"/>
          </a:solidFill>
          <a:ln w="9525">
            <a:solidFill>
              <a:srgbClr val="C9D3E0"/>
            </a:solidFill>
            <a:prstDash val="solid"/>
          </a:ln>
        </p:spPr>
      </p:sp>
      <p:sp>
        <p:nvSpPr>
          <p:cNvPr id="15" name="Text 13"/>
          <p:cNvSpPr txBox="1"/>
          <p:nvPr/>
        </p:nvSpPr>
        <p:spPr>
          <a:xfrm>
            <a:off x="6263640" y="1243584"/>
            <a:ext cx="233172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Canonical output: Parquet, not CSV</a:t>
            </a:r>
            <a:endParaRPr lang="en-US" sz="1100" dirty="0"/>
          </a:p>
        </p:txBody>
      </p:sp>
      <p:sp>
        <p:nvSpPr>
          <p:cNvPr id="16" name="Text 14"/>
          <p:cNvSpPr txBox="1"/>
          <p:nvPr/>
        </p:nvSpPr>
        <p:spPr>
          <a:xfrm>
            <a:off x="6263640" y="1499616"/>
            <a:ext cx="2331720" cy="114300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Typed and columnar; a null settlement price survives distinctly from a zero one, which the downstream engine must not confuse (ADR-006).</a:t>
            </a:r>
            <a:endParaRPr lang="en-US" sz="900" dirty="0"/>
          </a:p>
        </p:txBody>
      </p:sp>
      <p:sp>
        <p:nvSpPr>
          <p:cNvPr id="17" name="Shape 15"/>
          <p:cNvSpPr/>
          <p:nvPr/>
        </p:nvSpPr>
        <p:spPr>
          <a:xfrm>
            <a:off x="6172200" y="2834640"/>
            <a:ext cx="2514600" cy="1600200"/>
          </a:xfrm>
          <a:prstGeom prst="roundRect">
            <a:avLst>
              <a:gd name="adj" fmla="val 3429"/>
            </a:avLst>
          </a:prstGeom>
          <a:solidFill>
            <a:srgbClr val="F3F6FA"/>
          </a:solidFill>
          <a:ln w="9525">
            <a:solidFill>
              <a:srgbClr val="C9D3E0"/>
            </a:solidFill>
            <a:prstDash val="solid"/>
          </a:ln>
        </p:spPr>
      </p:sp>
      <p:sp>
        <p:nvSpPr>
          <p:cNvPr id="18" name="Text 16"/>
          <p:cNvSpPr txBox="1"/>
          <p:nvPr/>
        </p:nvSpPr>
        <p:spPr>
          <a:xfrm>
            <a:off x="6263640" y="2889504"/>
            <a:ext cx="233172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Masking</a:t>
            </a:r>
            <a:endParaRPr lang="en-US" sz="1100" dirty="0"/>
          </a:p>
        </p:txBody>
      </p:sp>
      <p:sp>
        <p:nvSpPr>
          <p:cNvPr id="19" name="Text 17"/>
          <p:cNvSpPr txBox="1"/>
          <p:nvPr/>
        </p:nvSpPr>
        <p:spPr>
          <a:xfrm>
            <a:off x="6263640" y="3145536"/>
            <a:ext cx="2331720" cy="12344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Account numbers masked to last-4 in logs and UI by default; account and client names stay visible. Applied in a serialisation hook, not per call site (ADR-011).</a:t>
            </a:r>
            <a:endParaRPr lang="en-US" sz="900" dirty="0"/>
          </a:p>
        </p:txBody>
      </p:sp>
      <p:sp>
        <p:nvSpPr>
          <p:cNvPr id="20" name="Text 18"/>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Contracts are defined once in proto/ and generated for Go and Python by buf; a cross-language round-trip test is part of the offline gate.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INTEGRATION</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model tier: opt-in, behind an interface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10</a:t>
            </a:r>
            <a:endParaRPr lang="en-US" sz="800" dirty="0"/>
          </a:p>
        </p:txBody>
      </p:sp>
      <p:sp>
        <p:nvSpPr>
          <p:cNvPr id="5" name="Shape 3"/>
          <p:cNvSpPr/>
          <p:nvPr/>
        </p:nvSpPr>
        <p:spPr>
          <a:xfrm>
            <a:off x="457200" y="1188720"/>
            <a:ext cx="3931920" cy="1554480"/>
          </a:xfrm>
          <a:prstGeom prst="roundRect">
            <a:avLst>
              <a:gd name="adj" fmla="val 3529"/>
            </a:avLst>
          </a:prstGeom>
          <a:solidFill>
            <a:srgbClr val="F3F6FA"/>
          </a:solidFill>
          <a:ln w="9525">
            <a:solidFill>
              <a:srgbClr val="C9D3E0"/>
            </a:solidFill>
            <a:prstDash val="solid"/>
          </a:ln>
        </p:spPr>
      </p:sp>
      <p:sp>
        <p:nvSpPr>
          <p:cNvPr id="6" name="Text 4"/>
          <p:cNvSpPr txBox="1"/>
          <p:nvPr/>
        </p:nvSpPr>
        <p:spPr>
          <a:xfrm>
            <a:off x="548640" y="124358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Off by default</a:t>
            </a:r>
            <a:endParaRPr lang="en-US" sz="1100" dirty="0"/>
          </a:p>
        </p:txBody>
      </p:sp>
      <p:sp>
        <p:nvSpPr>
          <p:cNvPr id="7" name="Text 5"/>
          <p:cNvSpPr txBox="1"/>
          <p:nvPr/>
        </p:nvSpPr>
        <p:spPr>
          <a:xfrm>
            <a:off x="548640" y="1499616"/>
            <a:ext cx="3749040" cy="1188720"/>
          </a:xfrm>
          <a:prstGeom prst="rect">
            <a:avLst/>
          </a:prstGeom>
          <a:noFill/>
          <a:ln/>
        </p:spPr>
        <p:txBody>
          <a:bodyPr wrap="square" lIns="0" tIns="0" rIns="0" bIns="0" rtlCol="0" anchor="t"/>
          <a:lstStyle/>
          <a:p>
            <a:pPr indent="0" marL="0">
              <a:buNone/>
            </a:pPr>
            <a:r>
              <a:rPr lang="en-US" sz="950" dirty="0">
                <a:solidFill>
                  <a:srgbClr val="1B2A41"/>
                </a:solidFill>
                <a:latin typeface="Calibri" pitchFamily="34" charset="0"/>
                <a:ea typeface="Calibri" pitchFamily="34" charset="-122"/>
                <a:cs typeface="Calibri" pitchFamily="34" charset="-120"/>
              </a:rPr>
              <a:t>HM_ADJUDICATOR defaults to fake — a deterministic stand-in bound behind the same MappingAdjudicator interface Claude implements. A misconfigured deployment runs without a model rather than failing to start.</a:t>
            </a:r>
            <a:endParaRPr lang="en-US" sz="950" dirty="0"/>
          </a:p>
        </p:txBody>
      </p:sp>
      <p:sp>
        <p:nvSpPr>
          <p:cNvPr id="8" name="Shape 6"/>
          <p:cNvSpPr/>
          <p:nvPr/>
        </p:nvSpPr>
        <p:spPr>
          <a:xfrm>
            <a:off x="4754880" y="1188720"/>
            <a:ext cx="3931920" cy="1554480"/>
          </a:xfrm>
          <a:prstGeom prst="roundRect">
            <a:avLst>
              <a:gd name="adj" fmla="val 3529"/>
            </a:avLst>
          </a:prstGeom>
          <a:solidFill>
            <a:srgbClr val="F3F6FA"/>
          </a:solidFill>
          <a:ln w="9525">
            <a:solidFill>
              <a:srgbClr val="C9D3E0"/>
            </a:solidFill>
            <a:prstDash val="solid"/>
          </a:ln>
        </p:spPr>
      </p:sp>
      <p:sp>
        <p:nvSpPr>
          <p:cNvPr id="9" name="Text 7"/>
          <p:cNvSpPr txBox="1"/>
          <p:nvPr/>
        </p:nvSpPr>
        <p:spPr>
          <a:xfrm>
            <a:off x="4846320" y="124358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Opt-in, explicit</a:t>
            </a:r>
            <a:endParaRPr lang="en-US" sz="1100" dirty="0"/>
          </a:p>
        </p:txBody>
      </p:sp>
      <p:sp>
        <p:nvSpPr>
          <p:cNvPr id="10" name="Text 8"/>
          <p:cNvSpPr txBox="1"/>
          <p:nvPr/>
        </p:nvSpPr>
        <p:spPr>
          <a:xfrm>
            <a:off x="4846320" y="1499616"/>
            <a:ext cx="3749040" cy="1188720"/>
          </a:xfrm>
          <a:prstGeom prst="rect">
            <a:avLst/>
          </a:prstGeom>
          <a:noFill/>
          <a:ln/>
        </p:spPr>
        <p:txBody>
          <a:bodyPr wrap="square" lIns="0" tIns="0" rIns="0" bIns="0" rtlCol="0" anchor="t"/>
          <a:lstStyle/>
          <a:p>
            <a:pPr indent="0" marL="0">
              <a:buNone/>
            </a:pPr>
            <a:r>
              <a:rPr lang="en-US" sz="950" dirty="0">
                <a:solidFill>
                  <a:srgbClr val="1B2A41"/>
                </a:solidFill>
                <a:latin typeface="Calibri" pitchFamily="34" charset="0"/>
                <a:ea typeface="Calibri" pitchFamily="34" charset="-122"/>
                <a:cs typeface="Calibri" pitchFamily="34" charset="-120"/>
              </a:rPr>
              <a:t>HM_ADJUDICATOR=claude ANTHROPIC_API_KEY=sk-... make up enables the real tier; HM_LIVE=1 make test-live is the opt-in test against the live API. Every prior phase runs against the deterministic fake.</a:t>
            </a:r>
            <a:endParaRPr lang="en-US" sz="950" dirty="0"/>
          </a:p>
        </p:txBody>
      </p:sp>
      <p:sp>
        <p:nvSpPr>
          <p:cNvPr id="11" name="Shape 9"/>
          <p:cNvSpPr/>
          <p:nvPr/>
        </p:nvSpPr>
        <p:spPr>
          <a:xfrm>
            <a:off x="457200" y="2880360"/>
            <a:ext cx="3931920" cy="1554480"/>
          </a:xfrm>
          <a:prstGeom prst="roundRect">
            <a:avLst>
              <a:gd name="adj" fmla="val 3529"/>
            </a:avLst>
          </a:prstGeom>
          <a:solidFill>
            <a:srgbClr val="F3F6FA"/>
          </a:solidFill>
          <a:ln w="9525">
            <a:solidFill>
              <a:srgbClr val="C9D3E0"/>
            </a:solidFill>
            <a:prstDash val="solid"/>
          </a:ln>
        </p:spPr>
      </p:sp>
      <p:sp>
        <p:nvSpPr>
          <p:cNvPr id="12" name="Text 10"/>
          <p:cNvSpPr txBox="1"/>
          <p:nvPr/>
        </p:nvSpPr>
        <p:spPr>
          <a:xfrm>
            <a:off x="548640" y="293522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Bounded cost</a:t>
            </a:r>
            <a:endParaRPr lang="en-US" sz="1100" dirty="0"/>
          </a:p>
        </p:txBody>
      </p:sp>
      <p:sp>
        <p:nvSpPr>
          <p:cNvPr id="13" name="Text 11"/>
          <p:cNvSpPr txBox="1"/>
          <p:nvPr/>
        </p:nvSpPr>
        <p:spPr>
          <a:xfrm>
            <a:off x="548640" y="3191256"/>
            <a:ext cx="3749040" cy="1188720"/>
          </a:xfrm>
          <a:prstGeom prst="rect">
            <a:avLst/>
          </a:prstGeom>
          <a:noFill/>
          <a:ln/>
        </p:spPr>
        <p:txBody>
          <a:bodyPr wrap="square" lIns="0" tIns="0" rIns="0" bIns="0" rtlCol="0" anchor="t"/>
          <a:lstStyle/>
          <a:p>
            <a:pPr indent="0" marL="0">
              <a:buNone/>
            </a:pPr>
            <a:r>
              <a:rPr lang="en-US" sz="950" dirty="0">
                <a:solidFill>
                  <a:srgbClr val="1B2A41"/>
                </a:solidFill>
                <a:latin typeface="Calibri" pitchFamily="34" charset="0"/>
                <a:ea typeface="Calibri" pitchFamily="34" charset="-122"/>
                <a:cs typeface="Calibri" pitchFamily="34" charset="-120"/>
              </a:rPr>
              <a:t>Escalation is one-way; results are cached by template fingerprint. The second file with a given layout is resolved from cache and costs nothing — watch HM_ADJUDICATOR=claude logs for call and token counts.</a:t>
            </a:r>
            <a:endParaRPr lang="en-US" sz="950" dirty="0"/>
          </a:p>
        </p:txBody>
      </p:sp>
      <p:sp>
        <p:nvSpPr>
          <p:cNvPr id="14" name="Shape 12"/>
          <p:cNvSpPr/>
          <p:nvPr/>
        </p:nvSpPr>
        <p:spPr>
          <a:xfrm>
            <a:off x="4754880" y="2880360"/>
            <a:ext cx="3931920" cy="1554480"/>
          </a:xfrm>
          <a:prstGeom prst="roundRect">
            <a:avLst>
              <a:gd name="adj" fmla="val 3529"/>
            </a:avLst>
          </a:prstGeom>
          <a:solidFill>
            <a:srgbClr val="F3F6FA"/>
          </a:solidFill>
          <a:ln w="9525">
            <a:solidFill>
              <a:srgbClr val="C9D3E0"/>
            </a:solidFill>
            <a:prstDash val="solid"/>
          </a:ln>
        </p:spPr>
      </p:sp>
      <p:sp>
        <p:nvSpPr>
          <p:cNvPr id="15" name="Text 13"/>
          <p:cNvSpPr txBox="1"/>
          <p:nvPr/>
        </p:nvSpPr>
        <p:spPr>
          <a:xfrm>
            <a:off x="4846320" y="293522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What is and is not measured</a:t>
            </a:r>
            <a:endParaRPr lang="en-US" sz="1100" dirty="0"/>
          </a:p>
        </p:txBody>
      </p:sp>
      <p:sp>
        <p:nvSpPr>
          <p:cNvPr id="16" name="Text 14"/>
          <p:cNvSpPr txBox="1"/>
          <p:nvPr/>
        </p:nvSpPr>
        <p:spPr>
          <a:xfrm>
            <a:off x="4846320" y="3191256"/>
            <a:ext cx="3749040" cy="1188720"/>
          </a:xfrm>
          <a:prstGeom prst="rect">
            <a:avLst/>
          </a:prstGeom>
          <a:noFill/>
          <a:ln/>
        </p:spPr>
        <p:txBody>
          <a:bodyPr wrap="square" lIns="0" tIns="0" rIns="0" bIns="0" rtlCol="0" anchor="t"/>
          <a:lstStyle/>
          <a:p>
            <a:pPr indent="0" marL="0">
              <a:buNone/>
            </a:pPr>
            <a:r>
              <a:rPr lang="en-US" sz="950" dirty="0">
                <a:solidFill>
                  <a:srgbClr val="1B2A41"/>
                </a:solidFill>
                <a:latin typeface="Calibri" pitchFamily="34" charset="0"/>
                <a:ea typeface="Calibri" pitchFamily="34" charset="-122"/>
                <a:cs typeface="Calibri" pitchFamily="34" charset="-120"/>
              </a:rPr>
              <a:t>Offline: which columns fall through to T3, and whether the stand-in and cache behave correctly (41 columns reached T3 here; 18 adjudication calls). Live-model mapping accuracy itself is pending — it needs the real key and is marked so in metrics/headline.json.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DESIGN DECISIONS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Design choices and why</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11</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468880"/>
                <a:gridCol w="2286000"/>
                <a:gridCol w="347472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Decision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Alternatives considered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Why this 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Three-tier mapping, not LLM-first (ADR-004)</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 model call per column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1,000 files/day × 10–40 columns makes per-column LLM calls slow, non-deterministic and unbounded in cost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Polyglot split: Go at the edges, Python in the middle (ADR-002)</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Single-language stack</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Portwatch/Berthmaster are I/O and state machines; Inspector is data shape and inference — each gets the right tool</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Protobuf as the single source of truth (ADR-003)</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Hand-written structs per language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Two languages on one topic will drift; proto-as-source turns that into a build failure, not a production incident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Poll the landing directory, not inotify (ADR-016)</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fsnotify / inotify watcher</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Landing dirs are NFS/SMB mounts; inotify silently misses remote-host writes exactly where it matters most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Server-rendered HTMX, not a React SPA (ADR-012)</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React/TS/Vite front end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No Node, no bundler, no second dependency tree, for a live board plus a review form</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fastembed (ONNX) over sentence-transformers (ADR-007)</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sentence-transformers + PyTorch</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~90 MB CPU-only image instead of ~2 GB; degrades to fuzzy-only if unavailable, and says so</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Topics provisioned by infrastructure, not the app (ADR-020)</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Broker auto-create topics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 typo in a topic constant now fails loudly instead of silently stranding messages in a new topic</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PRODUCT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Major features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12</a:t>
            </a:r>
            <a:endParaRPr lang="en-US" sz="800" dirty="0"/>
          </a:p>
        </p:txBody>
      </p:sp>
      <p:sp>
        <p:nvSpPr>
          <p:cNvPr id="5" name="Shape 3"/>
          <p:cNvSpPr/>
          <p:nvPr/>
        </p:nvSpPr>
        <p:spPr>
          <a:xfrm>
            <a:off x="457200" y="1188720"/>
            <a:ext cx="2651760" cy="1417320"/>
          </a:xfrm>
          <a:prstGeom prst="roundRect">
            <a:avLst>
              <a:gd name="adj" fmla="val 3871"/>
            </a:avLst>
          </a:prstGeom>
          <a:solidFill>
            <a:srgbClr val="F3F6FA"/>
          </a:solidFill>
          <a:ln w="9525">
            <a:solidFill>
              <a:srgbClr val="C9D3E0"/>
            </a:solidFill>
            <a:prstDash val="solid"/>
          </a:ln>
        </p:spPr>
      </p:sp>
      <p:sp>
        <p:nvSpPr>
          <p:cNvPr id="6" name="Text 4"/>
          <p:cNvSpPr txBox="1"/>
          <p:nvPr/>
        </p:nvSpPr>
        <p:spPr>
          <a:xfrm>
            <a:off x="54864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The mapping ladder</a:t>
            </a:r>
            <a:endParaRPr lang="en-US" sz="1100" dirty="0"/>
          </a:p>
        </p:txBody>
      </p:sp>
      <p:sp>
        <p:nvSpPr>
          <p:cNvPr id="7" name="Text 5"/>
          <p:cNvSpPr txBox="1"/>
          <p:nvPr/>
        </p:nvSpPr>
        <p:spPr>
          <a:xfrm>
            <a:off x="548640" y="1499616"/>
            <a:ext cx="2468880" cy="105156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Alias dictionary → fuzzy/embedding match → model adjudication for the residue, with provenance on every field and promotion into client config</a:t>
            </a:r>
            <a:endParaRPr lang="en-US" sz="900" dirty="0"/>
          </a:p>
        </p:txBody>
      </p:sp>
      <p:sp>
        <p:nvSpPr>
          <p:cNvPr id="8" name="Shape 6"/>
          <p:cNvSpPr/>
          <p:nvPr/>
        </p:nvSpPr>
        <p:spPr>
          <a:xfrm>
            <a:off x="3246120" y="1188720"/>
            <a:ext cx="2651760" cy="1417320"/>
          </a:xfrm>
          <a:prstGeom prst="roundRect">
            <a:avLst>
              <a:gd name="adj" fmla="val 3871"/>
            </a:avLst>
          </a:prstGeom>
          <a:solidFill>
            <a:srgbClr val="F3F6FA"/>
          </a:solidFill>
          <a:ln w="9525">
            <a:solidFill>
              <a:srgbClr val="C9D3E0"/>
            </a:solidFill>
            <a:prstDash val="solid"/>
          </a:ln>
        </p:spPr>
      </p:sp>
      <p:sp>
        <p:nvSpPr>
          <p:cNvPr id="9" name="Text 7"/>
          <p:cNvSpPr txBox="1"/>
          <p:nvPr/>
        </p:nvSpPr>
        <p:spPr>
          <a:xfrm>
            <a:off x="333756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Value-date resolution</a:t>
            </a:r>
            <a:endParaRPr lang="en-US" sz="1100" dirty="0"/>
          </a:p>
        </p:txBody>
      </p:sp>
      <p:sp>
        <p:nvSpPr>
          <p:cNvPr id="10" name="Text 8"/>
          <p:cNvSpPr txBox="1"/>
          <p:nvPr/>
        </p:nvSpPr>
        <p:spPr>
          <a:xfrm>
            <a:off x="3337560" y="1499616"/>
            <a:ext cx="2468880" cy="105156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Three independent sources ranked by what they know, resolved against per-client business calendars; disagreements always flagged</a:t>
            </a:r>
            <a:endParaRPr lang="en-US" sz="900" dirty="0"/>
          </a:p>
        </p:txBody>
      </p:sp>
      <p:sp>
        <p:nvSpPr>
          <p:cNvPr id="11" name="Shape 9"/>
          <p:cNvSpPr/>
          <p:nvPr/>
        </p:nvSpPr>
        <p:spPr>
          <a:xfrm>
            <a:off x="6035040" y="1188720"/>
            <a:ext cx="2651760" cy="1417320"/>
          </a:xfrm>
          <a:prstGeom prst="roundRect">
            <a:avLst>
              <a:gd name="adj" fmla="val 3871"/>
            </a:avLst>
          </a:prstGeom>
          <a:solidFill>
            <a:srgbClr val="F3F6FA"/>
          </a:solidFill>
          <a:ln w="9525">
            <a:solidFill>
              <a:srgbClr val="C9D3E0"/>
            </a:solidFill>
            <a:prstDash val="solid"/>
          </a:ln>
        </p:spPr>
      </p:sp>
      <p:sp>
        <p:nvSpPr>
          <p:cNvPr id="12" name="Text 10"/>
          <p:cNvSpPr txBox="1"/>
          <p:nvPr/>
        </p:nvSpPr>
        <p:spPr>
          <a:xfrm>
            <a:off x="612648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Quarantine &amp; four-eyes review</a:t>
            </a:r>
            <a:endParaRPr lang="en-US" sz="1100" dirty="0"/>
          </a:p>
        </p:txBody>
      </p:sp>
      <p:sp>
        <p:nvSpPr>
          <p:cNvPr id="13" name="Text 11"/>
          <p:cNvSpPr txBox="1"/>
          <p:nvPr/>
        </p:nvSpPr>
        <p:spPr>
          <a:xfrm>
            <a:off x="6126480" y="1499616"/>
            <a:ext cx="2468880" cy="105156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Composite confidence routes to dispatch, quarantine or reject; no quarantined arrival ships without a recorded human decision</a:t>
            </a:r>
            <a:endParaRPr lang="en-US" sz="900" dirty="0"/>
          </a:p>
        </p:txBody>
      </p:sp>
      <p:sp>
        <p:nvSpPr>
          <p:cNvPr id="14" name="Shape 12"/>
          <p:cNvSpPr/>
          <p:nvPr/>
        </p:nvSpPr>
        <p:spPr>
          <a:xfrm>
            <a:off x="457200" y="2788920"/>
            <a:ext cx="2651760" cy="1417320"/>
          </a:xfrm>
          <a:prstGeom prst="roundRect">
            <a:avLst>
              <a:gd name="adj" fmla="val 3871"/>
            </a:avLst>
          </a:prstGeom>
          <a:solidFill>
            <a:srgbClr val="F3F6FA"/>
          </a:solidFill>
          <a:ln w="9525">
            <a:solidFill>
              <a:srgbClr val="C9D3E0"/>
            </a:solidFill>
            <a:prstDash val="solid"/>
          </a:ln>
        </p:spPr>
      </p:sp>
      <p:sp>
        <p:nvSpPr>
          <p:cNvPr id="15" name="Text 13"/>
          <p:cNvSpPr txBox="1"/>
          <p:nvPr/>
        </p:nvSpPr>
        <p:spPr>
          <a:xfrm>
            <a:off x="548640" y="28437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Hash-chained audit</a:t>
            </a:r>
            <a:endParaRPr lang="en-US" sz="1100" dirty="0"/>
          </a:p>
        </p:txBody>
      </p:sp>
      <p:sp>
        <p:nvSpPr>
          <p:cNvPr id="16" name="Text 14"/>
          <p:cNvSpPr txBox="1"/>
          <p:nvPr/>
        </p:nvSpPr>
        <p:spPr>
          <a:xfrm>
            <a:off x="548640" y="3099816"/>
            <a:ext cx="2468880" cy="105156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Every classification and dispatch decision appends to a tamper-evident chain; a verifier walks it and reports the first break</a:t>
            </a:r>
            <a:endParaRPr lang="en-US" sz="900" dirty="0"/>
          </a:p>
        </p:txBody>
      </p:sp>
      <p:sp>
        <p:nvSpPr>
          <p:cNvPr id="17" name="Shape 15"/>
          <p:cNvSpPr/>
          <p:nvPr/>
        </p:nvSpPr>
        <p:spPr>
          <a:xfrm>
            <a:off x="3246120" y="2788920"/>
            <a:ext cx="2651760" cy="1417320"/>
          </a:xfrm>
          <a:prstGeom prst="roundRect">
            <a:avLst>
              <a:gd name="adj" fmla="val 3871"/>
            </a:avLst>
          </a:prstGeom>
          <a:solidFill>
            <a:srgbClr val="F3F6FA"/>
          </a:solidFill>
          <a:ln w="9525">
            <a:solidFill>
              <a:srgbClr val="C9D3E0"/>
            </a:solidFill>
            <a:prstDash val="solid"/>
          </a:ln>
        </p:spPr>
      </p:sp>
      <p:sp>
        <p:nvSpPr>
          <p:cNvPr id="18" name="Text 16"/>
          <p:cNvSpPr txBox="1"/>
          <p:nvPr/>
        </p:nvSpPr>
        <p:spPr>
          <a:xfrm>
            <a:off x="3337560" y="28437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Slot lifecycle &amp; supersession</a:t>
            </a:r>
            <a:endParaRPr lang="en-US" sz="1100" dirty="0"/>
          </a:p>
        </p:txBody>
      </p:sp>
      <p:sp>
        <p:nvSpPr>
          <p:cNvPr id="19" name="Text 17"/>
          <p:cNvSpPr txBox="1"/>
          <p:nvPr/>
        </p:nvSpPr>
        <p:spPr>
          <a:xfrm>
            <a:off x="3337560" y="3099816"/>
            <a:ext cx="2468880" cy="105156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Expectation state machine per client/domain/value-date, a T±2 late window, and ordered void-then-replace on correction</a:t>
            </a:r>
            <a:endParaRPr lang="en-US" sz="900" dirty="0"/>
          </a:p>
        </p:txBody>
      </p:sp>
      <p:sp>
        <p:nvSpPr>
          <p:cNvPr id="20" name="Shape 18"/>
          <p:cNvSpPr/>
          <p:nvPr/>
        </p:nvSpPr>
        <p:spPr>
          <a:xfrm>
            <a:off x="6035040" y="2788920"/>
            <a:ext cx="2651760" cy="1417320"/>
          </a:xfrm>
          <a:prstGeom prst="roundRect">
            <a:avLst>
              <a:gd name="adj" fmla="val 3871"/>
            </a:avLst>
          </a:prstGeom>
          <a:solidFill>
            <a:srgbClr val="F3F6FA"/>
          </a:solidFill>
          <a:ln w="9525">
            <a:solidFill>
              <a:srgbClr val="C9D3E0"/>
            </a:solidFill>
            <a:prstDash val="solid"/>
          </a:ln>
        </p:spPr>
      </p:sp>
      <p:sp>
        <p:nvSpPr>
          <p:cNvPr id="21" name="Text 19"/>
          <p:cNvSpPr txBox="1"/>
          <p:nvPr/>
        </p:nvSpPr>
        <p:spPr>
          <a:xfrm>
            <a:off x="6126480" y="28437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Operations console</a:t>
            </a:r>
            <a:endParaRPr lang="en-US" sz="1100" dirty="0"/>
          </a:p>
        </p:txBody>
      </p:sp>
      <p:sp>
        <p:nvSpPr>
          <p:cNvPr id="22" name="Text 20"/>
          <p:cNvSpPr txBox="1"/>
          <p:nvPr/>
        </p:nvSpPr>
        <p:spPr>
          <a:xfrm>
            <a:off x="6126480" y="3099816"/>
            <a:ext cx="2468880" cy="105156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Embedded Go templates + HTMX over Postgres read models, projected from the topics; /api/ops for whoever is on call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TERMINAL (THIS RUN)</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offline gate, green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13</a:t>
            </a:r>
            <a:endParaRPr lang="en-US" sz="800" dirty="0"/>
          </a:p>
        </p:txBody>
      </p:sp>
      <p:pic>
        <p:nvPicPr>
          <p:cNvPr id="5" name="Image 0" descr="C:/Code-Central/harbormaster/docs/assets/01-gate-green.png">    </p:cNvPr>
          <p:cNvPicPr>
            <a:picLocks noChangeAspect="1"/>
          </p:cNvPicPr>
          <p:nvPr/>
        </p:nvPicPr>
        <p:blipFill>
          <a:blip r:embed="rId1"/>
          <a:stretch>
            <a:fillRect/>
          </a:stretch>
        </p:blipFill>
        <p:spPr>
          <a:xfrm>
            <a:off x="2709752" y="1143000"/>
            <a:ext cx="3724496" cy="324612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go vet, ruff, mypy --strict, go test, and both pytest suites run in this task: 347 passed, 0 failed, 52 skipped (need a live Postgres). proto-check needs protoc/buf, absent on this host (pre-existing, not fixed here).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TERMINAL (THIS RUN)</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bench reproduces every published number</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14</a:t>
            </a:r>
            <a:endParaRPr lang="en-US" sz="800" dirty="0"/>
          </a:p>
        </p:txBody>
      </p:sp>
      <p:pic>
        <p:nvPicPr>
          <p:cNvPr id="5" name="Image 0" descr="C:/Code-Central/harbormaster/docs/assets/02-bench-run.png">    </p:cNvPr>
          <p:cNvPicPr>
            <a:picLocks noChangeAspect="1"/>
          </p:cNvPicPr>
          <p:nvPr/>
        </p:nvPicPr>
        <p:blipFill>
          <a:blip r:embed="rId1"/>
          <a:stretch>
            <a:fillRect/>
          </a:stretch>
        </p:blipFill>
        <p:spPr>
          <a:xfrm>
            <a:off x="457200" y="1143000"/>
            <a:ext cx="8229600" cy="2807254"/>
          </a:xfrm>
          <a:prstGeom prst="rect">
            <a:avLst/>
          </a:prstGeom>
        </p:spPr>
      </p:pic>
      <p:sp>
        <p:nvSpPr>
          <p:cNvPr id="6" name="Text 3"/>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python bench/onboard.py, run in this task, wrote metrics/headline.json byte-for-byte identical to the committed file — the README's 97.7% / 80.8% / 100.0% / 66.7% figures are reproducible, not asserted.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TERMINAL (THIS RUN)</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mapping ladder deciding, and quarantine holding</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15</a:t>
            </a:r>
            <a:endParaRPr lang="en-US" sz="800" dirty="0"/>
          </a:p>
        </p:txBody>
      </p:sp>
      <p:pic>
        <p:nvPicPr>
          <p:cNvPr id="5" name="Image 0" descr="C:/Code-Central/harbormaster/docs/assets/03-mapping-ladder.png">    </p:cNvPr>
          <p:cNvPicPr>
            <a:picLocks noChangeAspect="1"/>
          </p:cNvPicPr>
          <p:nvPr/>
        </p:nvPicPr>
        <p:blipFill>
          <a:blip r:embed="rId1"/>
          <a:stretch>
            <a:fillRect/>
          </a:stretch>
        </p:blipFill>
        <p:spPr>
          <a:xfrm>
            <a:off x="2430912" y="1097280"/>
            <a:ext cx="4282175" cy="3383280"/>
          </a:xfrm>
          <a:prstGeom prst="rect">
            <a:avLst/>
          </a:prstGeom>
        </p:spPr>
      </p:pic>
      <p:sp>
        <p:nvSpPr>
          <p:cNvPr id="6" name="Text 3"/>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A small script run against the real Inspector for this task: four price columns disambiguated by structure, and the one deliberately unattributable fixture held in the four-eyes queue with its exact reasons.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GENERATED REPORT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generated metrics card</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16</a:t>
            </a:r>
            <a:endParaRPr lang="en-US" sz="800" dirty="0"/>
          </a:p>
        </p:txBody>
      </p:sp>
      <p:pic>
        <p:nvPicPr>
          <p:cNvPr id="5" name="Image 0" descr="C:/Code-Central/harbormaster/docs/assets/04-metrics-card.png">    </p:cNvPr>
          <p:cNvPicPr>
            <a:picLocks noChangeAspect="1"/>
          </p:cNvPicPr>
          <p:nvPr/>
        </p:nvPicPr>
        <p:blipFill>
          <a:blip r:embed="rId1"/>
          <a:stretch>
            <a:fillRect/>
          </a:stretch>
        </p:blipFill>
        <p:spPr>
          <a:xfrm>
            <a:off x="1996751" y="1188720"/>
            <a:ext cx="5150498" cy="315468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metrics/render.py renders this card from metrics/headline.json into docs/assets/metrics.svg and the README results block, so the deck, the README and the bench output cannot drift apart.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CONTROLS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Security and compliance controls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17</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371600"/>
                <a:gridCol w="1920240"/>
                <a:gridCol w="3108960"/>
                <a:gridCol w="182880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Boundary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Threat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Control in the code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Evidence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B1 landing directory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malformed/oversized files, format confusion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content-based sniffing, not extension; streaming hash; per-format parsers behind one interface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arrival + parser tests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B2 model tier (Claude)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key leakage; unbounded cost; wrong mapping accepted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key from env only; one-way escalation; cache by template; structured-output validated against canonical schema</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T3/resolver tests, ADR-004</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B3 operations console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no authentication in the prototype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explicitly out of scope by requirements §7; designed to sit behind the institution's SSO</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ship report §5, item 7</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B4 audit log</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tampering, deletion, silent edit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SHA-256 hash chain per arrival; a verifier walks every chain and reports the first break; fails closed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internal/audit tests, bench tamper check</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B5 logs and UI</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account numbers or client identifiers leaking</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numbers masked to last-4 by default in a serialisation hook; names stay visible for operability (ADR-011)</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masking + parity tests, Go &amp; Python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6" name="Text 3"/>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Residual risks, written down rather than hidden: no console authentication (by design, pre-SSO), no leader election on the overdue sweep, throughput designed for but not load-tested.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PROCESS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How it was built: a gated, evidence-producing lifecycle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18</a:t>
            </a:r>
            <a:endParaRPr lang="en-US" sz="800" dirty="0"/>
          </a:p>
        </p:txBody>
      </p:sp>
      <p:sp>
        <p:nvSpPr>
          <p:cNvPr id="5" name="Shape 3"/>
          <p:cNvSpPr/>
          <p:nvPr/>
        </p:nvSpPr>
        <p:spPr>
          <a:xfrm>
            <a:off x="457200" y="1234440"/>
            <a:ext cx="713232" cy="566928"/>
          </a:xfrm>
          <a:prstGeom prst="roundRect">
            <a:avLst>
              <a:gd name="adj" fmla="val 8065"/>
            </a:avLst>
          </a:prstGeom>
          <a:solidFill>
            <a:srgbClr val="1C2B4F"/>
          </a:solidFill>
          <a:ln w="12700">
            <a:solidFill>
              <a:srgbClr val="1C2B4F"/>
            </a:solidFill>
            <a:prstDash val="solid"/>
          </a:ln>
        </p:spPr>
      </p:sp>
      <p:sp>
        <p:nvSpPr>
          <p:cNvPr id="6" name="Text 4"/>
          <p:cNvSpPr txBox="1"/>
          <p:nvPr/>
        </p:nvSpPr>
        <p:spPr>
          <a:xfrm>
            <a:off x="475488"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 brief</a:t>
            </a:r>
            <a:endParaRPr lang="en-US" sz="700" dirty="0"/>
          </a:p>
        </p:txBody>
      </p:sp>
      <p:sp>
        <p:nvSpPr>
          <p:cNvPr id="7" name="Shape 5"/>
          <p:cNvSpPr/>
          <p:nvPr/>
        </p:nvSpPr>
        <p:spPr>
          <a:xfrm>
            <a:off x="1229868" y="1234440"/>
            <a:ext cx="713232" cy="566928"/>
          </a:xfrm>
          <a:prstGeom prst="roundRect">
            <a:avLst>
              <a:gd name="adj" fmla="val 8065"/>
            </a:avLst>
          </a:prstGeom>
          <a:solidFill>
            <a:srgbClr val="1C2B4F"/>
          </a:solidFill>
          <a:ln w="12700">
            <a:solidFill>
              <a:srgbClr val="1C2B4F"/>
            </a:solidFill>
            <a:prstDash val="solid"/>
          </a:ln>
        </p:spPr>
      </p:sp>
      <p:sp>
        <p:nvSpPr>
          <p:cNvPr id="8" name="Text 6"/>
          <p:cNvSpPr txBox="1"/>
          <p:nvPr/>
        </p:nvSpPr>
        <p:spPr>
          <a:xfrm>
            <a:off x="1248156"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M0 skeleton</a:t>
            </a:r>
            <a:endParaRPr lang="en-US" sz="700" dirty="0"/>
          </a:p>
        </p:txBody>
      </p:sp>
      <p:sp>
        <p:nvSpPr>
          <p:cNvPr id="9" name="Shape 7"/>
          <p:cNvSpPr/>
          <p:nvPr/>
        </p:nvSpPr>
        <p:spPr>
          <a:xfrm>
            <a:off x="2002536" y="1234440"/>
            <a:ext cx="713232" cy="566928"/>
          </a:xfrm>
          <a:prstGeom prst="roundRect">
            <a:avLst>
              <a:gd name="adj" fmla="val 8065"/>
            </a:avLst>
          </a:prstGeom>
          <a:solidFill>
            <a:srgbClr val="1C2B4F"/>
          </a:solidFill>
          <a:ln w="12700">
            <a:solidFill>
              <a:srgbClr val="1C2B4F"/>
            </a:solidFill>
            <a:prstDash val="solid"/>
          </a:ln>
        </p:spPr>
      </p:sp>
      <p:sp>
        <p:nvSpPr>
          <p:cNvPr id="10" name="Text 8"/>
          <p:cNvSpPr txBox="1"/>
          <p:nvPr/>
        </p:nvSpPr>
        <p:spPr>
          <a:xfrm>
            <a:off x="2020824"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M1 ingest</a:t>
            </a:r>
            <a:endParaRPr lang="en-US" sz="700" dirty="0"/>
          </a:p>
        </p:txBody>
      </p:sp>
      <p:sp>
        <p:nvSpPr>
          <p:cNvPr id="11" name="Shape 9"/>
          <p:cNvSpPr/>
          <p:nvPr/>
        </p:nvSpPr>
        <p:spPr>
          <a:xfrm>
            <a:off x="2775204" y="1234440"/>
            <a:ext cx="713232" cy="566928"/>
          </a:xfrm>
          <a:prstGeom prst="roundRect">
            <a:avLst>
              <a:gd name="adj" fmla="val 8065"/>
            </a:avLst>
          </a:prstGeom>
          <a:solidFill>
            <a:srgbClr val="1C2B4F"/>
          </a:solidFill>
          <a:ln w="12700">
            <a:solidFill>
              <a:srgbClr val="1C2B4F"/>
            </a:solidFill>
            <a:prstDash val="solid"/>
          </a:ln>
        </p:spPr>
      </p:sp>
      <p:sp>
        <p:nvSpPr>
          <p:cNvPr id="12" name="Text 10"/>
          <p:cNvSpPr txBox="1"/>
          <p:nvPr/>
        </p:nvSpPr>
        <p:spPr>
          <a:xfrm>
            <a:off x="2793492"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M2 parsers</a:t>
            </a:r>
            <a:endParaRPr lang="en-US" sz="700" dirty="0"/>
          </a:p>
        </p:txBody>
      </p:sp>
      <p:sp>
        <p:nvSpPr>
          <p:cNvPr id="13" name="Shape 11"/>
          <p:cNvSpPr/>
          <p:nvPr/>
        </p:nvSpPr>
        <p:spPr>
          <a:xfrm>
            <a:off x="3547872" y="1234440"/>
            <a:ext cx="713232" cy="566928"/>
          </a:xfrm>
          <a:prstGeom prst="roundRect">
            <a:avLst>
              <a:gd name="adj" fmla="val 8065"/>
            </a:avLst>
          </a:prstGeom>
          <a:solidFill>
            <a:srgbClr val="1C2B4F"/>
          </a:solidFill>
          <a:ln w="12700">
            <a:solidFill>
              <a:srgbClr val="1C2B4F"/>
            </a:solidFill>
            <a:prstDash val="solid"/>
          </a:ln>
        </p:spPr>
      </p:sp>
      <p:sp>
        <p:nvSpPr>
          <p:cNvPr id="14" name="Text 12"/>
          <p:cNvSpPr txBox="1"/>
          <p:nvPr/>
        </p:nvSpPr>
        <p:spPr>
          <a:xfrm>
            <a:off x="3566160"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M3 intel.</a:t>
            </a:r>
            <a:endParaRPr lang="en-US" sz="700" dirty="0"/>
          </a:p>
        </p:txBody>
      </p:sp>
      <p:sp>
        <p:nvSpPr>
          <p:cNvPr id="15" name="Shape 13"/>
          <p:cNvSpPr/>
          <p:nvPr/>
        </p:nvSpPr>
        <p:spPr>
          <a:xfrm>
            <a:off x="4320540" y="1234440"/>
            <a:ext cx="713232" cy="566928"/>
          </a:xfrm>
          <a:prstGeom prst="roundRect">
            <a:avLst>
              <a:gd name="adj" fmla="val 8065"/>
            </a:avLst>
          </a:prstGeom>
          <a:solidFill>
            <a:srgbClr val="1C2B4F"/>
          </a:solidFill>
          <a:ln w="12700">
            <a:solidFill>
              <a:srgbClr val="1C2B4F"/>
            </a:solidFill>
            <a:prstDash val="solid"/>
          </a:ln>
        </p:spPr>
      </p:sp>
      <p:sp>
        <p:nvSpPr>
          <p:cNvPr id="16" name="Text 14"/>
          <p:cNvSpPr txBox="1"/>
          <p:nvPr/>
        </p:nvSpPr>
        <p:spPr>
          <a:xfrm>
            <a:off x="4338828"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M4 slots</a:t>
            </a:r>
            <a:endParaRPr lang="en-US" sz="700" dirty="0"/>
          </a:p>
        </p:txBody>
      </p:sp>
      <p:sp>
        <p:nvSpPr>
          <p:cNvPr id="17" name="Shape 15"/>
          <p:cNvSpPr/>
          <p:nvPr/>
        </p:nvSpPr>
        <p:spPr>
          <a:xfrm>
            <a:off x="5093208" y="1234440"/>
            <a:ext cx="713232" cy="566928"/>
          </a:xfrm>
          <a:prstGeom prst="roundRect">
            <a:avLst>
              <a:gd name="adj" fmla="val 8065"/>
            </a:avLst>
          </a:prstGeom>
          <a:solidFill>
            <a:srgbClr val="1C2B4F"/>
          </a:solidFill>
          <a:ln w="12700">
            <a:solidFill>
              <a:srgbClr val="1C2B4F"/>
            </a:solidFill>
            <a:prstDash val="solid"/>
          </a:ln>
        </p:spPr>
      </p:sp>
      <p:sp>
        <p:nvSpPr>
          <p:cNvPr id="18" name="Text 16"/>
          <p:cNvSpPr txBox="1"/>
          <p:nvPr/>
        </p:nvSpPr>
        <p:spPr>
          <a:xfrm>
            <a:off x="5111496"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M5 audit</a:t>
            </a:r>
            <a:endParaRPr lang="en-US" sz="700" dirty="0"/>
          </a:p>
        </p:txBody>
      </p:sp>
      <p:sp>
        <p:nvSpPr>
          <p:cNvPr id="19" name="Shape 17"/>
          <p:cNvSpPr/>
          <p:nvPr/>
        </p:nvSpPr>
        <p:spPr>
          <a:xfrm>
            <a:off x="5865876" y="1234440"/>
            <a:ext cx="713232" cy="566928"/>
          </a:xfrm>
          <a:prstGeom prst="roundRect">
            <a:avLst>
              <a:gd name="adj" fmla="val 8065"/>
            </a:avLst>
          </a:prstGeom>
          <a:solidFill>
            <a:srgbClr val="1C2B4F"/>
          </a:solidFill>
          <a:ln w="12700">
            <a:solidFill>
              <a:srgbClr val="1C2B4F"/>
            </a:solidFill>
            <a:prstDash val="solid"/>
          </a:ln>
        </p:spPr>
      </p:sp>
      <p:sp>
        <p:nvSpPr>
          <p:cNvPr id="20" name="Text 18"/>
          <p:cNvSpPr txBox="1"/>
          <p:nvPr/>
        </p:nvSpPr>
        <p:spPr>
          <a:xfrm>
            <a:off x="5884164"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M6 UI</a:t>
            </a:r>
            <a:endParaRPr lang="en-US" sz="700" dirty="0"/>
          </a:p>
        </p:txBody>
      </p:sp>
      <p:sp>
        <p:nvSpPr>
          <p:cNvPr id="21" name="Shape 19"/>
          <p:cNvSpPr/>
          <p:nvPr/>
        </p:nvSpPr>
        <p:spPr>
          <a:xfrm>
            <a:off x="6638544" y="1234440"/>
            <a:ext cx="713232" cy="566928"/>
          </a:xfrm>
          <a:prstGeom prst="roundRect">
            <a:avLst>
              <a:gd name="adj" fmla="val 8065"/>
            </a:avLst>
          </a:prstGeom>
          <a:solidFill>
            <a:srgbClr val="1C2B4F"/>
          </a:solidFill>
          <a:ln w="12700">
            <a:solidFill>
              <a:srgbClr val="1C2B4F"/>
            </a:solidFill>
            <a:prstDash val="solid"/>
          </a:ln>
        </p:spPr>
      </p:sp>
      <p:sp>
        <p:nvSpPr>
          <p:cNvPr id="22" name="Text 20"/>
          <p:cNvSpPr txBox="1"/>
          <p:nvPr/>
        </p:nvSpPr>
        <p:spPr>
          <a:xfrm>
            <a:off x="6656832"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M7 corpus</a:t>
            </a:r>
            <a:endParaRPr lang="en-US" sz="700" dirty="0"/>
          </a:p>
        </p:txBody>
      </p:sp>
      <p:sp>
        <p:nvSpPr>
          <p:cNvPr id="23" name="Shape 21"/>
          <p:cNvSpPr/>
          <p:nvPr/>
        </p:nvSpPr>
        <p:spPr>
          <a:xfrm>
            <a:off x="7411212" y="1234440"/>
            <a:ext cx="713232" cy="566928"/>
          </a:xfrm>
          <a:prstGeom prst="roundRect">
            <a:avLst>
              <a:gd name="adj" fmla="val 8065"/>
            </a:avLst>
          </a:prstGeom>
          <a:solidFill>
            <a:srgbClr val="1E5C57"/>
          </a:solidFill>
          <a:ln w="12700">
            <a:solidFill>
              <a:srgbClr val="1E5C57"/>
            </a:solidFill>
            <a:prstDash val="solid"/>
          </a:ln>
        </p:spPr>
      </p:sp>
      <p:sp>
        <p:nvSpPr>
          <p:cNvPr id="24" name="Text 22"/>
          <p:cNvSpPr txBox="1"/>
          <p:nvPr/>
        </p:nvSpPr>
        <p:spPr>
          <a:xfrm>
            <a:off x="7429500"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M8 model</a:t>
            </a:r>
            <a:endParaRPr lang="en-US" sz="700" dirty="0"/>
          </a:p>
        </p:txBody>
      </p:sp>
      <p:sp>
        <p:nvSpPr>
          <p:cNvPr id="25" name="Shape 23"/>
          <p:cNvSpPr/>
          <p:nvPr/>
        </p:nvSpPr>
        <p:spPr>
          <a:xfrm>
            <a:off x="8183880" y="1234440"/>
            <a:ext cx="713232" cy="566928"/>
          </a:xfrm>
          <a:prstGeom prst="roundRect">
            <a:avLst>
              <a:gd name="adj" fmla="val 8065"/>
            </a:avLst>
          </a:prstGeom>
          <a:solidFill>
            <a:srgbClr val="1E5C57"/>
          </a:solidFill>
          <a:ln w="12700">
            <a:solidFill>
              <a:srgbClr val="1E5C57"/>
            </a:solidFill>
            <a:prstDash val="solid"/>
          </a:ln>
        </p:spPr>
      </p:sp>
      <p:sp>
        <p:nvSpPr>
          <p:cNvPr id="26" name="Text 24"/>
          <p:cNvSpPr txBox="1"/>
          <p:nvPr/>
        </p:nvSpPr>
        <p:spPr>
          <a:xfrm>
            <a:off x="8202168" y="1252728"/>
            <a:ext cx="676656" cy="53035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M9 ship</a:t>
            </a:r>
            <a:endParaRPr lang="en-US" sz="700" dirty="0"/>
          </a:p>
        </p:txBody>
      </p:sp>
      <p:sp>
        <p:nvSpPr>
          <p:cNvPr id="27" name="Shape 25"/>
          <p:cNvSpPr/>
          <p:nvPr/>
        </p:nvSpPr>
        <p:spPr>
          <a:xfrm>
            <a:off x="457200" y="2011680"/>
            <a:ext cx="1965960" cy="1143000"/>
          </a:xfrm>
          <a:prstGeom prst="roundRect">
            <a:avLst>
              <a:gd name="adj" fmla="val 4800"/>
            </a:avLst>
          </a:prstGeom>
          <a:solidFill>
            <a:srgbClr val="F3F6FA"/>
          </a:solidFill>
          <a:ln w="9525">
            <a:solidFill>
              <a:srgbClr val="C9D3E0"/>
            </a:solidFill>
            <a:prstDash val="solid"/>
          </a:ln>
        </p:spPr>
      </p:sp>
      <p:sp>
        <p:nvSpPr>
          <p:cNvPr id="28" name="Text 26"/>
          <p:cNvSpPr txBox="1"/>
          <p:nvPr/>
        </p:nvSpPr>
        <p:spPr>
          <a:xfrm>
            <a:off x="56692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50</a:t>
            </a:r>
            <a:endParaRPr lang="en-US" sz="2800" dirty="0"/>
          </a:p>
        </p:txBody>
      </p:sp>
      <p:sp>
        <p:nvSpPr>
          <p:cNvPr id="29" name="Text 27"/>
          <p:cNvSpPr txBox="1"/>
          <p:nvPr/>
        </p:nvSpPr>
        <p:spPr>
          <a:xfrm>
            <a:off x="56692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task packs, each with scope, acceptance criteria and a validation command</a:t>
            </a:r>
            <a:endParaRPr lang="en-US" sz="850" dirty="0"/>
          </a:p>
        </p:txBody>
      </p:sp>
      <p:sp>
        <p:nvSpPr>
          <p:cNvPr id="30" name="Shape 28"/>
          <p:cNvSpPr/>
          <p:nvPr/>
        </p:nvSpPr>
        <p:spPr>
          <a:xfrm>
            <a:off x="2560320" y="2011680"/>
            <a:ext cx="1965960" cy="1143000"/>
          </a:xfrm>
          <a:prstGeom prst="roundRect">
            <a:avLst>
              <a:gd name="adj" fmla="val 4800"/>
            </a:avLst>
          </a:prstGeom>
          <a:solidFill>
            <a:srgbClr val="F3F6FA"/>
          </a:solidFill>
          <a:ln w="9525">
            <a:solidFill>
              <a:srgbClr val="C9D3E0"/>
            </a:solidFill>
            <a:prstDash val="solid"/>
          </a:ln>
        </p:spPr>
      </p:sp>
      <p:sp>
        <p:nvSpPr>
          <p:cNvPr id="31" name="Text 29"/>
          <p:cNvSpPr txBox="1"/>
          <p:nvPr/>
        </p:nvSpPr>
        <p:spPr>
          <a:xfrm>
            <a:off x="267004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20</a:t>
            </a:r>
            <a:endParaRPr lang="en-US" sz="2800" dirty="0"/>
          </a:p>
        </p:txBody>
      </p:sp>
      <p:sp>
        <p:nvSpPr>
          <p:cNvPr id="32" name="Text 30"/>
          <p:cNvSpPr txBox="1"/>
          <p:nvPr/>
        </p:nvSpPr>
        <p:spPr>
          <a:xfrm>
            <a:off x="267004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architecture decisions, each with context, consequences and cost</a:t>
            </a:r>
            <a:endParaRPr lang="en-US" sz="850" dirty="0"/>
          </a:p>
        </p:txBody>
      </p:sp>
      <p:sp>
        <p:nvSpPr>
          <p:cNvPr id="33" name="Shape 31"/>
          <p:cNvSpPr/>
          <p:nvPr/>
        </p:nvSpPr>
        <p:spPr>
          <a:xfrm>
            <a:off x="4663440" y="2011680"/>
            <a:ext cx="1965960" cy="1143000"/>
          </a:xfrm>
          <a:prstGeom prst="roundRect">
            <a:avLst>
              <a:gd name="adj" fmla="val 4800"/>
            </a:avLst>
          </a:prstGeom>
          <a:solidFill>
            <a:srgbClr val="F3F6FA"/>
          </a:solidFill>
          <a:ln w="9525">
            <a:solidFill>
              <a:srgbClr val="C9D3E0"/>
            </a:solidFill>
            <a:prstDash val="solid"/>
          </a:ln>
        </p:spPr>
      </p:sp>
      <p:sp>
        <p:nvSpPr>
          <p:cNvPr id="34" name="Text 32"/>
          <p:cNvSpPr txBox="1"/>
          <p:nvPr/>
        </p:nvSpPr>
        <p:spPr>
          <a:xfrm>
            <a:off x="477316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12</a:t>
            </a:r>
            <a:endParaRPr lang="en-US" sz="2800" dirty="0"/>
          </a:p>
        </p:txBody>
      </p:sp>
      <p:sp>
        <p:nvSpPr>
          <p:cNvPr id="35" name="Text 33"/>
          <p:cNvSpPr txBox="1"/>
          <p:nvPr/>
        </p:nvSpPr>
        <p:spPr>
          <a:xfrm>
            <a:off x="477316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named adversarial fixtures, each with its own scenario test</a:t>
            </a:r>
            <a:endParaRPr lang="en-US" sz="850" dirty="0"/>
          </a:p>
        </p:txBody>
      </p:sp>
      <p:sp>
        <p:nvSpPr>
          <p:cNvPr id="36" name="Shape 34"/>
          <p:cNvSpPr/>
          <p:nvPr/>
        </p:nvSpPr>
        <p:spPr>
          <a:xfrm>
            <a:off x="6766560" y="2011680"/>
            <a:ext cx="1965960" cy="1143000"/>
          </a:xfrm>
          <a:prstGeom prst="roundRect">
            <a:avLst>
              <a:gd name="adj" fmla="val 4800"/>
            </a:avLst>
          </a:prstGeom>
          <a:solidFill>
            <a:srgbClr val="F3F6FA"/>
          </a:solidFill>
          <a:ln w="9525">
            <a:solidFill>
              <a:srgbClr val="C9D3E0"/>
            </a:solidFill>
            <a:prstDash val="solid"/>
          </a:ln>
        </p:spPr>
      </p:sp>
      <p:sp>
        <p:nvSpPr>
          <p:cNvPr id="37" name="Text 35"/>
          <p:cNvSpPr txBox="1"/>
          <p:nvPr/>
        </p:nvSpPr>
        <p:spPr>
          <a:xfrm>
            <a:off x="687628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347</a:t>
            </a:r>
            <a:endParaRPr lang="en-US" sz="2800" dirty="0"/>
          </a:p>
        </p:txBody>
      </p:sp>
      <p:sp>
        <p:nvSpPr>
          <p:cNvPr id="38" name="Text 36"/>
          <p:cNvSpPr txBox="1"/>
          <p:nvPr/>
        </p:nvSpPr>
        <p:spPr>
          <a:xfrm>
            <a:off x="687628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tests passing offline in this run: 0 failed, 52 skipped pending a live Postgres</a:t>
            </a:r>
            <a:endParaRPr lang="en-US" sz="850" dirty="0"/>
          </a:p>
        </p:txBody>
      </p:sp>
      <p:sp>
        <p:nvSpPr>
          <p:cNvPr id="39" name="Shape 37"/>
          <p:cNvSpPr/>
          <p:nvPr/>
        </p:nvSpPr>
        <p:spPr>
          <a:xfrm>
            <a:off x="457200" y="3337560"/>
            <a:ext cx="4023360" cy="1143000"/>
          </a:xfrm>
          <a:prstGeom prst="roundRect">
            <a:avLst>
              <a:gd name="adj" fmla="val 4800"/>
            </a:avLst>
          </a:prstGeom>
          <a:solidFill>
            <a:srgbClr val="F3F6FA"/>
          </a:solidFill>
          <a:ln w="9525">
            <a:solidFill>
              <a:srgbClr val="C9D3E0"/>
            </a:solidFill>
            <a:prstDash val="solid"/>
          </a:ln>
        </p:spPr>
      </p:sp>
      <p:sp>
        <p:nvSpPr>
          <p:cNvPr id="40" name="Text 38"/>
          <p:cNvSpPr txBox="1"/>
          <p:nvPr/>
        </p:nvSpPr>
        <p:spPr>
          <a:xfrm>
            <a:off x="548640" y="339242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Split by what the build host can run</a:t>
            </a:r>
            <a:endParaRPr lang="en-US" sz="1100" dirty="0"/>
          </a:p>
        </p:txBody>
      </p:sp>
      <p:sp>
        <p:nvSpPr>
          <p:cNvPr id="41" name="Text 39"/>
          <p:cNvSpPr txBox="1"/>
          <p:nvPr/>
        </p:nvSpPr>
        <p:spPr>
          <a:xfrm>
            <a:off x="548640" y="3648456"/>
            <a:ext cx="3840480" cy="7772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Every task is marked validated-here or validate-on-host (ADR-018). Docker (Compose, Redpanda, the six-service stack) is absent from the build environment, so end-to-end and live-model gates are authored to spec and run on a host with Docker.</a:t>
            </a:r>
            <a:endParaRPr lang="en-US" sz="900" dirty="0"/>
          </a:p>
        </p:txBody>
      </p:sp>
      <p:sp>
        <p:nvSpPr>
          <p:cNvPr id="42" name="Shape 40"/>
          <p:cNvSpPr/>
          <p:nvPr/>
        </p:nvSpPr>
        <p:spPr>
          <a:xfrm>
            <a:off x="4663440" y="3337560"/>
            <a:ext cx="4023360" cy="1143000"/>
          </a:xfrm>
          <a:prstGeom prst="roundRect">
            <a:avLst>
              <a:gd name="adj" fmla="val 4800"/>
            </a:avLst>
          </a:prstGeom>
          <a:solidFill>
            <a:srgbClr val="F3F6FA"/>
          </a:solidFill>
          <a:ln w="9525">
            <a:solidFill>
              <a:srgbClr val="C9D3E0"/>
            </a:solidFill>
            <a:prstDash val="solid"/>
          </a:ln>
        </p:spPr>
      </p:sp>
      <p:sp>
        <p:nvSpPr>
          <p:cNvPr id="43" name="Text 41"/>
          <p:cNvSpPr txBox="1"/>
          <p:nvPr/>
        </p:nvSpPr>
        <p:spPr>
          <a:xfrm>
            <a:off x="4754880" y="339242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One command validates the rest</a:t>
            </a:r>
            <a:endParaRPr lang="en-US" sz="1100" dirty="0"/>
          </a:p>
        </p:txBody>
      </p:sp>
      <p:sp>
        <p:nvSpPr>
          <p:cNvPr id="44" name="Text 42"/>
          <p:cNvSpPr txBox="1"/>
          <p:nvPr/>
        </p:nvSpPr>
        <p:spPr>
          <a:xfrm>
            <a:off x="4754880" y="3648456"/>
            <a:ext cx="3840480" cy="7772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gofmt · go vet · golangci-lint · ruff · mypy --strict · buf lint + codegen staleness · a cross-language contract test · every unit, property and scenario test. CI runs the same make check target verbatim.</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MEASUREMENT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Quality metrics from the bench and the gate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19</a:t>
            </a:r>
            <a:endParaRPr lang="en-US" sz="800" dirty="0"/>
          </a:p>
        </p:txBody>
      </p:sp>
      <p:graphicFrame>
        <p:nvGraphicFramePr>
          <p:cNvPr id="5" name="Chart 0" descr=""/>
          <p:cNvGraphicFramePr/>
          <p:nvPr/>
        </p:nvGraphicFramePr>
        <p:xfrm>
          <a:off x="457200" y="1188720"/>
          <a:ext cx="475488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394960" y="1188720"/>
          <a:ext cx="3291840" cy="914400"/>
        </p:xfrm>
        <a:graphic>
          <a:graphicData uri="http://schemas.openxmlformats.org/drawingml/2006/table">
            <a:tbl>
              <a:tblPr/>
              <a:tblGrid>
                <a:gridCol w="1737360"/>
                <a:gridCol w="1005840"/>
                <a:gridCol w="548640"/>
              </a:tblGrid>
              <a:tr h="0">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KPI</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Value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Target</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Field-mapping accuracy</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97.7% (209/214 columns, 19 files)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n/a, headline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Resolved without a model</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80.8% (173/214)</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n/a, headline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Columns escalated to Tier 3</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41 (18 adjudication calls)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≤2% once warm (NFR-8)</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Quarantine precision / recall</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100.0% / 66.7%</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n/a; recall is an honest miss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Hash-chain tamper check</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detected, fail-closed</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must fail closed</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Tests today (this run)</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347 passed / 399 collected, 0 failed</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offline, no network</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make check (minus proto-check)</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green in this run</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green offline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7" name="Text 3"/>
          <p:cNvSpPr txBox="1"/>
          <p:nvPr/>
        </p:nvSpPr>
        <p:spPr>
          <a:xfrm>
            <a:off x="457200" y="4480560"/>
            <a:ext cx="8229600" cy="32004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Quarantine recall (66.7%) is shown as measured, not smoothed: one of three files that should have been held slipped through in this corpus — see Quirks. Tier-3 escalation count is against a deterministic stand-in, not a live model.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HONESTY</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Quirks and known limitations (stated, not hidden)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20</a:t>
            </a:r>
            <a:endParaRPr lang="en-US" sz="800" dirty="0"/>
          </a:p>
        </p:txBody>
      </p:sp>
      <p:sp>
        <p:nvSpPr>
          <p:cNvPr id="5" name="Shape 3"/>
          <p:cNvSpPr/>
          <p:nvPr/>
        </p:nvSpPr>
        <p:spPr>
          <a:xfrm>
            <a:off x="457200" y="1188720"/>
            <a:ext cx="4069080" cy="749808"/>
          </a:xfrm>
          <a:prstGeom prst="roundRect">
            <a:avLst>
              <a:gd name="adj" fmla="val 7317"/>
            </a:avLst>
          </a:prstGeom>
          <a:solidFill>
            <a:srgbClr val="F3F6FA"/>
          </a:solidFill>
          <a:ln w="9525">
            <a:solidFill>
              <a:srgbClr val="C9D3E0"/>
            </a:solidFill>
            <a:prstDash val="solid"/>
          </a:ln>
        </p:spPr>
      </p:sp>
      <p:sp>
        <p:nvSpPr>
          <p:cNvPr id="6" name="Text 4"/>
          <p:cNvSpPr txBox="1"/>
          <p:nvPr/>
        </p:nvSpPr>
        <p:spPr>
          <a:xfrm>
            <a:off x="548640" y="124358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Quarantine recall is 66.7%, not 100%</a:t>
            </a:r>
            <a:endParaRPr lang="en-US" sz="950" dirty="0"/>
          </a:p>
        </p:txBody>
      </p:sp>
      <p:sp>
        <p:nvSpPr>
          <p:cNvPr id="7" name="Text 5"/>
          <p:cNvSpPr txBox="1"/>
          <p:nvPr/>
        </p:nvSpPr>
        <p:spPr>
          <a:xfrm>
            <a:off x="548640" y="149961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1 of 3 files that should have been held was not, in the fixed reference corpus. Precision is 100% (nothing held needlessly) but recall is the honest miss; mitigation is a lower quarantine threshold or an added evidence source, not yet done.</a:t>
            </a:r>
            <a:endParaRPr lang="en-US" sz="780" dirty="0"/>
          </a:p>
        </p:txBody>
      </p:sp>
      <p:sp>
        <p:nvSpPr>
          <p:cNvPr id="8" name="Shape 6"/>
          <p:cNvSpPr/>
          <p:nvPr/>
        </p:nvSpPr>
        <p:spPr>
          <a:xfrm>
            <a:off x="4663440" y="1188720"/>
            <a:ext cx="4069080" cy="749808"/>
          </a:xfrm>
          <a:prstGeom prst="roundRect">
            <a:avLst>
              <a:gd name="adj" fmla="val 7317"/>
            </a:avLst>
          </a:prstGeom>
          <a:solidFill>
            <a:srgbClr val="F3F6FA"/>
          </a:solidFill>
          <a:ln w="9525">
            <a:solidFill>
              <a:srgbClr val="C9D3E0"/>
            </a:solidFill>
            <a:prstDash val="solid"/>
          </a:ln>
        </p:spPr>
      </p:sp>
      <p:sp>
        <p:nvSpPr>
          <p:cNvPr id="9" name="Text 7"/>
          <p:cNvSpPr txBox="1"/>
          <p:nvPr/>
        </p:nvSpPr>
        <p:spPr>
          <a:xfrm>
            <a:off x="4754880" y="124358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Tier 2 embeddings are optional and untested against a real model here</a:t>
            </a:r>
            <a:endParaRPr lang="en-US" sz="950" dirty="0"/>
          </a:p>
        </p:txBody>
      </p:sp>
      <p:sp>
        <p:nvSpPr>
          <p:cNvPr id="10" name="Text 8"/>
          <p:cNvSpPr txBox="1"/>
          <p:nvPr/>
        </p:nvSpPr>
        <p:spPr>
          <a:xfrm>
            <a:off x="4754880" y="149961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fastembed is not installed in this environment, so the suite exercises the fuzzy-only degraded path; the degradation is recorded in the evidence string, never silent.</a:t>
            </a:r>
            <a:endParaRPr lang="en-US" sz="780" dirty="0"/>
          </a:p>
        </p:txBody>
      </p:sp>
      <p:sp>
        <p:nvSpPr>
          <p:cNvPr id="11" name="Shape 9"/>
          <p:cNvSpPr/>
          <p:nvPr/>
        </p:nvSpPr>
        <p:spPr>
          <a:xfrm>
            <a:off x="457200" y="2011680"/>
            <a:ext cx="4069080" cy="749808"/>
          </a:xfrm>
          <a:prstGeom prst="roundRect">
            <a:avLst>
              <a:gd name="adj" fmla="val 7317"/>
            </a:avLst>
          </a:prstGeom>
          <a:solidFill>
            <a:srgbClr val="F3F6FA"/>
          </a:solidFill>
          <a:ln w="9525">
            <a:solidFill>
              <a:srgbClr val="C9D3E0"/>
            </a:solidFill>
            <a:prstDash val="solid"/>
          </a:ln>
        </p:spPr>
      </p:sp>
      <p:sp>
        <p:nvSpPr>
          <p:cNvPr id="12" name="Text 10"/>
          <p:cNvSpPr txBox="1"/>
          <p:nvPr/>
        </p:nvSpPr>
        <p:spPr>
          <a:xfrm>
            <a:off x="548640" y="206654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Live model accuracy is not measured offline</a:t>
            </a:r>
            <a:endParaRPr lang="en-US" sz="950" dirty="0"/>
          </a:p>
        </p:txBody>
      </p:sp>
      <p:sp>
        <p:nvSpPr>
          <p:cNvPr id="13" name="Text 11"/>
          <p:cNvSpPr txBox="1"/>
          <p:nvPr/>
        </p:nvSpPr>
        <p:spPr>
          <a:xfrm>
            <a:off x="548640" y="232257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The Tier 3 numbers above are against the deterministic stand-in. HM_LIVE=1 make test-live against the real Claude API is written but not run in this environment.</a:t>
            </a:r>
            <a:endParaRPr lang="en-US" sz="780" dirty="0"/>
          </a:p>
        </p:txBody>
      </p:sp>
      <p:sp>
        <p:nvSpPr>
          <p:cNvPr id="14" name="Shape 12"/>
          <p:cNvSpPr/>
          <p:nvPr/>
        </p:nvSpPr>
        <p:spPr>
          <a:xfrm>
            <a:off x="4663440" y="2011680"/>
            <a:ext cx="4069080" cy="749808"/>
          </a:xfrm>
          <a:prstGeom prst="roundRect">
            <a:avLst>
              <a:gd name="adj" fmla="val 7317"/>
            </a:avLst>
          </a:prstGeom>
          <a:solidFill>
            <a:srgbClr val="F3F6FA"/>
          </a:solidFill>
          <a:ln w="9525">
            <a:solidFill>
              <a:srgbClr val="C9D3E0"/>
            </a:solidFill>
            <a:prstDash val="solid"/>
          </a:ln>
        </p:spPr>
      </p:sp>
      <p:sp>
        <p:nvSpPr>
          <p:cNvPr id="15" name="Text 13"/>
          <p:cNvSpPr txBox="1"/>
          <p:nvPr/>
        </p:nvSpPr>
        <p:spPr>
          <a:xfrm>
            <a:off x="4754880" y="206654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Docker-dependent gates are host-validated, not run here</a:t>
            </a:r>
            <a:endParaRPr lang="en-US" sz="950" dirty="0"/>
          </a:p>
        </p:txBody>
      </p:sp>
      <p:sp>
        <p:nvSpPr>
          <p:cNvPr id="16" name="Text 14"/>
          <p:cNvSpPr txBox="1"/>
          <p:nvPr/>
        </p:nvSpPr>
        <p:spPr>
          <a:xfrm>
            <a:off x="4754880" y="232257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make up, make test-e2e, make demo and make verify-audit need Redpanda/Postgres/the six-service stack; ADR-018 marks every such task validate-on-host rather than claiming it done.</a:t>
            </a:r>
            <a:endParaRPr lang="en-US" sz="780" dirty="0"/>
          </a:p>
        </p:txBody>
      </p:sp>
      <p:sp>
        <p:nvSpPr>
          <p:cNvPr id="17" name="Shape 15"/>
          <p:cNvSpPr/>
          <p:nvPr/>
        </p:nvSpPr>
        <p:spPr>
          <a:xfrm>
            <a:off x="457200" y="2834640"/>
            <a:ext cx="4069080" cy="749808"/>
          </a:xfrm>
          <a:prstGeom prst="roundRect">
            <a:avLst>
              <a:gd name="adj" fmla="val 7317"/>
            </a:avLst>
          </a:prstGeom>
          <a:solidFill>
            <a:srgbClr val="F3F6FA"/>
          </a:solidFill>
          <a:ln w="9525">
            <a:solidFill>
              <a:srgbClr val="C9D3E0"/>
            </a:solidFill>
            <a:prstDash val="solid"/>
          </a:ln>
        </p:spPr>
      </p:sp>
      <p:sp>
        <p:nvSpPr>
          <p:cNvPr id="18" name="Text 16"/>
          <p:cNvSpPr txBox="1"/>
          <p:nvPr/>
        </p:nvSpPr>
        <p:spPr>
          <a:xfrm>
            <a:off x="548640" y="288950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No authentication on the operations console</a:t>
            </a:r>
            <a:endParaRPr lang="en-US" sz="950" dirty="0"/>
          </a:p>
        </p:txBody>
      </p:sp>
      <p:sp>
        <p:nvSpPr>
          <p:cNvPr id="19" name="Text 17"/>
          <p:cNvSpPr txBox="1"/>
          <p:nvPr/>
        </p:nvSpPr>
        <p:spPr>
          <a:xfrm>
            <a:off x="548640" y="314553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Out of scope by requirements §7; intended to sit behind the institution's existing SSO for a pilot.</a:t>
            </a:r>
            <a:endParaRPr lang="en-US" sz="780" dirty="0"/>
          </a:p>
        </p:txBody>
      </p:sp>
      <p:sp>
        <p:nvSpPr>
          <p:cNvPr id="20" name="Shape 18"/>
          <p:cNvSpPr/>
          <p:nvPr/>
        </p:nvSpPr>
        <p:spPr>
          <a:xfrm>
            <a:off x="4663440" y="2834640"/>
            <a:ext cx="4069080" cy="749808"/>
          </a:xfrm>
          <a:prstGeom prst="roundRect">
            <a:avLst>
              <a:gd name="adj" fmla="val 7317"/>
            </a:avLst>
          </a:prstGeom>
          <a:solidFill>
            <a:srgbClr val="F3F6FA"/>
          </a:solidFill>
          <a:ln w="9525">
            <a:solidFill>
              <a:srgbClr val="C9D3E0"/>
            </a:solidFill>
            <a:prstDash val="solid"/>
          </a:ln>
        </p:spPr>
      </p:sp>
      <p:sp>
        <p:nvSpPr>
          <p:cNvPr id="21" name="Text 19"/>
          <p:cNvSpPr txBox="1"/>
          <p:nvPr/>
        </p:nvSpPr>
        <p:spPr>
          <a:xfrm>
            <a:off x="4754880" y="288950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The overdue sweep is not leader-elected</a:t>
            </a:r>
            <a:endParaRPr lang="en-US" sz="950" dirty="0"/>
          </a:p>
        </p:txBody>
      </p:sp>
      <p:sp>
        <p:nvSpPr>
          <p:cNvPr id="22" name="Text 20"/>
          <p:cNvSpPr txBox="1"/>
          <p:nvPr/>
        </p:nvSpPr>
        <p:spPr>
          <a:xfrm>
            <a:off x="4754880" y="314553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Running more than one Berthmaster instance would run the sweep more than once per interval. Slot state itself is safe across instances.</a:t>
            </a:r>
            <a:endParaRPr lang="en-US" sz="780" dirty="0"/>
          </a:p>
        </p:txBody>
      </p:sp>
      <p:sp>
        <p:nvSpPr>
          <p:cNvPr id="23" name="Shape 21"/>
          <p:cNvSpPr/>
          <p:nvPr/>
        </p:nvSpPr>
        <p:spPr>
          <a:xfrm>
            <a:off x="457200" y="3657600"/>
            <a:ext cx="4069080" cy="749808"/>
          </a:xfrm>
          <a:prstGeom prst="roundRect">
            <a:avLst>
              <a:gd name="adj" fmla="val 7317"/>
            </a:avLst>
          </a:prstGeom>
          <a:solidFill>
            <a:srgbClr val="F3F6FA"/>
          </a:solidFill>
          <a:ln w="9525">
            <a:solidFill>
              <a:srgbClr val="C9D3E0"/>
            </a:solidFill>
            <a:prstDash val="solid"/>
          </a:ln>
        </p:spPr>
      </p:sp>
      <p:sp>
        <p:nvSpPr>
          <p:cNvPr id="24" name="Text 22"/>
          <p:cNvSpPr txBox="1"/>
          <p:nvPr/>
        </p:nvSpPr>
        <p:spPr>
          <a:xfrm>
            <a:off x="548640" y="371246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Throughput and p95 latency (NFR-2) are designed for, not measured</a:t>
            </a:r>
            <a:endParaRPr lang="en-US" sz="950" dirty="0"/>
          </a:p>
        </p:txBody>
      </p:sp>
      <p:sp>
        <p:nvSpPr>
          <p:cNvPr id="25" name="Text 23"/>
          <p:cNvSpPr txBox="1"/>
          <p:nvPr/>
        </p:nvSpPr>
        <p:spPr>
          <a:xfrm>
            <a:off x="548640" y="396849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The 1,000 arrivals/day envelope has no load test behind it in this environment.</a:t>
            </a:r>
            <a:endParaRPr lang="en-US" sz="780" dirty="0"/>
          </a:p>
        </p:txBody>
      </p:sp>
      <p:sp>
        <p:nvSpPr>
          <p:cNvPr id="26" name="Shape 24"/>
          <p:cNvSpPr/>
          <p:nvPr/>
        </p:nvSpPr>
        <p:spPr>
          <a:xfrm>
            <a:off x="4663440" y="3657600"/>
            <a:ext cx="4069080" cy="749808"/>
          </a:xfrm>
          <a:prstGeom prst="roundRect">
            <a:avLst>
              <a:gd name="adj" fmla="val 7317"/>
            </a:avLst>
          </a:prstGeom>
          <a:solidFill>
            <a:srgbClr val="F3F6FA"/>
          </a:solidFill>
          <a:ln w="9525">
            <a:solidFill>
              <a:srgbClr val="C9D3E0"/>
            </a:solidFill>
            <a:prstDash val="solid"/>
          </a:ln>
        </p:spPr>
      </p:sp>
      <p:sp>
        <p:nvSpPr>
          <p:cNvPr id="27" name="Text 25"/>
          <p:cNvSpPr txBox="1"/>
          <p:nvPr/>
        </p:nvSpPr>
        <p:spPr>
          <a:xfrm>
            <a:off x="4754880" y="371246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golangci-lint and protoc/buf are not installed on this host</a:t>
            </a:r>
            <a:endParaRPr lang="en-US" sz="950" dirty="0"/>
          </a:p>
        </p:txBody>
      </p:sp>
      <p:sp>
        <p:nvSpPr>
          <p:cNvPr id="28" name="Text 26"/>
          <p:cNvSpPr txBox="1"/>
          <p:nvPr/>
        </p:nvSpPr>
        <p:spPr>
          <a:xfrm>
            <a:off x="4754880" y="396849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go vet substituted for lint; proto-check could not run. Pre-existing gaps in this environment, not fixed as part of this task.</a:t>
            </a:r>
            <a:endParaRPr lang="en-US" sz="7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OPERATIONS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Cost, performance and operability</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21</a:t>
            </a:r>
            <a:endParaRPr lang="en-US" sz="800" dirty="0"/>
          </a:p>
        </p:txBody>
      </p:sp>
      <p:sp>
        <p:nvSpPr>
          <p:cNvPr id="5" name="Shape 3"/>
          <p:cNvSpPr/>
          <p:nvPr/>
        </p:nvSpPr>
        <p:spPr>
          <a:xfrm>
            <a:off x="457200" y="1188720"/>
            <a:ext cx="1965960" cy="1234440"/>
          </a:xfrm>
          <a:prstGeom prst="roundRect">
            <a:avLst>
              <a:gd name="adj" fmla="val 4444"/>
            </a:avLst>
          </a:prstGeom>
          <a:solidFill>
            <a:srgbClr val="F3F6FA"/>
          </a:solidFill>
          <a:ln w="9525">
            <a:solidFill>
              <a:srgbClr val="C9D3E0"/>
            </a:solidFill>
            <a:prstDash val="solid"/>
          </a:ln>
        </p:spPr>
      </p:sp>
      <p:sp>
        <p:nvSpPr>
          <p:cNvPr id="6" name="Text 4"/>
          <p:cNvSpPr txBox="1"/>
          <p:nvPr/>
        </p:nvSpPr>
        <p:spPr>
          <a:xfrm>
            <a:off x="566928" y="1234440"/>
            <a:ext cx="1737360" cy="457200"/>
          </a:xfrm>
          <a:prstGeom prst="rect">
            <a:avLst/>
          </a:prstGeom>
          <a:noFill/>
          <a:ln/>
        </p:spPr>
        <p:txBody>
          <a:bodyPr wrap="square" lIns="0" tIns="0" rIns="0" bIns="0" rtlCol="0" anchor="ctr"/>
          <a:lstStyle/>
          <a:p>
            <a:pPr indent="0" marL="0">
              <a:buNone/>
            </a:pPr>
            <a:r>
              <a:rPr lang="en-US" sz="2200" b="1" dirty="0">
                <a:solidFill>
                  <a:srgbClr val="F2B134"/>
                </a:solidFill>
                <a:latin typeface="Cambria" pitchFamily="34" charset="0"/>
                <a:ea typeface="Cambria" pitchFamily="34" charset="-122"/>
                <a:cs typeface="Cambria" pitchFamily="34" charset="-120"/>
              </a:rPr>
              <a:t>µs / ms / s+$</a:t>
            </a:r>
            <a:endParaRPr lang="en-US" sz="2200" dirty="0"/>
          </a:p>
        </p:txBody>
      </p:sp>
      <p:sp>
        <p:nvSpPr>
          <p:cNvPr id="7" name="Text 5"/>
          <p:cNvSpPr txBox="1"/>
          <p:nvPr/>
        </p:nvSpPr>
        <p:spPr>
          <a:xfrm>
            <a:off x="56692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the three tiers' cost, in order — most columns resolve for free</a:t>
            </a:r>
            <a:endParaRPr lang="en-US" sz="850" dirty="0"/>
          </a:p>
        </p:txBody>
      </p:sp>
      <p:sp>
        <p:nvSpPr>
          <p:cNvPr id="8" name="Shape 6"/>
          <p:cNvSpPr/>
          <p:nvPr/>
        </p:nvSpPr>
        <p:spPr>
          <a:xfrm>
            <a:off x="2560320" y="1188720"/>
            <a:ext cx="1965960" cy="1234440"/>
          </a:xfrm>
          <a:prstGeom prst="roundRect">
            <a:avLst>
              <a:gd name="adj" fmla="val 4444"/>
            </a:avLst>
          </a:prstGeom>
          <a:solidFill>
            <a:srgbClr val="F3F6FA"/>
          </a:solidFill>
          <a:ln w="9525">
            <a:solidFill>
              <a:srgbClr val="C9D3E0"/>
            </a:solidFill>
            <a:prstDash val="solid"/>
          </a:ln>
        </p:spPr>
      </p:sp>
      <p:sp>
        <p:nvSpPr>
          <p:cNvPr id="9" name="Text 7"/>
          <p:cNvSpPr txBox="1"/>
          <p:nvPr/>
        </p:nvSpPr>
        <p:spPr>
          <a:xfrm>
            <a:off x="2670048" y="1234440"/>
            <a:ext cx="1737360" cy="457200"/>
          </a:xfrm>
          <a:prstGeom prst="rect">
            <a:avLst/>
          </a:prstGeom>
          <a:noFill/>
          <a:ln/>
        </p:spPr>
        <p:txBody>
          <a:bodyPr wrap="square" lIns="0" tIns="0" rIns="0" bIns="0" rtlCol="0" anchor="ctr"/>
          <a:lstStyle/>
          <a:p>
            <a:pPr indent="0" marL="0">
              <a:buNone/>
            </a:pPr>
            <a:r>
              <a:rPr lang="en-US" sz="2200" b="1" dirty="0">
                <a:solidFill>
                  <a:srgbClr val="F2B134"/>
                </a:solidFill>
                <a:latin typeface="Cambria" pitchFamily="34" charset="0"/>
                <a:ea typeface="Cambria" pitchFamily="34" charset="-122"/>
                <a:cs typeface="Cambria" pitchFamily="34" charset="-120"/>
              </a:rPr>
              <a:t>0 keys</a:t>
            </a:r>
            <a:endParaRPr lang="en-US" sz="2200" dirty="0"/>
          </a:p>
        </p:txBody>
      </p:sp>
      <p:sp>
        <p:nvSpPr>
          <p:cNvPr id="10" name="Text 8"/>
          <p:cNvSpPr txBox="1"/>
          <p:nvPr/>
        </p:nvSpPr>
        <p:spPr>
          <a:xfrm>
            <a:off x="267004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needed for make check or make bench; the model tier is opt-in only</a:t>
            </a:r>
            <a:endParaRPr lang="en-US" sz="850" dirty="0"/>
          </a:p>
        </p:txBody>
      </p:sp>
      <p:sp>
        <p:nvSpPr>
          <p:cNvPr id="11" name="Shape 9"/>
          <p:cNvSpPr/>
          <p:nvPr/>
        </p:nvSpPr>
        <p:spPr>
          <a:xfrm>
            <a:off x="4663440" y="1188720"/>
            <a:ext cx="1965960" cy="1234440"/>
          </a:xfrm>
          <a:prstGeom prst="roundRect">
            <a:avLst>
              <a:gd name="adj" fmla="val 4444"/>
            </a:avLst>
          </a:prstGeom>
          <a:solidFill>
            <a:srgbClr val="F3F6FA"/>
          </a:solidFill>
          <a:ln w="9525">
            <a:solidFill>
              <a:srgbClr val="C9D3E0"/>
            </a:solidFill>
            <a:prstDash val="solid"/>
          </a:ln>
        </p:spPr>
      </p:sp>
      <p:sp>
        <p:nvSpPr>
          <p:cNvPr id="12" name="Text 10"/>
          <p:cNvSpPr txBox="1"/>
          <p:nvPr/>
        </p:nvSpPr>
        <p:spPr>
          <a:xfrm>
            <a:off x="4773168" y="1234440"/>
            <a:ext cx="1737360" cy="457200"/>
          </a:xfrm>
          <a:prstGeom prst="rect">
            <a:avLst/>
          </a:prstGeom>
          <a:noFill/>
          <a:ln/>
        </p:spPr>
        <p:txBody>
          <a:bodyPr wrap="square" lIns="0" tIns="0" rIns="0" bIns="0" rtlCol="0" anchor="ctr"/>
          <a:lstStyle/>
          <a:p>
            <a:pPr indent="0" marL="0">
              <a:buNone/>
            </a:pPr>
            <a:r>
              <a:rPr lang="en-US" sz="2200" b="1" dirty="0">
                <a:solidFill>
                  <a:srgbClr val="F2B134"/>
                </a:solidFill>
                <a:latin typeface="Cambria" pitchFamily="34" charset="0"/>
                <a:ea typeface="Cambria" pitchFamily="34" charset="-122"/>
                <a:cs typeface="Cambria" pitchFamily="34" charset="-120"/>
              </a:rPr>
              <a:t>~4.8s</a:t>
            </a:r>
            <a:endParaRPr lang="en-US" sz="2200" dirty="0"/>
          </a:p>
        </p:txBody>
      </p:sp>
      <p:sp>
        <p:nvSpPr>
          <p:cNvPr id="13" name="Text 11"/>
          <p:cNvSpPr txBox="1"/>
          <p:nvPr/>
        </p:nvSpPr>
        <p:spPr>
          <a:xfrm>
            <a:off x="477316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python/tests (257 passed) in this run; go test ./... a few seconds more</a:t>
            </a:r>
            <a:endParaRPr lang="en-US" sz="850" dirty="0"/>
          </a:p>
        </p:txBody>
      </p:sp>
      <p:sp>
        <p:nvSpPr>
          <p:cNvPr id="14" name="Shape 12"/>
          <p:cNvSpPr/>
          <p:nvPr/>
        </p:nvSpPr>
        <p:spPr>
          <a:xfrm>
            <a:off x="6766560" y="1188720"/>
            <a:ext cx="1965960" cy="1234440"/>
          </a:xfrm>
          <a:prstGeom prst="roundRect">
            <a:avLst>
              <a:gd name="adj" fmla="val 4444"/>
            </a:avLst>
          </a:prstGeom>
          <a:solidFill>
            <a:srgbClr val="F3F6FA"/>
          </a:solidFill>
          <a:ln w="9525">
            <a:solidFill>
              <a:srgbClr val="C9D3E0"/>
            </a:solidFill>
            <a:prstDash val="solid"/>
          </a:ln>
        </p:spPr>
      </p:sp>
      <p:sp>
        <p:nvSpPr>
          <p:cNvPr id="15" name="Text 13"/>
          <p:cNvSpPr txBox="1"/>
          <p:nvPr/>
        </p:nvSpPr>
        <p:spPr>
          <a:xfrm>
            <a:off x="6876288" y="1234440"/>
            <a:ext cx="1737360" cy="457200"/>
          </a:xfrm>
          <a:prstGeom prst="rect">
            <a:avLst/>
          </a:prstGeom>
          <a:noFill/>
          <a:ln/>
        </p:spPr>
        <p:txBody>
          <a:bodyPr wrap="square" lIns="0" tIns="0" rIns="0" bIns="0" rtlCol="0" anchor="ctr"/>
          <a:lstStyle/>
          <a:p>
            <a:pPr indent="0" marL="0">
              <a:buNone/>
            </a:pPr>
            <a:r>
              <a:rPr lang="en-US" sz="2200" b="1" dirty="0">
                <a:solidFill>
                  <a:srgbClr val="F2B134"/>
                </a:solidFill>
                <a:latin typeface="Cambria" pitchFamily="34" charset="0"/>
                <a:ea typeface="Cambria" pitchFamily="34" charset="-122"/>
                <a:cs typeface="Cambria" pitchFamily="34" charset="-120"/>
              </a:rPr>
              <a:t>0 → next time</a:t>
            </a:r>
            <a:endParaRPr lang="en-US" sz="2200" dirty="0"/>
          </a:p>
        </p:txBody>
      </p:sp>
      <p:sp>
        <p:nvSpPr>
          <p:cNvPr id="16" name="Text 14"/>
          <p:cNvSpPr txBox="1"/>
          <p:nvPr/>
        </p:nvSpPr>
        <p:spPr>
          <a:xfrm>
            <a:off x="687628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template-fingerprint cache: the second file with a known layout costs no model call</a:t>
            </a:r>
            <a:endParaRPr lang="en-US" sz="850" dirty="0"/>
          </a:p>
        </p:txBody>
      </p:sp>
      <p:sp>
        <p:nvSpPr>
          <p:cNvPr id="17" name="Shape 15"/>
          <p:cNvSpPr/>
          <p:nvPr/>
        </p:nvSpPr>
        <p:spPr>
          <a:xfrm>
            <a:off x="457200" y="2606040"/>
            <a:ext cx="4023360" cy="1828800"/>
          </a:xfrm>
          <a:prstGeom prst="roundRect">
            <a:avLst>
              <a:gd name="adj" fmla="val 3000"/>
            </a:avLst>
          </a:prstGeom>
          <a:solidFill>
            <a:srgbClr val="F3F6FA"/>
          </a:solidFill>
          <a:ln w="9525">
            <a:solidFill>
              <a:srgbClr val="C9D3E0"/>
            </a:solidFill>
            <a:prstDash val="solid"/>
          </a:ln>
        </p:spPr>
      </p:sp>
      <p:sp>
        <p:nvSpPr>
          <p:cNvPr id="18" name="Text 16"/>
          <p:cNvSpPr txBox="1"/>
          <p:nvPr/>
        </p:nvSpPr>
        <p:spPr>
          <a:xfrm>
            <a:off x="548640" y="266090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Operability</a:t>
            </a:r>
            <a:endParaRPr lang="en-US" sz="1100" dirty="0"/>
          </a:p>
        </p:txBody>
      </p:sp>
      <p:sp>
        <p:nvSpPr>
          <p:cNvPr id="19" name="Text 17"/>
          <p:cNvSpPr txBox="1"/>
          <p:nvPr/>
        </p:nvSpPr>
        <p:spPr>
          <a:xfrm>
            <a:off x="548640" y="2916936"/>
            <a:ext cx="3840480" cy="14630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 Runbook: first checkout, running the stack, seeing it work, verifying the audit trail, configuration reference, what to do when something is wrong</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make up targets healthy in under a minute (host-validated)</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make demo narrates the twelve adversarial fixtures through the live board</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Rollback: read models are projections, rebuilt by replaying topics from offset zero</a:t>
            </a:r>
            <a:endParaRPr lang="en-US" sz="900" dirty="0"/>
          </a:p>
        </p:txBody>
      </p:sp>
      <p:sp>
        <p:nvSpPr>
          <p:cNvPr id="20" name="Shape 18"/>
          <p:cNvSpPr/>
          <p:nvPr/>
        </p:nvSpPr>
        <p:spPr>
          <a:xfrm>
            <a:off x="4663440" y="2606040"/>
            <a:ext cx="4023360" cy="1828800"/>
          </a:xfrm>
          <a:prstGeom prst="roundRect">
            <a:avLst>
              <a:gd name="adj" fmla="val 3000"/>
            </a:avLst>
          </a:prstGeom>
          <a:solidFill>
            <a:srgbClr val="F3F6FA"/>
          </a:solidFill>
          <a:ln w="9525">
            <a:solidFill>
              <a:srgbClr val="C9D3E0"/>
            </a:solidFill>
            <a:prstDash val="solid"/>
          </a:ln>
        </p:spPr>
      </p:sp>
      <p:sp>
        <p:nvSpPr>
          <p:cNvPr id="21" name="Text 19"/>
          <p:cNvSpPr txBox="1"/>
          <p:nvPr/>
        </p:nvSpPr>
        <p:spPr>
          <a:xfrm>
            <a:off x="4754880" y="266090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Observability and audit</a:t>
            </a:r>
            <a:endParaRPr lang="en-US" sz="1100" dirty="0"/>
          </a:p>
        </p:txBody>
      </p:sp>
      <p:sp>
        <p:nvSpPr>
          <p:cNvPr id="22" name="Text 20"/>
          <p:cNvSpPr txBox="1"/>
          <p:nvPr/>
        </p:nvSpPr>
        <p:spPr>
          <a:xfrm>
            <a:off x="4754880" y="2916936"/>
            <a:ext cx="3840480" cy="14630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 Structured JSON logs with correlation IDs (slog / structlog); no metrics stack by design (ADR-014)</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Hash-chained audit.decisions topic, compacted and retained indefinitely</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make verify-audit walks every chain and names the first break</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Client YAML is schema-validated strictly at load: an unknown key fails loudly, never at 3 a.m.</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Roadmap to production validation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22</a:t>
            </a:r>
            <a:endParaRPr lang="en-US" sz="800" dirty="0"/>
          </a:p>
        </p:txBody>
      </p:sp>
      <p:sp>
        <p:nvSpPr>
          <p:cNvPr id="5" name="Shape 3"/>
          <p:cNvSpPr/>
          <p:nvPr/>
        </p:nvSpPr>
        <p:spPr>
          <a:xfrm>
            <a:off x="457200" y="1188720"/>
            <a:ext cx="1965960" cy="3200400"/>
          </a:xfrm>
          <a:prstGeom prst="roundRect">
            <a:avLst>
              <a:gd name="adj" fmla="val 2791"/>
            </a:avLst>
          </a:prstGeom>
          <a:solidFill>
            <a:srgbClr val="EEF6F4"/>
          </a:solidFill>
          <a:ln w="9525">
            <a:solidFill>
              <a:srgbClr val="2EC4B6"/>
            </a:solidFill>
            <a:prstDash val="solid"/>
          </a:ln>
        </p:spPr>
      </p:sp>
      <p:sp>
        <p:nvSpPr>
          <p:cNvPr id="6" name="Text 4"/>
          <p:cNvSpPr txBox="1"/>
          <p:nvPr/>
        </p:nvSpPr>
        <p:spPr>
          <a:xfrm>
            <a:off x="56692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Now</a:t>
            </a:r>
            <a:endParaRPr lang="en-US" sz="900" dirty="0"/>
          </a:p>
        </p:txBody>
      </p:sp>
      <p:sp>
        <p:nvSpPr>
          <p:cNvPr id="7" name="Text 5"/>
          <p:cNvSpPr txBox="1"/>
          <p:nvPr/>
        </p:nvSpPr>
        <p:spPr>
          <a:xfrm>
            <a:off x="566928" y="1481328"/>
            <a:ext cx="1737360" cy="320040"/>
          </a:xfrm>
          <a:prstGeom prst="rect">
            <a:avLst/>
          </a:prstGeom>
          <a:noFill/>
          <a:ln/>
        </p:spPr>
        <p:txBody>
          <a:bodyPr wrap="square" lIns="0" tIns="0" rIns="0" bIns="0"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Host validation</a:t>
            </a:r>
            <a:endParaRPr lang="en-US" sz="1300" dirty="0"/>
          </a:p>
        </p:txBody>
      </p:sp>
      <p:sp>
        <p:nvSpPr>
          <p:cNvPr id="8" name="Text 6"/>
          <p:cNvSpPr txBox="1"/>
          <p:nvPr/>
        </p:nvSpPr>
        <p:spPr>
          <a:xfrm>
            <a:off x="56692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go mod tidy; make up &amp;&amp; make test-e2e on a machine with Docker</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HM_LIVE=1 make test-live against the real Claude API</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Confirm the 60s p95 / 180s p99 latency targets (NFR-2)</a:t>
            </a:r>
            <a:endParaRPr lang="en-US" sz="850" dirty="0"/>
          </a:p>
        </p:txBody>
      </p:sp>
      <p:sp>
        <p:nvSpPr>
          <p:cNvPr id="9" name="Shape 7"/>
          <p:cNvSpPr/>
          <p:nvPr/>
        </p:nvSpPr>
        <p:spPr>
          <a:xfrm>
            <a:off x="2560320" y="1188720"/>
            <a:ext cx="1965960" cy="3200400"/>
          </a:xfrm>
          <a:prstGeom prst="roundRect">
            <a:avLst>
              <a:gd name="adj" fmla="val 2791"/>
            </a:avLst>
          </a:prstGeom>
          <a:solidFill>
            <a:srgbClr val="F3F6FA"/>
          </a:solidFill>
          <a:ln w="9525">
            <a:solidFill>
              <a:srgbClr val="C9D3E0"/>
            </a:solidFill>
            <a:prstDash val="solid"/>
          </a:ln>
        </p:spPr>
      </p:sp>
      <p:sp>
        <p:nvSpPr>
          <p:cNvPr id="10" name="Text 8"/>
          <p:cNvSpPr txBox="1"/>
          <p:nvPr/>
        </p:nvSpPr>
        <p:spPr>
          <a:xfrm>
            <a:off x="267004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Near term</a:t>
            </a:r>
            <a:endParaRPr lang="en-US" sz="900" dirty="0"/>
          </a:p>
        </p:txBody>
      </p:sp>
      <p:sp>
        <p:nvSpPr>
          <p:cNvPr id="11" name="Text 9"/>
          <p:cNvSpPr txBox="1"/>
          <p:nvPr/>
        </p:nvSpPr>
        <p:spPr>
          <a:xfrm>
            <a:off x="2670048" y="1481328"/>
            <a:ext cx="1737360" cy="320040"/>
          </a:xfrm>
          <a:prstGeom prst="rect">
            <a:avLst/>
          </a:prstGeom>
          <a:noFill/>
          <a:ln/>
        </p:spPr>
        <p:txBody>
          <a:bodyPr wrap="square" lIns="0" tIns="0" rIns="0" bIns="0"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Close the recall gap</a:t>
            </a:r>
            <a:endParaRPr lang="en-US" sz="1300" dirty="0"/>
          </a:p>
        </p:txBody>
      </p:sp>
      <p:sp>
        <p:nvSpPr>
          <p:cNvPr id="12" name="Text 10"/>
          <p:cNvSpPr txBox="1"/>
          <p:nvPr/>
        </p:nvSpPr>
        <p:spPr>
          <a:xfrm>
            <a:off x="267004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Investigate the missed quarantine case; consider a lower threshold or an added evidence source</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Install fastembed and re-measure Tier 2 with real embeddings, not fuzzy-only</a:t>
            </a:r>
            <a:endParaRPr lang="en-US" sz="850" dirty="0"/>
          </a:p>
        </p:txBody>
      </p:sp>
      <p:sp>
        <p:nvSpPr>
          <p:cNvPr id="13" name="Shape 11"/>
          <p:cNvSpPr/>
          <p:nvPr/>
        </p:nvSpPr>
        <p:spPr>
          <a:xfrm>
            <a:off x="4663440" y="1188720"/>
            <a:ext cx="1965960" cy="3200400"/>
          </a:xfrm>
          <a:prstGeom prst="roundRect">
            <a:avLst>
              <a:gd name="adj" fmla="val 2791"/>
            </a:avLst>
          </a:prstGeom>
          <a:solidFill>
            <a:srgbClr val="F3F6FA"/>
          </a:solidFill>
          <a:ln w="9525">
            <a:solidFill>
              <a:srgbClr val="C9D3E0"/>
            </a:solidFill>
            <a:prstDash val="solid"/>
          </a:ln>
        </p:spPr>
      </p:sp>
      <p:sp>
        <p:nvSpPr>
          <p:cNvPr id="14" name="Text 12"/>
          <p:cNvSpPr txBox="1"/>
          <p:nvPr/>
        </p:nvSpPr>
        <p:spPr>
          <a:xfrm>
            <a:off x="477316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Before pilot</a:t>
            </a:r>
            <a:endParaRPr lang="en-US" sz="900" dirty="0"/>
          </a:p>
        </p:txBody>
      </p:sp>
      <p:sp>
        <p:nvSpPr>
          <p:cNvPr id="15" name="Text 13"/>
          <p:cNvSpPr txBox="1"/>
          <p:nvPr/>
        </p:nvSpPr>
        <p:spPr>
          <a:xfrm>
            <a:off x="4773168" y="1481328"/>
            <a:ext cx="1737360" cy="320040"/>
          </a:xfrm>
          <a:prstGeom prst="rect">
            <a:avLst/>
          </a:prstGeom>
          <a:noFill/>
          <a:ln/>
        </p:spPr>
        <p:txBody>
          <a:bodyPr wrap="square" lIns="0" tIns="0" rIns="0" bIns="0"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Operational hardening</a:t>
            </a:r>
            <a:endParaRPr lang="en-US" sz="1300" dirty="0"/>
          </a:p>
        </p:txBody>
      </p:sp>
      <p:sp>
        <p:nvSpPr>
          <p:cNvPr id="16" name="Text 14"/>
          <p:cNvSpPr txBox="1"/>
          <p:nvPr/>
        </p:nvSpPr>
        <p:spPr>
          <a:xfrm>
            <a:off x="477316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Leader-elect the Berthmaster overdue sweep for multi-instance runs</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SSO in front of the operations console</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Load test the 1,000 arrivals/day envelope and the burst target</a:t>
            </a:r>
            <a:endParaRPr lang="en-US" sz="850" dirty="0"/>
          </a:p>
        </p:txBody>
      </p:sp>
      <p:sp>
        <p:nvSpPr>
          <p:cNvPr id="17" name="Shape 15"/>
          <p:cNvSpPr/>
          <p:nvPr/>
        </p:nvSpPr>
        <p:spPr>
          <a:xfrm>
            <a:off x="6766560" y="1188720"/>
            <a:ext cx="1965960" cy="3200400"/>
          </a:xfrm>
          <a:prstGeom prst="roundRect">
            <a:avLst>
              <a:gd name="adj" fmla="val 2791"/>
            </a:avLst>
          </a:prstGeom>
          <a:solidFill>
            <a:srgbClr val="F3F6FA"/>
          </a:solidFill>
          <a:ln w="9525">
            <a:solidFill>
              <a:srgbClr val="C9D3E0"/>
            </a:solidFill>
            <a:prstDash val="solid"/>
          </a:ln>
        </p:spPr>
      </p:sp>
      <p:sp>
        <p:nvSpPr>
          <p:cNvPr id="18" name="Text 16"/>
          <p:cNvSpPr txBox="1"/>
          <p:nvPr/>
        </p:nvSpPr>
        <p:spPr>
          <a:xfrm>
            <a:off x="687628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Scale</a:t>
            </a:r>
            <a:endParaRPr lang="en-US" sz="900" dirty="0"/>
          </a:p>
        </p:txBody>
      </p:sp>
      <p:sp>
        <p:nvSpPr>
          <p:cNvPr id="19" name="Text 17"/>
          <p:cNvSpPr txBox="1"/>
          <p:nvPr/>
        </p:nvSpPr>
        <p:spPr>
          <a:xfrm>
            <a:off x="6876288" y="1481328"/>
            <a:ext cx="1737360" cy="320040"/>
          </a:xfrm>
          <a:prstGeom prst="rect">
            <a:avLst/>
          </a:prstGeom>
          <a:noFill/>
          <a:ln/>
        </p:spPr>
        <p:txBody>
          <a:bodyPr wrap="square" lIns="0" tIns="0" rIns="0" bIns="0"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Beyond the prototype</a:t>
            </a:r>
            <a:endParaRPr lang="en-US" sz="1300" dirty="0"/>
          </a:p>
        </p:txBody>
      </p:sp>
      <p:sp>
        <p:nvSpPr>
          <p:cNvPr id="20" name="Text 18"/>
          <p:cNvSpPr txBox="1"/>
          <p:nvPr/>
        </p:nvSpPr>
        <p:spPr>
          <a:xfrm>
            <a:off x="687628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Wire the already-implemented S3 object-store adapter</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Extend the client dictionary from pilot-onboarding promotions</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Revisit Redpanda vs. managed Kafka for production topology</a:t>
            </a:r>
            <a:endParaRPr lang="en-US" sz="850" dirty="0"/>
          </a:p>
        </p:txBody>
      </p:sp>
      <p:sp>
        <p:nvSpPr>
          <p:cNvPr id="21" name="Text 19"/>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Every item above is additive: the contracts, the ladder, the confidence scoring and the audit chain do not change.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 A — Decision log (abridged, 20 total)</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23</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914400"/>
                <a:gridCol w="3840480"/>
                <a:gridCol w="347472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ID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Decision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Consequence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ADR-001</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Event-driven log backbone (Kafka-compatible) over batch or sync calls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Replay is an offset operation; the log is the audit trail</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ADR-002</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Polyglot split: Go at the edges, Python in the middle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Each language fits its workload; a hard requirement for shared contracts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ADR-003</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Protobuf single source of truth, buf-generated, protojson on the wire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Contract drift becomes a build failure, not a production incident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ADR-004</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Three-tier field mapping, not LLM-first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Model dependence decreases over time; NFR-8 (≤2% once warm) achievable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ADR-006</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Parquet for canonical output, not CSV</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Nulls and types survive; a missing price is never confused with zero</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ADR-011</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Masking: numbers masked to last-4, names visible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Boards and screenshots stay safe without hiding who a client is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ADR-016</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Poll the landing directory, not inotify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Correct on the NFS/SMB mounts this actually runs 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ADR-018</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Split validation between build and host environments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No task marked done on unexecuted code; the gap is visible, not implied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ADR-020</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Topics provisioned by infrastructure, not the application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 topic typo fails loudly instead of silently stranding messages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 B — Build statistics and defects found</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24</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530352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Measure</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Count</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Go source</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4,991 lines across 12 packages and 3 binaries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Python source</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6,295 lines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Go tests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73 passed, 47 skipped without a live Postgres, in this run</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Python tests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257 passed / 262 collected (tests/), 17/17 (scenarios), in this run</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Documentation</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2,877 lines across requirements, HLD, LLD, ADRs, runbook, ship report</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Task packs / ADRs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50 task packs; 20 architecture decisions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6" name="Shape 3"/>
          <p:cNvSpPr/>
          <p:nvPr/>
        </p:nvSpPr>
        <p:spPr>
          <a:xfrm>
            <a:off x="457200" y="3063240"/>
            <a:ext cx="8229600" cy="1417320"/>
          </a:xfrm>
          <a:prstGeom prst="roundRect">
            <a:avLst>
              <a:gd name="adj" fmla="val 3871"/>
            </a:avLst>
          </a:prstGeom>
          <a:solidFill>
            <a:srgbClr val="F3F6FA"/>
          </a:solidFill>
          <a:ln w="9525">
            <a:solidFill>
              <a:srgbClr val="C9D3E0"/>
            </a:solidFill>
            <a:prstDash val="solid"/>
          </a:ln>
        </p:spPr>
      </p:sp>
      <p:sp>
        <p:nvSpPr>
          <p:cNvPr id="7" name="Text 4"/>
          <p:cNvSpPr txBox="1"/>
          <p:nvPr/>
        </p:nvSpPr>
        <p:spPr>
          <a:xfrm>
            <a:off x="548640" y="3118104"/>
            <a:ext cx="804672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Defects found and fixed during construction (from the ship report)</a:t>
            </a:r>
            <a:endParaRPr lang="en-US" sz="1100" dirty="0"/>
          </a:p>
        </p:txBody>
      </p:sp>
      <p:sp>
        <p:nvSpPr>
          <p:cNvPr id="8" name="Text 5"/>
          <p:cNvSpPr txBox="1"/>
          <p:nvPr/>
        </p:nvSpPr>
        <p:spPr>
          <a:xfrm>
            <a:off x="548640" y="3374136"/>
            <a:ext cx="8046720" cy="10515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 Audit hashes recomputed differently on read: Postgres stores microseconds, Go carries nanoseconds — every chain would have failed verification</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 inputs/outcome stored as JSONB normalised key order, so hashed bytes did not match stored bytes — changed to TEXT</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 A description column full of commas beat the real pipe delimiter in the delimiter scorer</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 bv or "" in the recon stub made a genuine zero indistinguishable from null (Decimal("0") is falsy)</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 Masking revealed short account numbers in full: "last four" of a four-character value is all of it</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 C — Repository map and how to run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Harbormaster · AI Systems Architecture Review · 25</a:t>
            </a:r>
            <a:endParaRPr lang="en-US" sz="800" dirty="0"/>
          </a:p>
        </p:txBody>
      </p:sp>
      <p:sp>
        <p:nvSpPr>
          <p:cNvPr id="5" name="Text 3"/>
          <p:cNvSpPr txBox="1"/>
          <p:nvPr/>
        </p:nvSpPr>
        <p:spPr>
          <a:xfrm>
            <a:off x="457200" y="1188720"/>
            <a:ext cx="5120640" cy="3017520"/>
          </a:xfrm>
          <a:prstGeom prst="rect">
            <a:avLst/>
          </a:prstGeom>
          <a:noFill/>
          <a:ln/>
        </p:spPr>
        <p:txBody>
          <a:bodyPr wrap="square" lIns="0" tIns="0" rIns="0" bIns="0" rtlCol="0" anchor="t"/>
          <a:lstStyle/>
          <a:p>
            <a:pPr indent="0" marL="0">
              <a:buNone/>
            </a:pPr>
            <a:r>
              <a:rPr lang="en-US" sz="750" dirty="0">
                <a:solidFill>
                  <a:srgbClr val="1B2A41"/>
                </a:solidFill>
                <a:latin typeface="Courier New" pitchFamily="34" charset="0"/>
                <a:ea typeface="Courier New" pitchFamily="34" charset="-122"/>
                <a:cs typeface="Courier New" pitchFamily="34" charset="-120"/>
              </a:rPr>
              <a:t>go/              portwatch, berthmaster, controlplane, auditcheck,</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                 internal/{arrival,audit,bus,contract,ingress,</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                 logging,masking,registry,slot,store,web}</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python/          inspector (parsers, mapping, valuedate,</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                 attribution, confidence), corpus, reconstub</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proto/           harbormaster.proto — single source of truth</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config/          clients/*.yaml, calendars/*.yaml</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bench/           onboard.py, golden/ — the fixed labelled corpus</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metrics/         headline.json, card.json, render.py (drift-checked)</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tests/scenarios/ the twelve adversarial fixtures, one test each</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docs/design/     requirements, HLD, LLD, execution plan, 20 ADRs</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docs/tasks/      50 task packs</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docs/pitch/      this deck</a:t>
            </a:r>
            <a:endParaRPr lang="en-US" sz="750" dirty="0"/>
          </a:p>
        </p:txBody>
      </p:sp>
      <p:sp>
        <p:nvSpPr>
          <p:cNvPr id="6" name="Shape 4"/>
          <p:cNvSpPr/>
          <p:nvPr/>
        </p:nvSpPr>
        <p:spPr>
          <a:xfrm>
            <a:off x="5760720" y="1188720"/>
            <a:ext cx="2926080" cy="3246120"/>
          </a:xfrm>
          <a:prstGeom prst="roundRect">
            <a:avLst>
              <a:gd name="adj" fmla="val 1875"/>
            </a:avLst>
          </a:prstGeom>
          <a:solidFill>
            <a:srgbClr val="1C2B4F"/>
          </a:solidFill>
          <a:ln w="9525">
            <a:solidFill>
              <a:srgbClr val="1C2B4F"/>
            </a:solidFill>
            <a:prstDash val="solid"/>
          </a:ln>
        </p:spPr>
      </p:sp>
      <p:sp>
        <p:nvSpPr>
          <p:cNvPr id="7" name="Text 5"/>
          <p:cNvSpPr txBox="1"/>
          <p:nvPr/>
        </p:nvSpPr>
        <p:spPr>
          <a:xfrm>
            <a:off x="5897880" y="1261872"/>
            <a:ext cx="2743200" cy="274320"/>
          </a:xfrm>
          <a:prstGeom prst="rect">
            <a:avLst/>
          </a:prstGeom>
          <a:noFill/>
          <a:ln/>
        </p:spPr>
        <p:txBody>
          <a:bodyPr wrap="square" lIns="0" tIns="0" rIns="0" bIns="0" rtlCol="0" anchor="ctr"/>
          <a:lstStyle/>
          <a:p>
            <a:pPr indent="0" marL="0">
              <a:buNone/>
            </a:pPr>
            <a:r>
              <a:rPr lang="en-US" sz="1100" b="1" dirty="0">
                <a:solidFill>
                  <a:srgbClr val="2EC4B6"/>
                </a:solidFill>
                <a:latin typeface="Calibri" pitchFamily="34" charset="0"/>
                <a:ea typeface="Calibri" pitchFamily="34" charset="-122"/>
                <a:cs typeface="Calibri" pitchFamily="34" charset="-120"/>
              </a:rPr>
              <a:t>Run it</a:t>
            </a:r>
            <a:endParaRPr lang="en-US" sz="1100" dirty="0"/>
          </a:p>
        </p:txBody>
      </p:sp>
      <p:sp>
        <p:nvSpPr>
          <p:cNvPr id="8" name="Text 6"/>
          <p:cNvSpPr txBox="1"/>
          <p:nvPr/>
        </p:nvSpPr>
        <p:spPr>
          <a:xfrm>
            <a:off x="5897880" y="1572768"/>
            <a:ext cx="2743200" cy="2788920"/>
          </a:xfrm>
          <a:prstGeom prst="rect">
            <a:avLst/>
          </a:prstGeom>
          <a:noFill/>
          <a:ln/>
        </p:spPr>
        <p:txBody>
          <a:bodyPr wrap="square" lIns="0" tIns="0" rIns="0" bIns="0" rtlCol="0" anchor="t"/>
          <a:lstStyle/>
          <a:p>
            <a:pPr indent="0" marL="0">
              <a:buNone/>
            </a:pPr>
            <a:r>
              <a:rPr lang="en-US" sz="850" dirty="0">
                <a:solidFill>
                  <a:srgbClr val="FFFFFF"/>
                </a:solidFill>
                <a:latin typeface="Courier New" pitchFamily="34" charset="0"/>
                <a:ea typeface="Courier New" pitchFamily="34" charset="-122"/>
                <a:cs typeface="Courier New" pitchFamily="34" charset="-120"/>
              </a:rPr>
              <a:t>cd go &amp;&amp; go mod tidy</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cd .. &amp;&amp; make check</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make bench &amp;&amp; make card</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make test-scenarios</a:t>
            </a:r>
            <a:endParaRPr lang="en-US" sz="850" dirty="0"/>
          </a:p>
          <a:p>
            <a:pPr indent="0" marL="0">
              <a:buNone/>
            </a:pP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with Docker (host-validated)</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make up</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make demo</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make verify-audit</a:t>
            </a:r>
            <a:endParaRPr lang="en-US" sz="850" dirty="0"/>
          </a:p>
          <a:p>
            <a:pPr indent="0" marL="0">
              <a:buNone/>
            </a:pP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the live model tier</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export HM_ADJUDICATOR=claude</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export ANTHROPIC_API_KEY=sk-...</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HM_LIVE=1 make test-live</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73736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Questions</a:t>
            </a:r>
            <a:endParaRPr lang="en-US" sz="3400" dirty="0"/>
          </a:p>
        </p:txBody>
      </p:sp>
      <p:sp>
        <p:nvSpPr>
          <p:cNvPr id="3" name="Text 1"/>
          <p:cNvSpPr txBox="1"/>
          <p:nvPr/>
        </p:nvSpPr>
        <p:spPr>
          <a:xfrm>
            <a:off x="548640" y="2606040"/>
            <a:ext cx="8046720" cy="548640"/>
          </a:xfrm>
          <a:prstGeom prst="rect">
            <a:avLst/>
          </a:prstGeom>
          <a:noFill/>
          <a:ln/>
        </p:spPr>
        <p:txBody>
          <a:bodyPr wrap="square" lIns="0" tIns="0" rIns="0" bIns="0" rtlCol="0" anchor="ctr"/>
          <a:lstStyle/>
          <a:p>
            <a:pPr indent="0" marL="0">
              <a:buNone/>
            </a:pPr>
            <a:r>
              <a:rPr lang="en-US" sz="1500" i="1" dirty="0">
                <a:solidFill>
                  <a:srgbClr val="DCE7F5"/>
                </a:solidFill>
                <a:latin typeface="Calibri" pitchFamily="34" charset="0"/>
                <a:ea typeface="Calibri" pitchFamily="34" charset="-122"/>
                <a:cs typeface="Calibri" pitchFamily="34" charset="-120"/>
              </a:rPr>
              <a:t>Harbormaster · roshanrana/harbormaster · design docs, decision log and runbook in the repository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Harbormaster — AI Systems Architecture Review</dc:title>
  <dc:subject>PptxGenJS Presentation</dc:subject>
  <dc:creator>Roshan Rana</dc:creator>
  <cp:lastModifiedBy>Roshan Rana</cp:lastModifiedBy>
  <cp:revision>1</cp:revision>
  <dcterms:created xsi:type="dcterms:W3CDTF">2026-09-12T23:55:34Z</dcterms:created>
  <dcterms:modified xsi:type="dcterms:W3CDTF">2026-09-12T23:55:34Z</dcterms:modified>
</cp:coreProperties>
</file>