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4213D"/>
                </a:solidFill>
                <a:latin typeface="Arial"/>
              </a:defRPr>
            </a:pPr>
            <a:r>
              <a:rPr sz="1000" b="0" i="0" u="none" strike="noStrike">
                <a:solidFill>
                  <a:srgbClr val="14213D"/>
                </a:solidFill>
                <a:latin typeface="Arial"/>
              </a:rPr>
              <a:t>Ratios (1.0 = target met)</a:t>
            </a:r>
          </a:p>
        </c:rich>
      </c:tx>
      <c:layout/>
      <c:overlay val="0"/>
    </c:title>
    <c:autoTitleDeleted val="0"/>
    <c:plotArea>
      <c:layout/>
      <c:barChart>
        <c:barDir val="bar"/>
        <c:grouping val="clustered"/>
        <c:varyColors val="0"/>
        <c:ser>
          <c:idx val="0"/>
          <c:order val="0"/>
          <c:tx>
            <c:strRef>
              <c:f>Sheet1!$B$1</c:f>
              <c:strCache>
                <c:ptCount val="1"/>
                <c:pt idx="0">
                  <c:v>Value</c:v>
                </c:pt>
              </c:strCache>
            </c:strRef>
          </c:tx>
          <c:spPr>
            <a:solidFill>
              <a:srgbClr val="2EC4B6"/>
            </a:solidFill>
            <a:effectLst/>
          </c:spPr>
          <c:invertIfNegative val="0"/>
          <c:dLbls>
            <c:numFmt formatCode="0.00" sourceLinked="0"/>
            <c:txPr>
              <a:bodyPr/>
              <a:lstStyle/>
              <a:p>
                <a:pPr>
                  <a:defRPr b="0" i="0" strike="noStrike" sz="900" u="none">
                    <a:solidFill>
                      <a:srgbClr val="1B2A41"/>
                    </a:solidFill>
                    <a:latin typeface="Arial"/>
                  </a:defRPr>
                </a:pPr>
              </a:p>
            </c:txPr>
            <c:showLegendKey val="0"/>
            <c:showVal val="1"/>
            <c:showCatName val="0"/>
            <c:showSerName val="0"/>
            <c:showPercent val="0"/>
            <c:showBubbleSize val="0"/>
            <c:showLeaderLines val="0"/>
          </c:dLbls>
          <c:cat>
            <c:multiLvlStrRef>
              <c:f>Sheet1!$A$2:$A$5</c:f>
              <c:multiLvlStrCache>
                <c:ptCount val="4"/>
                <c:lvl>
                  <c:pt idx="0">
                    <c:v>Field-mapping accuracy</c:v>
                  </c:pt>
                  <c:pt idx="1">
                    <c:v>Resolved w/o a model</c:v>
                  </c:pt>
                  <c:pt idx="2">
                    <c:v>Quarantine precision</c:v>
                  </c:pt>
                  <c:pt idx="3">
                    <c:v>Quarantine recall</c:v>
                  </c:pt>
                </c:lvl>
              </c:multiLvlStrCache>
            </c:multiLvlStrRef>
          </c:cat>
          <c:val>
            <c:numRef>
              <c:f>Sheet1!$B$2:$B$5</c:f>
              <c:numCache>
                <c:formatCode>General</c:formatCode>
                <c:ptCount val="4"/>
                <c:pt idx="0">
                  <c:v>0.977</c:v>
                </c:pt>
                <c:pt idx="1">
                  <c:v>0.808</c:v>
                </c:pt>
                <c:pt idx="2">
                  <c:v>1</c:v>
                </c:pt>
                <c:pt idx="3">
                  <c:v>0.667</c:v>
                </c:pt>
              </c:numCache>
            </c:numRef>
          </c:val>
        </c:ser>
        <c:dLbls>
          <c:numFmt formatCode="0.00" sourceLinked="0"/>
          <c:txPr>
            <a:bodyPr/>
            <a:lstStyle/>
            <a:p>
              <a:pPr>
                <a:defRPr b="0" i="0" strike="noStrike" sz="900" u="none">
                  <a:solidFill>
                    <a:srgbClr val="1B2A41"/>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1B2A41"/>
                </a:solidFill>
                <a:latin typeface="Arial"/>
              </a:defRPr>
            </a:pPr>
            <a:endParaRPr lang="en-US"/>
          </a:p>
        </c:txPr>
        <c:crossAx val="2094734552"/>
        <c:crosses val="autoZero"/>
        <c:auto val="1"/>
        <c:lblAlgn val="ctr"/>
        <c:noMultiLvlLbl val="1"/>
      </c:catAx>
      <c:valAx>
        <c:axId val="2094734552"/>
        <c:scaling>
          <c:orientation val="minMax"/>
          <c:max val="1.1"/>
          <c:min val="0"/>
        </c:scaling>
        <c:delete val="0"/>
        <c:axPos val="b"/>
        <c:majorGridlines>
          <c:spPr>
            <a:ln w="6350" cap="flat">
              <a:solidFill>
                <a:srgbClr val="C9D3E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B7A9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548640" y="1234440"/>
            <a:ext cx="731520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Harbormaster</a:t>
            </a:r>
            <a:endParaRPr lang="en-US" sz="4400" dirty="0"/>
          </a:p>
        </p:txBody>
      </p:sp>
      <p:sp>
        <p:nvSpPr>
          <p:cNvPr id="3" name="Text 1"/>
          <p:cNvSpPr txBox="1"/>
          <p:nvPr/>
        </p:nvSpPr>
        <p:spPr>
          <a:xfrm>
            <a:off x="548640" y="2011680"/>
            <a:ext cx="7315200" cy="457200"/>
          </a:xfrm>
          <a:prstGeom prst="rect">
            <a:avLst/>
          </a:prstGeom>
          <a:noFill/>
          <a:ln/>
        </p:spPr>
        <p:txBody>
          <a:bodyPr wrap="square" lIns="0" tIns="0" rIns="0" bIns="0" rtlCol="0" anchor="ctr"/>
          <a:lstStyle/>
          <a:p>
            <a:pPr indent="0" marL="0">
              <a:buNone/>
            </a:pPr>
            <a:r>
              <a:rPr lang="en-US" sz="2200" dirty="0">
                <a:solidFill>
                  <a:srgbClr val="DCE7F5"/>
                </a:solidFill>
                <a:latin typeface="Calibri" pitchFamily="34" charset="0"/>
                <a:ea typeface="Calibri" pitchFamily="34" charset="-122"/>
                <a:cs typeface="Calibri" pitchFamily="34" charset="-120"/>
              </a:rPr>
              <a:t>AI Systems Architecture Review</a:t>
            </a:r>
            <a:endParaRPr lang="en-US" sz="2200" dirty="0"/>
          </a:p>
        </p:txBody>
      </p:sp>
      <p:sp>
        <p:nvSpPr>
          <p:cNvPr id="4" name="Text 2"/>
          <p:cNvSpPr txBox="1"/>
          <p:nvPr/>
        </p:nvSpPr>
        <p:spPr>
          <a:xfrm>
            <a:off x="548640" y="2542032"/>
            <a:ext cx="7863840" cy="548640"/>
          </a:xfrm>
          <a:prstGeom prst="rect">
            <a:avLst/>
          </a:prstGeom>
          <a:noFill/>
          <a:ln/>
        </p:spPr>
        <p:txBody>
          <a:bodyPr wrap="square" lIns="0" tIns="0" rIns="0" bIns="0" rtlCol="0" anchor="ctr"/>
          <a:lstStyle/>
          <a:p>
            <a:pPr indent="0" marL="0">
              <a:buNone/>
            </a:pPr>
            <a:r>
              <a:rPr lang="en-US" sz="1300" i="1" dirty="0">
                <a:solidFill>
                  <a:srgbClr val="DCE7F5"/>
                </a:solidFill>
                <a:latin typeface="Calibri" pitchFamily="34" charset="0"/>
                <a:ea typeface="Calibri" pitchFamily="34" charset="-122"/>
                <a:cs typeface="Calibri" pitchFamily="34" charset="-120"/>
              </a:rPr>
              <a:t>Intelligent file-arrival control for financial reconciliation — a three-tier mapping ladder, quarantine and four-eyes review, hash-chained audit</a:t>
            </a:r>
            <a:endParaRPr lang="en-US" sz="1300" dirty="0"/>
          </a:p>
        </p:txBody>
      </p:sp>
      <p:sp>
        <p:nvSpPr>
          <p:cNvPr id="5" name="Text 3"/>
          <p:cNvSpPr txBox="1"/>
          <p:nvPr/>
        </p:nvSpPr>
        <p:spPr>
          <a:xfrm>
            <a:off x="548640" y="4206240"/>
            <a:ext cx="8046720" cy="274320"/>
          </a:xfrm>
          <a:prstGeom prst="rect">
            <a:avLst/>
          </a:prstGeom>
          <a:noFill/>
          <a:ln/>
        </p:spPr>
        <p:txBody>
          <a:bodyPr wrap="square" lIns="0" tIns="0" rIns="0" bIns="0" rtlCol="0" anchor="ctr"/>
          <a:lstStyle/>
          <a:p>
            <a:pPr indent="0" marL="0">
              <a:buNone/>
            </a:pPr>
            <a:r>
              <a:rPr lang="en-US" sz="1000" dirty="0">
                <a:solidFill>
                  <a:srgbClr val="6B7A90"/>
                </a:solidFill>
                <a:latin typeface="Calibri" pitchFamily="34" charset="0"/>
                <a:ea typeface="Calibri" pitchFamily="34" charset="-122"/>
                <a:cs typeface="Calibri" pitchFamily="34" charset="-120"/>
              </a:rPr>
              <a:t>Ship readiness complete · 12 September 2026 · Roshan Rana, AI Systems Architect</a:t>
            </a:r>
            <a:endParaRPr lang="en-US" sz="1000" dirty="0"/>
          </a:p>
        </p:txBody>
      </p:sp>
      <p:sp>
        <p:nvSpPr>
          <p:cNvPr id="6" name="Shape 4"/>
          <p:cNvSpPr/>
          <p:nvPr/>
        </p:nvSpPr>
        <p:spPr>
          <a:xfrm>
            <a:off x="7498080" y="1097280"/>
            <a:ext cx="1005840" cy="1005840"/>
          </a:xfrm>
          <a:prstGeom prst="ellipse">
            <a:avLst/>
          </a:prstGeom>
          <a:solidFill>
            <a:srgbClr val="2EC4B6"/>
          </a:solidFill>
          <a:ln w="12700">
            <a:solidFill>
              <a:srgbClr val="2EC4B6"/>
            </a:solidFill>
            <a:prstDash val="solid"/>
          </a:ln>
        </p:spPr>
      </p:sp>
      <p:sp>
        <p:nvSpPr>
          <p:cNvPr id="7" name="Text 5"/>
          <p:cNvSpPr txBox="1"/>
          <p:nvPr/>
        </p:nvSpPr>
        <p:spPr>
          <a:xfrm>
            <a:off x="7498080" y="1097280"/>
            <a:ext cx="1005840" cy="1005840"/>
          </a:xfrm>
          <a:prstGeom prst="rect">
            <a:avLst/>
          </a:prstGeom>
          <a:noFill/>
          <a:ln/>
        </p:spPr>
        <p:txBody>
          <a:bodyPr wrap="square" lIns="0" tIns="0" rIns="0" bIns="0" rtlCol="0" anchor="ctr"/>
          <a:lstStyle/>
          <a:p>
            <a:pPr algn="ctr" indent="0" marL="0">
              <a:buNone/>
            </a:pPr>
            <a:r>
              <a:rPr lang="en-US" sz="4000" b="1" dirty="0">
                <a:solidFill>
                  <a:srgbClr val="14213D"/>
                </a:solidFill>
                <a:latin typeface="Cambria" pitchFamily="34" charset="0"/>
                <a:ea typeface="Cambria" pitchFamily="34" charset="-122"/>
                <a:cs typeface="Cambria" pitchFamily="34" charset="-120"/>
              </a:rPr>
              <a:t>H</a:t>
            </a:r>
            <a:endParaRPr lang="en-US" sz="4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5486400" cy="228600"/>
          </a:xfrm>
          <a:prstGeom prst="rect">
            <a:avLst/>
          </a:prstGeom>
          <a:noFill/>
          <a:ln/>
        </p:spPr>
        <p:txBody>
          <a:bodyPr wrap="square" lIns="0" tIns="0" rIns="0" bIns="0" rtlCol="0" anchor="ctr"/>
          <a:lstStyle/>
          <a:p>
            <a:pPr indent="0" marL="0">
              <a:buNone/>
            </a:pPr>
            <a:r>
              <a:rPr lang="en-US" sz="1000" b="1" spc="200" kern="0" dirty="0">
                <a:solidFill>
                  <a:srgbClr val="2EC4B6"/>
                </a:solidFill>
                <a:latin typeface="Calibri" pitchFamily="34" charset="0"/>
                <a:ea typeface="Calibri" pitchFamily="34" charset="-122"/>
                <a:cs typeface="Calibri" pitchFamily="34" charset="-120"/>
              </a:rPr>
              <a:t>OVERVIEW</a:t>
            </a:r>
            <a:endParaRPr lang="en-US" sz="1000" dirty="0"/>
          </a:p>
        </p:txBody>
      </p:sp>
      <p:sp>
        <p:nvSpPr>
          <p:cNvPr id="3" name="Text 1"/>
          <p:cNvSpPr txBox="1"/>
          <p:nvPr/>
        </p:nvSpPr>
        <p:spPr>
          <a:xfrm>
            <a:off x="457200" y="457200"/>
            <a:ext cx="8229600" cy="548640"/>
          </a:xfrm>
          <a:prstGeom prst="rect">
            <a:avLst/>
          </a:prstGeom>
          <a:noFill/>
          <a:ln/>
        </p:spPr>
        <p:txBody>
          <a:bodyPr wrap="square" lIns="0" tIns="0" rIns="0" bIns="0" rtlCol="0" anchor="ctr"/>
          <a:lstStyle/>
          <a:p>
            <a:pPr indent="0" marL="0">
              <a:buNone/>
            </a:pPr>
            <a:r>
              <a:rPr lang="en-US" sz="2600" b="1" dirty="0">
                <a:solidFill>
                  <a:srgbClr val="14213D"/>
                </a:solidFill>
                <a:latin typeface="Cambria" pitchFamily="34" charset="0"/>
                <a:ea typeface="Cambria" pitchFamily="34" charset="-122"/>
                <a:cs typeface="Cambria" pitchFamily="34" charset="-120"/>
              </a:rPr>
              <a:t>Executive summary</a:t>
            </a:r>
            <a:endParaRPr lang="en-US" sz="2600" dirty="0"/>
          </a:p>
        </p:txBody>
      </p:sp>
      <p:sp>
        <p:nvSpPr>
          <p:cNvPr id="4" name="Text 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800" dirty="0">
                <a:solidFill>
                  <a:srgbClr val="6B7A90"/>
                </a:solidFill>
                <a:latin typeface="Calibri" pitchFamily="34" charset="0"/>
                <a:ea typeface="Calibri" pitchFamily="34" charset="-122"/>
                <a:cs typeface="Calibri" pitchFamily="34" charset="-120"/>
              </a:rPr>
              <a:t>Harbormaster · AI Systems Architecture Review · 2</a:t>
            </a:r>
            <a:endParaRPr lang="en-US" sz="800" dirty="0"/>
          </a:p>
        </p:txBody>
      </p:sp>
      <p:sp>
        <p:nvSpPr>
          <p:cNvPr id="5" name="Shape 3"/>
          <p:cNvSpPr/>
          <p:nvPr/>
        </p:nvSpPr>
        <p:spPr>
          <a:xfrm>
            <a:off x="457200" y="1188720"/>
            <a:ext cx="2651760" cy="2971800"/>
          </a:xfrm>
          <a:prstGeom prst="roundRect">
            <a:avLst>
              <a:gd name="adj" fmla="val 2069"/>
            </a:avLst>
          </a:prstGeom>
          <a:solidFill>
            <a:srgbClr val="F3F6FA"/>
          </a:solidFill>
          <a:ln w="9525">
            <a:solidFill>
              <a:srgbClr val="C9D3E0"/>
            </a:solidFill>
            <a:prstDash val="solid"/>
          </a:ln>
        </p:spPr>
      </p:sp>
      <p:sp>
        <p:nvSpPr>
          <p:cNvPr id="6" name="Text 4"/>
          <p:cNvSpPr txBox="1"/>
          <p:nvPr/>
        </p:nvSpPr>
        <p:spPr>
          <a:xfrm>
            <a:off x="594360" y="1280160"/>
            <a:ext cx="2377440" cy="320040"/>
          </a:xfrm>
          <a:prstGeom prst="rect">
            <a:avLst/>
          </a:prstGeom>
          <a:noFill/>
          <a:ln/>
        </p:spPr>
        <p:txBody>
          <a:bodyPr wrap="square" lIns="0" tIns="0" rIns="0" bIns="0" rtlCol="0" anchor="ctr"/>
          <a:lstStyle/>
          <a:p>
            <a:pPr indent="0" marL="0">
              <a:buNone/>
            </a:pPr>
            <a:r>
              <a:rPr lang="en-US" sz="1500" b="1" dirty="0">
                <a:solidFill>
                  <a:srgbClr val="14213D"/>
                </a:solidFill>
                <a:latin typeface="Cambria" pitchFamily="34" charset="0"/>
                <a:ea typeface="Cambria" pitchFamily="34" charset="-122"/>
                <a:cs typeface="Cambria" pitchFamily="34" charset="-120"/>
              </a:rPr>
              <a:t>What it is</a:t>
            </a:r>
            <a:endParaRPr lang="en-US" sz="1500" dirty="0"/>
          </a:p>
        </p:txBody>
      </p:sp>
      <p:sp>
        <p:nvSpPr>
          <p:cNvPr id="7" name="Text 5"/>
          <p:cNvSpPr txBox="1"/>
          <p:nvPr/>
        </p:nvSpPr>
        <p:spPr>
          <a:xfrm>
            <a:off x="594360" y="1691640"/>
            <a:ext cx="2377440" cy="237744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1B2A41"/>
                </a:solidFill>
                <a:latin typeface="Calibri" pitchFamily="34" charset="0"/>
                <a:ea typeface="Calibri" pitchFamily="34" charset="-122"/>
                <a:cs typeface="Calibri" pitchFamily="34" charset="-120"/>
              </a:rPr>
              <a:t>The control layer between a bank's FTP landing directory / JSON queue and its reconciliation engine: six event-driven services (Go + Python) that decide which client a file belongs to, which value date it describes, and how its columns map onto one canonical schema.</a:t>
            </a:r>
            <a:endParaRPr lang="en-US" sz="1050" dirty="0"/>
          </a:p>
          <a:p>
            <a:pPr marL="342900" indent="-342900">
              <a:spcAft>
                <a:spcPts val="400"/>
              </a:spcAft>
              <a:buSzPct val="100000"/>
              <a:buChar char="•"/>
            </a:pPr>
            <a:r>
              <a:rPr lang="en-US" sz="1050" dirty="0">
                <a:solidFill>
                  <a:srgbClr val="1B2A41"/>
                </a:solidFill>
                <a:latin typeface="Calibri" pitchFamily="34" charset="0"/>
                <a:ea typeface="Calibri" pitchFamily="34" charset="-122"/>
                <a:cs typeface="Calibri" pitchFamily="34" charset="-120"/>
              </a:rPr>
              <a:t>It declines when it cannot decide, quarantines for a human, and records why.</a:t>
            </a:r>
            <a:endParaRPr lang="en-US" sz="1050" dirty="0"/>
          </a:p>
        </p:txBody>
      </p:sp>
      <p:sp>
        <p:nvSpPr>
          <p:cNvPr id="8" name="Shape 6"/>
          <p:cNvSpPr/>
          <p:nvPr/>
        </p:nvSpPr>
        <p:spPr>
          <a:xfrm>
            <a:off x="3246120" y="1188720"/>
            <a:ext cx="2651760" cy="2971800"/>
          </a:xfrm>
          <a:prstGeom prst="roundRect">
            <a:avLst>
              <a:gd name="adj" fmla="val 2069"/>
            </a:avLst>
          </a:prstGeom>
          <a:solidFill>
            <a:srgbClr val="F3F6FA"/>
          </a:solidFill>
          <a:ln w="9525">
            <a:solidFill>
              <a:srgbClr val="C9D3E0"/>
            </a:solidFill>
            <a:prstDash val="solid"/>
          </a:ln>
        </p:spPr>
      </p:sp>
      <p:sp>
        <p:nvSpPr>
          <p:cNvPr id="9" name="Text 7"/>
          <p:cNvSpPr txBox="1"/>
          <p:nvPr/>
        </p:nvSpPr>
        <p:spPr>
          <a:xfrm>
            <a:off x="3383280" y="1280160"/>
            <a:ext cx="2377440" cy="320040"/>
          </a:xfrm>
          <a:prstGeom prst="rect">
            <a:avLst/>
          </a:prstGeom>
          <a:noFill/>
          <a:ln/>
        </p:spPr>
        <p:txBody>
          <a:bodyPr wrap="square" lIns="0" tIns="0" rIns="0" bIns="0" rtlCol="0" anchor="ctr"/>
          <a:lstStyle/>
          <a:p>
            <a:pPr indent="0" marL="0">
              <a:buNone/>
            </a:pPr>
            <a:r>
              <a:rPr lang="en-US" sz="1500" b="1" dirty="0">
                <a:solidFill>
                  <a:srgbClr val="14213D"/>
                </a:solidFill>
                <a:latin typeface="Cambria" pitchFamily="34" charset="0"/>
                <a:ea typeface="Cambria" pitchFamily="34" charset="-122"/>
                <a:cs typeface="Cambria" pitchFamily="34" charset="-120"/>
              </a:rPr>
              <a:t>What it proves</a:t>
            </a:r>
            <a:endParaRPr lang="en-US" sz="1500" dirty="0"/>
          </a:p>
        </p:txBody>
      </p:sp>
      <p:sp>
        <p:nvSpPr>
          <p:cNvPr id="10" name="Text 8"/>
          <p:cNvSpPr txBox="1"/>
          <p:nvPr/>
        </p:nvSpPr>
        <p:spPr>
          <a:xfrm>
            <a:off x="3383280" y="1691640"/>
            <a:ext cx="2377440" cy="237744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1B2A41"/>
                </a:solidFill>
                <a:latin typeface="Calibri" pitchFamily="34" charset="0"/>
                <a:ea typeface="Calibri" pitchFamily="34" charset="-122"/>
                <a:cs typeface="Calibri" pitchFamily="34" charset="-120"/>
              </a:rPr>
              <a:t>A three-tier mapping ladder — alias dictionary, then fuzzy match, then a model — whose model dependence falls over time as confirmed mappings are cached and promoted into configuration.</a:t>
            </a:r>
            <a:endParaRPr lang="en-US" sz="1050" dirty="0"/>
          </a:p>
          <a:p>
            <a:pPr marL="342900" indent="-342900">
              <a:spcAft>
                <a:spcPts val="400"/>
              </a:spcAft>
              <a:buSzPct val="100000"/>
              <a:buChar char="•"/>
            </a:pPr>
            <a:r>
              <a:rPr lang="en-US" sz="1050" dirty="0">
                <a:solidFill>
                  <a:srgbClr val="1B2A41"/>
                </a:solidFill>
                <a:latin typeface="Calibri" pitchFamily="34" charset="0"/>
                <a:ea typeface="Calibri" pitchFamily="34" charset="-122"/>
                <a:cs typeface="Calibri" pitchFamily="34" charset="-120"/>
              </a:rPr>
              <a:t>97.7% field-mapping accuracy and 80.8% resolved without a model, measured against a 214-column hand-labelled corpus by a bench harness that reproduces the same numbers on every run.</a:t>
            </a:r>
            <a:endParaRPr lang="en-US" sz="1050" dirty="0"/>
          </a:p>
        </p:txBody>
      </p:sp>
      <p:sp>
        <p:nvSpPr>
          <p:cNvPr id="11" name="Shape 9"/>
          <p:cNvSpPr/>
          <p:nvPr/>
        </p:nvSpPr>
        <p:spPr>
          <a:xfrm>
            <a:off x="6035040" y="1188720"/>
            <a:ext cx="2651760" cy="2971800"/>
          </a:xfrm>
          <a:prstGeom prst="roundRect">
            <a:avLst>
              <a:gd name="adj" fmla="val 2069"/>
            </a:avLst>
          </a:prstGeom>
          <a:solidFill>
            <a:srgbClr val="F3F6FA"/>
          </a:solidFill>
          <a:ln w="9525">
            <a:solidFill>
              <a:srgbClr val="C9D3E0"/>
            </a:solidFill>
            <a:prstDash val="solid"/>
          </a:ln>
        </p:spPr>
      </p:sp>
      <p:sp>
        <p:nvSpPr>
          <p:cNvPr id="12" name="Text 10"/>
          <p:cNvSpPr txBox="1"/>
          <p:nvPr/>
        </p:nvSpPr>
        <p:spPr>
          <a:xfrm>
            <a:off x="6172200" y="1280160"/>
            <a:ext cx="2377440" cy="320040"/>
          </a:xfrm>
          <a:prstGeom prst="rect">
            <a:avLst/>
          </a:prstGeom>
          <a:noFill/>
          <a:ln/>
        </p:spPr>
        <p:txBody>
          <a:bodyPr wrap="square" lIns="0" tIns="0" rIns="0" bIns="0" rtlCol="0" anchor="ctr"/>
          <a:lstStyle/>
          <a:p>
            <a:pPr indent="0" marL="0">
              <a:buNone/>
            </a:pPr>
            <a:r>
              <a:rPr lang="en-US" sz="1500" b="1" dirty="0">
                <a:solidFill>
                  <a:srgbClr val="14213D"/>
                </a:solidFill>
                <a:latin typeface="Cambria" pitchFamily="34" charset="0"/>
                <a:ea typeface="Cambria" pitchFamily="34" charset="-122"/>
                <a:cs typeface="Cambria" pitchFamily="34" charset="-120"/>
              </a:rPr>
              <a:t>Why it is enterprise-ready</a:t>
            </a:r>
            <a:endParaRPr lang="en-US" sz="1500" dirty="0"/>
          </a:p>
        </p:txBody>
      </p:sp>
      <p:sp>
        <p:nvSpPr>
          <p:cNvPr id="13" name="Text 11"/>
          <p:cNvSpPr txBox="1"/>
          <p:nvPr/>
        </p:nvSpPr>
        <p:spPr>
          <a:xfrm>
            <a:off x="6172200" y="1691640"/>
            <a:ext cx="2377440" cy="237744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1B2A41"/>
                </a:solidFill>
                <a:latin typeface="Calibri" pitchFamily="34" charset="0"/>
                <a:ea typeface="Calibri" pitchFamily="34" charset="-122"/>
                <a:cs typeface="Calibri" pitchFamily="34" charset="-120"/>
              </a:rPr>
              <a:t>Hash-chained, tamper-evident audit (an edited or deleted record is detected and the chain fails closed); quarantine with four-eyes review; masking of account numbers by default.</a:t>
            </a:r>
            <a:endParaRPr lang="en-US" sz="1050" dirty="0"/>
          </a:p>
          <a:p>
            <a:pPr marL="342900" indent="-342900">
              <a:spcAft>
                <a:spcPts val="400"/>
              </a:spcAft>
              <a:buSzPct val="100000"/>
              <a:buChar char="•"/>
            </a:pPr>
            <a:r>
              <a:rPr lang="en-US" sz="1050" dirty="0">
                <a:solidFill>
                  <a:srgbClr val="1B2A41"/>
                </a:solidFill>
                <a:latin typeface="Calibri" pitchFamily="34" charset="0"/>
                <a:ea typeface="Calibri" pitchFamily="34" charset="-122"/>
                <a:cs typeface="Calibri" pitchFamily="34" charset="-120"/>
              </a:rPr>
              <a:t>20 architecture decisions, 50 task packs, twelve named adversarial fixtures, 347 tests passing offline in this run, CI running the same gate.</a:t>
            </a:r>
            <a:endParaRPr lang="en-US" sz="1050" dirty="0"/>
          </a:p>
        </p:txBody>
      </p:sp>
      <p:sp>
        <p:nvSpPr>
          <p:cNvPr id="14" name="Text 12"/>
          <p:cNvSpPr txBox="1"/>
          <p:nvPr/>
        </p:nvSpPr>
        <p:spPr>
          <a:xfrm>
            <a:off x="457200" y="4297680"/>
            <a:ext cx="8229600" cy="411480"/>
          </a:xfrm>
          <a:prstGeom prst="rect">
            <a:avLst/>
          </a:prstGeom>
          <a:noFill/>
          <a:ln/>
        </p:spPr>
        <p:txBody>
          <a:bodyPr wrap="square" lIns="0" tIns="0" rIns="0" bIns="0" rtlCol="0" anchor="ctr"/>
          <a:lstStyle/>
          <a:p>
            <a:pPr indent="0" marL="0">
              <a:buNone/>
            </a:pPr>
            <a:r>
              <a:rPr lang="en-US" sz="1000" i="1" dirty="0">
                <a:solidFill>
                  <a:srgbClr val="1B2A41"/>
                </a:solidFill>
                <a:latin typeface="Calibri" pitchFamily="34" charset="0"/>
                <a:ea typeface="Calibri" pitchFamily="34" charset="-122"/>
                <a:cs typeface="Calibri" pitchFamily="34" charset="-120"/>
              </a:rPr>
              <a:t>Ask of the audience: agree the pilot scope (host-validated Docker run of make up / make test-e2e / HM_LIVE=1 make test-live, load test against the NFR-2 latency target) and whether Tier 2 embeddings (fastembed) ship enabled or degraded.</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5486400" cy="228600"/>
          </a:xfrm>
          <a:prstGeom prst="rect">
            <a:avLst/>
          </a:prstGeom>
          <a:noFill/>
          <a:ln/>
        </p:spPr>
        <p:txBody>
          <a:bodyPr wrap="square" lIns="0" tIns="0" rIns="0" bIns="0" rtlCol="0" anchor="ctr"/>
          <a:lstStyle/>
          <a:p>
            <a:pPr indent="0" marL="0">
              <a:buNone/>
            </a:pPr>
            <a:r>
              <a:rPr lang="en-US" sz="1000" b="1" spc="200" kern="0" dirty="0">
                <a:solidFill>
                  <a:srgbClr val="2EC4B6"/>
                </a:solidFill>
                <a:latin typeface="Calibri" pitchFamily="34" charset="0"/>
                <a:ea typeface="Calibri" pitchFamily="34" charset="-122"/>
                <a:cs typeface="Calibri" pitchFamily="34" charset="-120"/>
              </a:rPr>
              <a:t>CONTEXT</a:t>
            </a:r>
            <a:endParaRPr lang="en-US" sz="1000" dirty="0"/>
          </a:p>
        </p:txBody>
      </p:sp>
      <p:sp>
        <p:nvSpPr>
          <p:cNvPr id="3" name="Text 1"/>
          <p:cNvSpPr txBox="1"/>
          <p:nvPr/>
        </p:nvSpPr>
        <p:spPr>
          <a:xfrm>
            <a:off x="457200" y="457200"/>
            <a:ext cx="8229600" cy="548640"/>
          </a:xfrm>
          <a:prstGeom prst="rect">
            <a:avLst/>
          </a:prstGeom>
          <a:noFill/>
          <a:ln/>
        </p:spPr>
        <p:txBody>
          <a:bodyPr wrap="square" lIns="0" tIns="0" rIns="0" bIns="0" rtlCol="0" anchor="ctr"/>
          <a:lstStyle/>
          <a:p>
            <a:pPr indent="0" marL="0">
              <a:buNone/>
            </a:pPr>
            <a:r>
              <a:rPr lang="en-US" sz="2600" b="1" dirty="0">
                <a:solidFill>
                  <a:srgbClr val="14213D"/>
                </a:solidFill>
                <a:latin typeface="Cambria" pitchFamily="34" charset="0"/>
                <a:ea typeface="Cambria" pitchFamily="34" charset="-122"/>
                <a:cs typeface="Cambria" pitchFamily="34" charset="-120"/>
              </a:rPr>
              <a:t>The problem and the users</a:t>
            </a:r>
            <a:endParaRPr lang="en-US" sz="2600" dirty="0"/>
          </a:p>
        </p:txBody>
      </p:sp>
      <p:sp>
        <p:nvSpPr>
          <p:cNvPr id="4" name="Text 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800" dirty="0">
                <a:solidFill>
                  <a:srgbClr val="6B7A90"/>
                </a:solidFill>
                <a:latin typeface="Calibri" pitchFamily="34" charset="0"/>
                <a:ea typeface="Calibri" pitchFamily="34" charset="-122"/>
                <a:cs typeface="Calibri" pitchFamily="34" charset="-120"/>
              </a:rPr>
              <a:t>Harbormaster · AI Systems Architecture Review · 3</a:t>
            </a:r>
            <a:endParaRPr lang="en-US" sz="800" dirty="0"/>
          </a:p>
        </p:txBody>
      </p:sp>
      <p:sp>
        <p:nvSpPr>
          <p:cNvPr id="5" name="Shape 3"/>
          <p:cNvSpPr/>
          <p:nvPr/>
        </p:nvSpPr>
        <p:spPr>
          <a:xfrm>
            <a:off x="457200" y="1188720"/>
            <a:ext cx="3931920" cy="1600200"/>
          </a:xfrm>
          <a:prstGeom prst="roundRect">
            <a:avLst>
              <a:gd name="adj" fmla="val 3429"/>
            </a:avLst>
          </a:prstGeom>
          <a:solidFill>
            <a:srgbClr val="F3F6FA"/>
          </a:solidFill>
          <a:ln w="9525">
            <a:solidFill>
              <a:srgbClr val="C9D3E0"/>
            </a:solidFill>
            <a:prstDash val="solid"/>
          </a:ln>
        </p:spPr>
      </p:sp>
      <p:sp>
        <p:nvSpPr>
          <p:cNvPr id="6" name="Text 4"/>
          <p:cNvSpPr txBox="1"/>
          <p:nvPr/>
        </p:nvSpPr>
        <p:spPr>
          <a:xfrm>
            <a:off x="548640" y="1243584"/>
            <a:ext cx="3749040" cy="256032"/>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The bank's problem</a:t>
            </a:r>
            <a:endParaRPr lang="en-US" sz="1100" dirty="0"/>
          </a:p>
        </p:txBody>
      </p:sp>
      <p:sp>
        <p:nvSpPr>
          <p:cNvPr id="7" name="Text 5"/>
          <p:cNvSpPr txBox="1"/>
          <p:nvPr/>
        </p:nvSpPr>
        <p:spPr>
          <a:xfrm>
            <a:off x="548640" y="1499616"/>
            <a:ext cx="3749040" cy="1234440"/>
          </a:xfrm>
          <a:prstGeom prst="rect">
            <a:avLst/>
          </a:prstGeom>
          <a:noFill/>
          <a:ln/>
        </p:spPr>
        <p:txBody>
          <a:bodyPr wrap="square" lIns="0" tIns="0" rIns="0" bIns="0" rtlCol="0" anchor="t"/>
          <a:lstStyle/>
          <a:p>
            <a:pPr indent="0" marL="0">
              <a:buNone/>
            </a:pPr>
            <a:r>
              <a:rPr lang="en-US" sz="1000" dirty="0">
                <a:solidFill>
                  <a:srgbClr val="1B2A41"/>
                </a:solidFill>
                <a:latin typeface="Calibri" pitchFamily="34" charset="0"/>
                <a:ea typeface="Calibri" pitchFamily="34" charset="-122"/>
                <a:cs typeface="Calibri" pitchFamily="34" charset="-120"/>
              </a:rPr>
              <a:t>Client, custodian and exchange reports land all day into one FTP directory as CSV, Excel, XML, FIXML and free-text email, plus a parallel JSON queue. Every venue names its columns differently, filenames are unreliable, and a file produced late at the client carries yesterday's business under today's date.</a:t>
            </a:r>
            <a:endParaRPr lang="en-US" sz="1000" dirty="0"/>
          </a:p>
        </p:txBody>
      </p:sp>
      <p:sp>
        <p:nvSpPr>
          <p:cNvPr id="8" name="Shape 6"/>
          <p:cNvSpPr/>
          <p:nvPr/>
        </p:nvSpPr>
        <p:spPr>
          <a:xfrm>
            <a:off x="4754880" y="1188720"/>
            <a:ext cx="3931920" cy="1600200"/>
          </a:xfrm>
          <a:prstGeom prst="roundRect">
            <a:avLst>
              <a:gd name="adj" fmla="val 3429"/>
            </a:avLst>
          </a:prstGeom>
          <a:solidFill>
            <a:srgbClr val="F3F6FA"/>
          </a:solidFill>
          <a:ln w="9525">
            <a:solidFill>
              <a:srgbClr val="C9D3E0"/>
            </a:solidFill>
            <a:prstDash val="solid"/>
          </a:ln>
        </p:spPr>
      </p:sp>
      <p:sp>
        <p:nvSpPr>
          <p:cNvPr id="9" name="Text 7"/>
          <p:cNvSpPr txBox="1"/>
          <p:nvPr/>
        </p:nvSpPr>
        <p:spPr>
          <a:xfrm>
            <a:off x="4846320" y="1243584"/>
            <a:ext cx="3749040" cy="256032"/>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The engine's constraint</a:t>
            </a:r>
            <a:endParaRPr lang="en-US" sz="1100" dirty="0"/>
          </a:p>
        </p:txBody>
      </p:sp>
      <p:sp>
        <p:nvSpPr>
          <p:cNvPr id="10" name="Text 8"/>
          <p:cNvSpPr txBox="1"/>
          <p:nvPr/>
        </p:nvSpPr>
        <p:spPr>
          <a:xfrm>
            <a:off x="4846320" y="1499616"/>
            <a:ext cx="3749040" cy="1234440"/>
          </a:xfrm>
          <a:prstGeom prst="rect">
            <a:avLst/>
          </a:prstGeom>
          <a:noFill/>
          <a:ln/>
        </p:spPr>
        <p:txBody>
          <a:bodyPr wrap="square" lIns="0" tIns="0" rIns="0" bIns="0" rtlCol="0" anchor="t"/>
          <a:lstStyle/>
          <a:p>
            <a:pPr indent="0" marL="0">
              <a:buNone/>
            </a:pPr>
            <a:r>
              <a:rPr lang="en-US" sz="1000" dirty="0">
                <a:solidFill>
                  <a:srgbClr val="1B2A41"/>
                </a:solidFill>
                <a:latin typeface="Calibri" pitchFamily="34" charset="0"/>
                <a:ea typeface="Calibri" pitchFamily="34" charset="-122"/>
                <a:cs typeface="Calibri" pitchFamily="34" charset="-120"/>
              </a:rPr>
              <a:t>The downstream reconciliation engine is deliberately simple: it matches records for an expected file on each side. It has no opinion about which client, which value date, or which of four price columns is the trade price. It has to be told — correctly, or not at all.</a:t>
            </a:r>
            <a:endParaRPr lang="en-US" sz="1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2971800"/>
          <a:ext cx="8229600" cy="914400"/>
        </p:xfrm>
        <a:graphic>
          <a:graphicData uri="http://schemas.openxmlformats.org/drawingml/2006/table">
            <a:tbl>
              <a:tblPr/>
              <a:tblGrid>
                <a:gridCol w="2377440"/>
                <a:gridCol w="4389120"/>
                <a:gridCol w="1463040"/>
              </a:tblGrid>
              <a:tr h="0">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Actor</a:t>
                      </a:r>
                      <a:endParaRPr lang="en-US" sz="9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Needs</a:t>
                      </a:r>
                      <a:endParaRPr lang="en-US" sz="9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Frequency</a:t>
                      </a:r>
                      <a:endParaRPr lang="en-US" sz="9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solidFill>
                      <a:srgbClr val="14213D"/>
                    </a:solidFill>
                  </a:tcPr>
                </a:tc>
              </a:tr>
              <a:tr h="0">
                <a:tc>
                  <a:txBody>
                    <a:bodyPr/>
                    <a:lstStyle/>
                    <a:p>
                      <a:pPr indent="0" marL="0">
                        <a:buNone/>
                      </a:pPr>
                      <a:r>
                        <a:rPr lang="en-US" sz="900" dirty="0">
                          <a:solidFill>
                            <a:srgbClr val="1B2A41"/>
                          </a:solidFill>
                          <a:latin typeface="Calibri" pitchFamily="34" charset="0"/>
                          <a:ea typeface="Calibri" pitchFamily="34" charset="-122"/>
                          <a:cs typeface="Calibri" pitchFamily="34" charset="-120"/>
                        </a:rPr>
                        <a:t>Reconciliation engine (downstream)</a:t>
                      </a:r>
                      <a:endParaRPr lang="en-US" sz="9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900" dirty="0">
                          <a:solidFill>
                            <a:srgbClr val="1B2A41"/>
                          </a:solidFill>
                          <a:latin typeface="Calibri" pitchFamily="34" charset="0"/>
                          <a:ea typeface="Calibri" pitchFamily="34" charset="-122"/>
                          <a:cs typeface="Calibri" pitchFamily="34" charset="-120"/>
                        </a:rPr>
                        <a:t>One canonical Parquet schema per file, with client, value date and side already resolved</a:t>
                      </a:r>
                      <a:endParaRPr lang="en-US" sz="9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900" dirty="0">
                          <a:solidFill>
                            <a:srgbClr val="1B2A41"/>
                          </a:solidFill>
                          <a:latin typeface="Calibri" pitchFamily="34" charset="0"/>
                          <a:ea typeface="Calibri" pitchFamily="34" charset="-122"/>
                          <a:cs typeface="Calibri" pitchFamily="34" charset="-120"/>
                        </a:rPr>
                        <a:t>Continuous, all day</a:t>
                      </a:r>
                      <a:endParaRPr lang="en-US" sz="9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r>
              <a:tr h="0">
                <a:tc>
                  <a:txBody>
                    <a:bodyPr/>
                    <a:lstStyle/>
                    <a:p>
                      <a:pPr indent="0" marL="0">
                        <a:buNone/>
                      </a:pPr>
                      <a:r>
                        <a:rPr lang="en-US" sz="900" dirty="0">
                          <a:solidFill>
                            <a:srgbClr val="1B2A41"/>
                          </a:solidFill>
                          <a:latin typeface="Calibri" pitchFamily="34" charset="0"/>
                          <a:ea typeface="Calibri" pitchFamily="34" charset="-122"/>
                          <a:cs typeface="Calibri" pitchFamily="34" charset="-120"/>
                        </a:rPr>
                        <a:t>Four-eyes reviewer</a:t>
                      </a:r>
                      <a:endParaRPr lang="en-US" sz="9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900" dirty="0">
                          <a:solidFill>
                            <a:srgbClr val="1B2A41"/>
                          </a:solidFill>
                          <a:latin typeface="Calibri" pitchFamily="34" charset="0"/>
                          <a:ea typeface="Calibri" pitchFamily="34" charset="-122"/>
                          <a:cs typeface="Calibri" pitchFamily="34" charset="-120"/>
                        </a:rPr>
                        <a:t>A specific reason for every quarantine, and the ability to correct, release or reject</a:t>
                      </a:r>
                      <a:endParaRPr lang="en-US" sz="9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900" dirty="0">
                          <a:solidFill>
                            <a:srgbClr val="1B2A41"/>
                          </a:solidFill>
                          <a:latin typeface="Calibri" pitchFamily="34" charset="0"/>
                          <a:ea typeface="Calibri" pitchFamily="34" charset="-122"/>
                          <a:cs typeface="Calibri" pitchFamily="34" charset="-120"/>
                        </a:rPr>
                        <a:t>On quarantine (0% of well-formed fixtures)</a:t>
                      </a:r>
                      <a:endParaRPr lang="en-US" sz="9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r>
              <a:tr h="0">
                <a:tc>
                  <a:txBody>
                    <a:bodyPr/>
                    <a:lstStyle/>
                    <a:p>
                      <a:pPr indent="0" marL="0">
                        <a:buNone/>
                      </a:pPr>
                      <a:r>
                        <a:rPr lang="en-US" sz="900" dirty="0">
                          <a:solidFill>
                            <a:srgbClr val="1B2A41"/>
                          </a:solidFill>
                          <a:latin typeface="Calibri" pitchFamily="34" charset="0"/>
                          <a:ea typeface="Calibri" pitchFamily="34" charset="-122"/>
                          <a:cs typeface="Calibri" pitchFamily="34" charset="-120"/>
                        </a:rPr>
                        <a:t>Client onboarding / ops team</a:t>
                      </a:r>
                      <a:endParaRPr lang="en-US" sz="9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900" dirty="0">
                          <a:solidFill>
                            <a:srgbClr val="1B2A41"/>
                          </a:solidFill>
                          <a:latin typeface="Calibri" pitchFamily="34" charset="0"/>
                          <a:ea typeface="Calibri" pitchFamily="34" charset="-122"/>
                          <a:cs typeface="Calibri" pitchFamily="34" charset="-120"/>
                        </a:rPr>
                        <a:t>Per-client YAML config; a promoted mapping resolves at Tier 1 forever after</a:t>
                      </a:r>
                      <a:endParaRPr lang="en-US" sz="9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900" dirty="0">
                          <a:solidFill>
                            <a:srgbClr val="1B2A41"/>
                          </a:solidFill>
                          <a:latin typeface="Calibri" pitchFamily="34" charset="0"/>
                          <a:ea typeface="Calibri" pitchFamily="34" charset="-122"/>
                          <a:cs typeface="Calibri" pitchFamily="34" charset="-120"/>
                        </a:rPr>
                        <a:t>As new clients or venues arrive</a:t>
                      </a:r>
                      <a:endParaRPr lang="en-US" sz="9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r>
              <a:tr h="0">
                <a:tc>
                  <a:txBody>
                    <a:bodyPr/>
                    <a:lstStyle/>
                    <a:p>
                      <a:pPr indent="0" marL="0">
                        <a:buNone/>
                      </a:pPr>
                      <a:r>
                        <a:rPr lang="en-US" sz="900" dirty="0">
                          <a:solidFill>
                            <a:srgbClr val="1B2A41"/>
                          </a:solidFill>
                          <a:latin typeface="Calibri" pitchFamily="34" charset="0"/>
                          <a:ea typeface="Calibri" pitchFamily="34" charset="-122"/>
                          <a:cs typeface="Calibri" pitchFamily="34" charset="-120"/>
                        </a:rPr>
                        <a:t>Compliance / auditor</a:t>
                      </a:r>
                      <a:endParaRPr lang="en-US" sz="9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900" dirty="0">
                          <a:solidFill>
                            <a:srgbClr val="1B2A41"/>
                          </a:solidFill>
                          <a:latin typeface="Calibri" pitchFamily="34" charset="0"/>
                          <a:ea typeface="Calibri" pitchFamily="34" charset="-122"/>
                          <a:cs typeface="Calibri" pitchFamily="34" charset="-120"/>
                        </a:rPr>
                        <a:t>A tamper-evident decision log that reconstructs any dispatch after the fact</a:t>
                      </a:r>
                      <a:endParaRPr lang="en-US" sz="9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900" dirty="0">
                          <a:solidFill>
                            <a:srgbClr val="1B2A41"/>
                          </a:solidFill>
                          <a:latin typeface="Calibri" pitchFamily="34" charset="0"/>
                          <a:ea typeface="Calibri" pitchFamily="34" charset="-122"/>
                          <a:cs typeface="Calibri" pitchFamily="34" charset="-120"/>
                        </a:rPr>
                        <a:t>On review, or on demand</a:t>
                      </a:r>
                      <a:endParaRPr lang="en-US" sz="9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5486400" cy="228600"/>
          </a:xfrm>
          <a:prstGeom prst="rect">
            <a:avLst/>
          </a:prstGeom>
          <a:noFill/>
          <a:ln/>
        </p:spPr>
        <p:txBody>
          <a:bodyPr wrap="square" lIns="0" tIns="0" rIns="0" bIns="0" rtlCol="0" anchor="ctr"/>
          <a:lstStyle/>
          <a:p>
            <a:pPr indent="0" marL="0">
              <a:buNone/>
            </a:pPr>
            <a:r>
              <a:rPr lang="en-US" sz="1000" b="1" spc="200" kern="0" dirty="0">
                <a:solidFill>
                  <a:srgbClr val="2EC4B6"/>
                </a:solidFill>
                <a:latin typeface="Calibri" pitchFamily="34" charset="0"/>
                <a:ea typeface="Calibri" pitchFamily="34" charset="-122"/>
                <a:cs typeface="Calibri" pitchFamily="34" charset="-120"/>
              </a:rPr>
              <a:t>APPROACH</a:t>
            </a:r>
            <a:endParaRPr lang="en-US" sz="1000" dirty="0"/>
          </a:p>
        </p:txBody>
      </p:sp>
      <p:sp>
        <p:nvSpPr>
          <p:cNvPr id="3" name="Text 1"/>
          <p:cNvSpPr txBox="1"/>
          <p:nvPr/>
        </p:nvSpPr>
        <p:spPr>
          <a:xfrm>
            <a:off x="457200" y="457200"/>
            <a:ext cx="8229600" cy="548640"/>
          </a:xfrm>
          <a:prstGeom prst="rect">
            <a:avLst/>
          </a:prstGeom>
          <a:noFill/>
          <a:ln/>
        </p:spPr>
        <p:txBody>
          <a:bodyPr wrap="square" lIns="0" tIns="0" rIns="0" bIns="0" rtlCol="0" anchor="ctr"/>
          <a:lstStyle/>
          <a:p>
            <a:pPr indent="0" marL="0">
              <a:buNone/>
            </a:pPr>
            <a:r>
              <a:rPr lang="en-US" sz="2600" b="1" dirty="0">
                <a:solidFill>
                  <a:srgbClr val="14213D"/>
                </a:solidFill>
                <a:latin typeface="Cambria" pitchFamily="34" charset="0"/>
                <a:ea typeface="Cambria" pitchFamily="34" charset="-122"/>
                <a:cs typeface="Cambria" pitchFamily="34" charset="-120"/>
              </a:rPr>
              <a:t>Solution at a glance</a:t>
            </a:r>
            <a:endParaRPr lang="en-US" sz="2600" dirty="0"/>
          </a:p>
        </p:txBody>
      </p:sp>
      <p:sp>
        <p:nvSpPr>
          <p:cNvPr id="4" name="Text 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800" dirty="0">
                <a:solidFill>
                  <a:srgbClr val="6B7A90"/>
                </a:solidFill>
                <a:latin typeface="Calibri" pitchFamily="34" charset="0"/>
                <a:ea typeface="Calibri" pitchFamily="34" charset="-122"/>
                <a:cs typeface="Calibri" pitchFamily="34" charset="-120"/>
              </a:rPr>
              <a:t>Harbormaster · AI Systems Architecture Review · 4</a:t>
            </a:r>
            <a:endParaRPr lang="en-US" sz="800" dirty="0"/>
          </a:p>
        </p:txBody>
      </p:sp>
      <p:sp>
        <p:nvSpPr>
          <p:cNvPr id="5" name="Shape 3"/>
          <p:cNvSpPr/>
          <p:nvPr/>
        </p:nvSpPr>
        <p:spPr>
          <a:xfrm>
            <a:off x="457200" y="1234440"/>
            <a:ext cx="1965960" cy="1965960"/>
          </a:xfrm>
          <a:prstGeom prst="roundRect">
            <a:avLst>
              <a:gd name="adj" fmla="val 2791"/>
            </a:avLst>
          </a:prstGeom>
          <a:solidFill>
            <a:srgbClr val="1C2B4F"/>
          </a:solidFill>
          <a:ln w="9525">
            <a:solidFill>
              <a:srgbClr val="1C2B4F"/>
            </a:solidFill>
            <a:prstDash val="solid"/>
          </a:ln>
        </p:spPr>
      </p:sp>
      <p:sp>
        <p:nvSpPr>
          <p:cNvPr id="6" name="Shape 4"/>
          <p:cNvSpPr/>
          <p:nvPr/>
        </p:nvSpPr>
        <p:spPr>
          <a:xfrm>
            <a:off x="594360" y="1371600"/>
            <a:ext cx="365760" cy="365760"/>
          </a:xfrm>
          <a:prstGeom prst="ellipse">
            <a:avLst/>
          </a:prstGeom>
          <a:solidFill>
            <a:srgbClr val="2EC4B6"/>
          </a:solidFill>
          <a:ln w="12700">
            <a:solidFill>
              <a:srgbClr val="2EC4B6"/>
            </a:solidFill>
            <a:prstDash val="solid"/>
          </a:ln>
        </p:spPr>
      </p:sp>
      <p:sp>
        <p:nvSpPr>
          <p:cNvPr id="7" name="Text 5"/>
          <p:cNvSpPr txBox="1"/>
          <p:nvPr/>
        </p:nvSpPr>
        <p:spPr>
          <a:xfrm>
            <a:off x="594360" y="1371600"/>
            <a:ext cx="365760" cy="365760"/>
          </a:xfrm>
          <a:prstGeom prst="rect">
            <a:avLst/>
          </a:prstGeom>
          <a:noFill/>
          <a:ln/>
        </p:spPr>
        <p:txBody>
          <a:bodyPr wrap="square" lIns="0" tIns="0" rIns="0" bIns="0" rtlCol="0" anchor="ctr"/>
          <a:lstStyle/>
          <a:p>
            <a:pPr algn="ctr" indent="0" marL="0">
              <a:buNone/>
            </a:pPr>
            <a:r>
              <a:rPr lang="en-US" sz="1400" b="1" dirty="0">
                <a:solidFill>
                  <a:srgbClr val="14213D"/>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051560" y="1389888"/>
            <a:ext cx="1280160" cy="329184"/>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Arrival</a:t>
            </a:r>
            <a:endParaRPr lang="en-US" sz="1300" dirty="0"/>
          </a:p>
        </p:txBody>
      </p:sp>
      <p:sp>
        <p:nvSpPr>
          <p:cNvPr id="9" name="Text 7"/>
          <p:cNvSpPr txBox="1"/>
          <p:nvPr/>
        </p:nvSpPr>
        <p:spPr>
          <a:xfrm>
            <a:off x="594360" y="1828800"/>
            <a:ext cx="1691640" cy="1280160"/>
          </a:xfrm>
          <a:prstGeom prst="rect">
            <a:avLst/>
          </a:prstGeom>
          <a:noFill/>
          <a:ln/>
        </p:spPr>
        <p:txBody>
          <a:bodyPr wrap="square" lIns="0" tIns="0" rIns="0" bIns="0" rtlCol="0" anchor="t"/>
          <a:lstStyle/>
          <a:p>
            <a:pPr indent="0" marL="0">
              <a:buNone/>
            </a:pPr>
            <a:r>
              <a:rPr lang="en-US" sz="850" dirty="0">
                <a:solidFill>
                  <a:srgbClr val="DCE7F5"/>
                </a:solidFill>
                <a:latin typeface="Calibri" pitchFamily="34" charset="0"/>
                <a:ea typeface="Calibri" pitchFamily="34" charset="-122"/>
                <a:cs typeface="Calibri" pitchFamily="34" charset="-120"/>
              </a:rPr>
              <a:t>Portwatch detects a fully-written file or JSON payload, streams a SHA-256, and gates exact duplicates and same-content redeliveries by hash, not filename.</a:t>
            </a:r>
            <a:endParaRPr lang="en-US" sz="850" dirty="0"/>
          </a:p>
        </p:txBody>
      </p:sp>
      <p:sp>
        <p:nvSpPr>
          <p:cNvPr id="10" name="Shape 8"/>
          <p:cNvSpPr/>
          <p:nvPr/>
        </p:nvSpPr>
        <p:spPr>
          <a:xfrm>
            <a:off x="2423160" y="2194560"/>
            <a:ext cx="137160" cy="9144"/>
          </a:xfrm>
          <a:prstGeom prst="line">
            <a:avLst/>
          </a:prstGeom>
          <a:noFill/>
          <a:ln w="25400">
            <a:solidFill>
              <a:srgbClr val="2EC4B6"/>
            </a:solidFill>
            <a:prstDash val="solid"/>
            <a:tailEnd type="triangle"/>
          </a:ln>
        </p:spPr>
      </p:sp>
      <p:sp>
        <p:nvSpPr>
          <p:cNvPr id="11" name="Shape 9"/>
          <p:cNvSpPr/>
          <p:nvPr/>
        </p:nvSpPr>
        <p:spPr>
          <a:xfrm>
            <a:off x="2560320" y="1234440"/>
            <a:ext cx="1965960" cy="1965960"/>
          </a:xfrm>
          <a:prstGeom prst="roundRect">
            <a:avLst>
              <a:gd name="adj" fmla="val 2791"/>
            </a:avLst>
          </a:prstGeom>
          <a:solidFill>
            <a:srgbClr val="1C2B4F"/>
          </a:solidFill>
          <a:ln w="9525">
            <a:solidFill>
              <a:srgbClr val="1C2B4F"/>
            </a:solidFill>
            <a:prstDash val="solid"/>
          </a:ln>
        </p:spPr>
      </p:sp>
      <p:sp>
        <p:nvSpPr>
          <p:cNvPr id="12" name="Shape 10"/>
          <p:cNvSpPr/>
          <p:nvPr/>
        </p:nvSpPr>
        <p:spPr>
          <a:xfrm>
            <a:off x="2697480" y="1371600"/>
            <a:ext cx="365760" cy="365760"/>
          </a:xfrm>
          <a:prstGeom prst="ellipse">
            <a:avLst/>
          </a:prstGeom>
          <a:solidFill>
            <a:srgbClr val="2EC4B6"/>
          </a:solidFill>
          <a:ln w="12700">
            <a:solidFill>
              <a:srgbClr val="2EC4B6"/>
            </a:solidFill>
            <a:prstDash val="solid"/>
          </a:ln>
        </p:spPr>
      </p:sp>
      <p:sp>
        <p:nvSpPr>
          <p:cNvPr id="13" name="Text 11"/>
          <p:cNvSpPr txBox="1"/>
          <p:nvPr/>
        </p:nvSpPr>
        <p:spPr>
          <a:xfrm>
            <a:off x="2697480" y="1371600"/>
            <a:ext cx="365760" cy="365760"/>
          </a:xfrm>
          <a:prstGeom prst="rect">
            <a:avLst/>
          </a:prstGeom>
          <a:noFill/>
          <a:ln/>
        </p:spPr>
        <p:txBody>
          <a:bodyPr wrap="square" lIns="0" tIns="0" rIns="0" bIns="0" rtlCol="0" anchor="ctr"/>
          <a:lstStyle/>
          <a:p>
            <a:pPr algn="ctr" indent="0" marL="0">
              <a:buNone/>
            </a:pPr>
            <a:r>
              <a:rPr lang="en-US" sz="1400" b="1" dirty="0">
                <a:solidFill>
                  <a:srgbClr val="14213D"/>
                </a:solidFill>
                <a:latin typeface="Calibri" pitchFamily="34" charset="0"/>
                <a:ea typeface="Calibri" pitchFamily="34" charset="-122"/>
                <a:cs typeface="Calibri" pitchFamily="34" charset="-120"/>
              </a:rPr>
              <a:t>2</a:t>
            </a:r>
            <a:endParaRPr lang="en-US" sz="1400" dirty="0"/>
          </a:p>
        </p:txBody>
      </p:sp>
      <p:sp>
        <p:nvSpPr>
          <p:cNvPr id="14" name="Text 12"/>
          <p:cNvSpPr txBox="1"/>
          <p:nvPr/>
        </p:nvSpPr>
        <p:spPr>
          <a:xfrm>
            <a:off x="3154680" y="1389888"/>
            <a:ext cx="1280160" cy="329184"/>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Classify</a:t>
            </a:r>
            <a:endParaRPr lang="en-US" sz="1300" dirty="0"/>
          </a:p>
        </p:txBody>
      </p:sp>
      <p:sp>
        <p:nvSpPr>
          <p:cNvPr id="15" name="Text 13"/>
          <p:cNvSpPr txBox="1"/>
          <p:nvPr/>
        </p:nvSpPr>
        <p:spPr>
          <a:xfrm>
            <a:off x="2697480" y="1828800"/>
            <a:ext cx="1691640" cy="1280160"/>
          </a:xfrm>
          <a:prstGeom prst="rect">
            <a:avLst/>
          </a:prstGeom>
          <a:noFill/>
          <a:ln/>
        </p:spPr>
        <p:txBody>
          <a:bodyPr wrap="square" lIns="0" tIns="0" rIns="0" bIns="0" rtlCol="0" anchor="t"/>
          <a:lstStyle/>
          <a:p>
            <a:pPr indent="0" marL="0">
              <a:buNone/>
            </a:pPr>
            <a:r>
              <a:rPr lang="en-US" sz="850" dirty="0">
                <a:solidFill>
                  <a:srgbClr val="DCE7F5"/>
                </a:solidFill>
                <a:latin typeface="Calibri" pitchFamily="34" charset="0"/>
                <a:ea typeface="Calibri" pitchFamily="34" charset="-122"/>
                <a:cs typeface="Calibri" pitchFamily="34" charset="-120"/>
              </a:rPr>
              <a:t>Inspector sniffs the format by content, attributes the client, and resolves the value date from three independent sources ranked by how much each actually knows.</a:t>
            </a:r>
            <a:endParaRPr lang="en-US" sz="850" dirty="0"/>
          </a:p>
        </p:txBody>
      </p:sp>
      <p:sp>
        <p:nvSpPr>
          <p:cNvPr id="16" name="Shape 14"/>
          <p:cNvSpPr/>
          <p:nvPr/>
        </p:nvSpPr>
        <p:spPr>
          <a:xfrm>
            <a:off x="4526280" y="2194560"/>
            <a:ext cx="137160" cy="9144"/>
          </a:xfrm>
          <a:prstGeom prst="line">
            <a:avLst/>
          </a:prstGeom>
          <a:noFill/>
          <a:ln w="25400">
            <a:solidFill>
              <a:srgbClr val="2EC4B6"/>
            </a:solidFill>
            <a:prstDash val="solid"/>
            <a:tailEnd type="triangle"/>
          </a:ln>
        </p:spPr>
      </p:sp>
      <p:sp>
        <p:nvSpPr>
          <p:cNvPr id="17" name="Shape 15"/>
          <p:cNvSpPr/>
          <p:nvPr/>
        </p:nvSpPr>
        <p:spPr>
          <a:xfrm>
            <a:off x="4663440" y="1234440"/>
            <a:ext cx="1965960" cy="1965960"/>
          </a:xfrm>
          <a:prstGeom prst="roundRect">
            <a:avLst>
              <a:gd name="adj" fmla="val 2791"/>
            </a:avLst>
          </a:prstGeom>
          <a:solidFill>
            <a:srgbClr val="1C2B4F"/>
          </a:solidFill>
          <a:ln w="9525">
            <a:solidFill>
              <a:srgbClr val="1C2B4F"/>
            </a:solidFill>
            <a:prstDash val="solid"/>
          </a:ln>
        </p:spPr>
      </p:sp>
      <p:sp>
        <p:nvSpPr>
          <p:cNvPr id="18" name="Shape 16"/>
          <p:cNvSpPr/>
          <p:nvPr/>
        </p:nvSpPr>
        <p:spPr>
          <a:xfrm>
            <a:off x="4800600" y="1371600"/>
            <a:ext cx="365760" cy="365760"/>
          </a:xfrm>
          <a:prstGeom prst="ellipse">
            <a:avLst/>
          </a:prstGeom>
          <a:solidFill>
            <a:srgbClr val="2EC4B6"/>
          </a:solidFill>
          <a:ln w="12700">
            <a:solidFill>
              <a:srgbClr val="2EC4B6"/>
            </a:solidFill>
            <a:prstDash val="solid"/>
          </a:ln>
        </p:spPr>
      </p:sp>
      <p:sp>
        <p:nvSpPr>
          <p:cNvPr id="19" name="Text 17"/>
          <p:cNvSpPr txBox="1"/>
          <p:nvPr/>
        </p:nvSpPr>
        <p:spPr>
          <a:xfrm>
            <a:off x="4800600" y="1371600"/>
            <a:ext cx="365760" cy="365760"/>
          </a:xfrm>
          <a:prstGeom prst="rect">
            <a:avLst/>
          </a:prstGeom>
          <a:noFill/>
          <a:ln/>
        </p:spPr>
        <p:txBody>
          <a:bodyPr wrap="square" lIns="0" tIns="0" rIns="0" bIns="0" rtlCol="0" anchor="ctr"/>
          <a:lstStyle/>
          <a:p>
            <a:pPr algn="ctr" indent="0" marL="0">
              <a:buNone/>
            </a:pPr>
            <a:r>
              <a:rPr lang="en-US" sz="1400" b="1" dirty="0">
                <a:solidFill>
                  <a:srgbClr val="14213D"/>
                </a:solidFill>
                <a:latin typeface="Calibri" pitchFamily="34" charset="0"/>
                <a:ea typeface="Calibri" pitchFamily="34" charset="-122"/>
                <a:cs typeface="Calibri" pitchFamily="34" charset="-120"/>
              </a:rPr>
              <a:t>3</a:t>
            </a:r>
            <a:endParaRPr lang="en-US" sz="1400" dirty="0"/>
          </a:p>
        </p:txBody>
      </p:sp>
      <p:sp>
        <p:nvSpPr>
          <p:cNvPr id="20" name="Text 18"/>
          <p:cNvSpPr txBox="1"/>
          <p:nvPr/>
        </p:nvSpPr>
        <p:spPr>
          <a:xfrm>
            <a:off x="5257800" y="1389888"/>
            <a:ext cx="1280160" cy="329184"/>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Map &amp; score</a:t>
            </a:r>
            <a:endParaRPr lang="en-US" sz="1300" dirty="0"/>
          </a:p>
        </p:txBody>
      </p:sp>
      <p:sp>
        <p:nvSpPr>
          <p:cNvPr id="21" name="Text 19"/>
          <p:cNvSpPr txBox="1"/>
          <p:nvPr/>
        </p:nvSpPr>
        <p:spPr>
          <a:xfrm>
            <a:off x="4800600" y="1828800"/>
            <a:ext cx="1691640" cy="1280160"/>
          </a:xfrm>
          <a:prstGeom prst="rect">
            <a:avLst/>
          </a:prstGeom>
          <a:noFill/>
          <a:ln/>
        </p:spPr>
        <p:txBody>
          <a:bodyPr wrap="square" lIns="0" tIns="0" rIns="0" bIns="0" rtlCol="0" anchor="t"/>
          <a:lstStyle/>
          <a:p>
            <a:pPr indent="0" marL="0">
              <a:buNone/>
            </a:pPr>
            <a:r>
              <a:rPr lang="en-US" sz="850" dirty="0">
                <a:solidFill>
                  <a:srgbClr val="DCE7F5"/>
                </a:solidFill>
                <a:latin typeface="Calibri" pitchFamily="34" charset="0"/>
                <a:ea typeface="Calibri" pitchFamily="34" charset="-122"/>
                <a:cs typeface="Calibri" pitchFamily="34" charset="-120"/>
              </a:rPr>
              <a:t>The mapping ladder resolves every column — alias, then fuzzy, then a model for the residue — and a composed confidence routes to dispatch, quarantine or reject.</a:t>
            </a:r>
            <a:endParaRPr lang="en-US" sz="850" dirty="0"/>
          </a:p>
        </p:txBody>
      </p:sp>
      <p:sp>
        <p:nvSpPr>
          <p:cNvPr id="22" name="Shape 20"/>
          <p:cNvSpPr/>
          <p:nvPr/>
        </p:nvSpPr>
        <p:spPr>
          <a:xfrm>
            <a:off x="6629400" y="2194560"/>
            <a:ext cx="137160" cy="9144"/>
          </a:xfrm>
          <a:prstGeom prst="line">
            <a:avLst/>
          </a:prstGeom>
          <a:noFill/>
          <a:ln w="25400">
            <a:solidFill>
              <a:srgbClr val="2EC4B6"/>
            </a:solidFill>
            <a:prstDash val="solid"/>
            <a:tailEnd type="triangle"/>
          </a:ln>
        </p:spPr>
      </p:sp>
      <p:sp>
        <p:nvSpPr>
          <p:cNvPr id="23" name="Shape 21"/>
          <p:cNvSpPr/>
          <p:nvPr/>
        </p:nvSpPr>
        <p:spPr>
          <a:xfrm>
            <a:off x="6766560" y="1234440"/>
            <a:ext cx="1965960" cy="1965960"/>
          </a:xfrm>
          <a:prstGeom prst="roundRect">
            <a:avLst>
              <a:gd name="adj" fmla="val 2791"/>
            </a:avLst>
          </a:prstGeom>
          <a:solidFill>
            <a:srgbClr val="1C2B4F"/>
          </a:solidFill>
          <a:ln w="9525">
            <a:solidFill>
              <a:srgbClr val="1C2B4F"/>
            </a:solidFill>
            <a:prstDash val="solid"/>
          </a:ln>
        </p:spPr>
      </p:sp>
      <p:sp>
        <p:nvSpPr>
          <p:cNvPr id="24" name="Shape 22"/>
          <p:cNvSpPr/>
          <p:nvPr/>
        </p:nvSpPr>
        <p:spPr>
          <a:xfrm>
            <a:off x="6903720" y="1371600"/>
            <a:ext cx="365760" cy="365760"/>
          </a:xfrm>
          <a:prstGeom prst="ellipse">
            <a:avLst/>
          </a:prstGeom>
          <a:solidFill>
            <a:srgbClr val="2EC4B6"/>
          </a:solidFill>
          <a:ln w="12700">
            <a:solidFill>
              <a:srgbClr val="2EC4B6"/>
            </a:solidFill>
            <a:prstDash val="solid"/>
          </a:ln>
        </p:spPr>
      </p:sp>
      <p:sp>
        <p:nvSpPr>
          <p:cNvPr id="25" name="Text 23"/>
          <p:cNvSpPr txBox="1"/>
          <p:nvPr/>
        </p:nvSpPr>
        <p:spPr>
          <a:xfrm>
            <a:off x="6903720" y="1371600"/>
            <a:ext cx="365760" cy="365760"/>
          </a:xfrm>
          <a:prstGeom prst="rect">
            <a:avLst/>
          </a:prstGeom>
          <a:noFill/>
          <a:ln/>
        </p:spPr>
        <p:txBody>
          <a:bodyPr wrap="square" lIns="0" tIns="0" rIns="0" bIns="0" rtlCol="0" anchor="ctr"/>
          <a:lstStyle/>
          <a:p>
            <a:pPr algn="ctr" indent="0" marL="0">
              <a:buNone/>
            </a:pPr>
            <a:r>
              <a:rPr lang="en-US" sz="1400" b="1" dirty="0">
                <a:solidFill>
                  <a:srgbClr val="14213D"/>
                </a:solidFill>
                <a:latin typeface="Calibri" pitchFamily="34" charset="0"/>
                <a:ea typeface="Calibri" pitchFamily="34" charset="-122"/>
                <a:cs typeface="Calibri" pitchFamily="34" charset="-120"/>
              </a:rPr>
              <a:t>4</a:t>
            </a:r>
            <a:endParaRPr lang="en-US" sz="1400" dirty="0"/>
          </a:p>
        </p:txBody>
      </p:sp>
      <p:sp>
        <p:nvSpPr>
          <p:cNvPr id="26" name="Text 24"/>
          <p:cNvSpPr txBox="1"/>
          <p:nvPr/>
        </p:nvSpPr>
        <p:spPr>
          <a:xfrm>
            <a:off x="7360920" y="1389888"/>
            <a:ext cx="1280160" cy="329184"/>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Berth assignment</a:t>
            </a:r>
            <a:endParaRPr lang="en-US" sz="1300" dirty="0"/>
          </a:p>
        </p:txBody>
      </p:sp>
      <p:sp>
        <p:nvSpPr>
          <p:cNvPr id="27" name="Text 25"/>
          <p:cNvSpPr txBox="1"/>
          <p:nvPr/>
        </p:nvSpPr>
        <p:spPr>
          <a:xfrm>
            <a:off x="6903720" y="1828800"/>
            <a:ext cx="1691640" cy="1280160"/>
          </a:xfrm>
          <a:prstGeom prst="rect">
            <a:avLst/>
          </a:prstGeom>
          <a:noFill/>
          <a:ln/>
        </p:spPr>
        <p:txBody>
          <a:bodyPr wrap="square" lIns="0" tIns="0" rIns="0" bIns="0" rtlCol="0" anchor="t"/>
          <a:lstStyle/>
          <a:p>
            <a:pPr indent="0" marL="0">
              <a:buNone/>
            </a:pPr>
            <a:r>
              <a:rPr lang="en-US" sz="850" dirty="0">
                <a:solidFill>
                  <a:srgbClr val="DCE7F5"/>
                </a:solidFill>
                <a:latin typeface="Calibri" pitchFamily="34" charset="0"/>
                <a:ea typeface="Calibri" pitchFamily="34" charset="-122"/>
                <a:cs typeface="Calibri" pitchFamily="34" charset="-120"/>
              </a:rPr>
              <a:t>Berthmaster pairs both sides for the same client / domain / value date, handles the late window and supersession, and issues the assignment the recon engine consumes.</a:t>
            </a:r>
            <a:endParaRPr lang="en-US" sz="850" dirty="0"/>
          </a:p>
        </p:txBody>
      </p:sp>
      <p:sp>
        <p:nvSpPr>
          <p:cNvPr id="28" name="Shape 26"/>
          <p:cNvSpPr/>
          <p:nvPr/>
        </p:nvSpPr>
        <p:spPr>
          <a:xfrm>
            <a:off x="457200" y="3429000"/>
            <a:ext cx="4023360" cy="1188720"/>
          </a:xfrm>
          <a:prstGeom prst="roundRect">
            <a:avLst>
              <a:gd name="adj" fmla="val 4615"/>
            </a:avLst>
          </a:prstGeom>
          <a:solidFill>
            <a:srgbClr val="F3F6FA"/>
          </a:solidFill>
          <a:ln w="9525">
            <a:solidFill>
              <a:srgbClr val="C9D3E0"/>
            </a:solidFill>
            <a:prstDash val="solid"/>
          </a:ln>
        </p:spPr>
      </p:sp>
      <p:sp>
        <p:nvSpPr>
          <p:cNvPr id="29" name="Text 27"/>
          <p:cNvSpPr txBox="1"/>
          <p:nvPr/>
        </p:nvSpPr>
        <p:spPr>
          <a:xfrm>
            <a:off x="548640" y="3483864"/>
            <a:ext cx="3840480" cy="256032"/>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Six services, one log</a:t>
            </a:r>
            <a:endParaRPr lang="en-US" sz="1100" dirty="0"/>
          </a:p>
        </p:txBody>
      </p:sp>
      <p:sp>
        <p:nvSpPr>
          <p:cNvPr id="30" name="Text 28"/>
          <p:cNvSpPr txBox="1"/>
          <p:nvPr/>
        </p:nvSpPr>
        <p:spPr>
          <a:xfrm>
            <a:off x="548640" y="3739896"/>
            <a:ext cx="3840480" cy="822960"/>
          </a:xfrm>
          <a:prstGeom prst="rect">
            <a:avLst/>
          </a:prstGeom>
          <a:noFill/>
          <a:ln/>
        </p:spPr>
        <p:txBody>
          <a:bodyPr wrap="square" lIns="0" tIns="0" rIns="0" bIns="0" rtlCol="0" anchor="t"/>
          <a:lstStyle/>
          <a:p>
            <a:pPr indent="0" marL="0">
              <a:buNone/>
            </a:pPr>
            <a:r>
              <a:rPr lang="en-US" sz="1000" dirty="0">
                <a:solidFill>
                  <a:srgbClr val="1B2A41"/>
                </a:solidFill>
                <a:latin typeface="Calibri" pitchFamily="34" charset="0"/>
                <a:ea typeface="Calibri" pitchFamily="34" charset="-122"/>
                <a:cs typeface="Calibri" pitchFamily="34" charset="-120"/>
              </a:rPr>
              <a:t>Portwatch, Inspector, Berthmaster and Control plane over Kafka-compatible topics (Redpanda), a review queue with four-eyes decisions, and an operations console at /api/ops. Everything is replayable from offset zero.</a:t>
            </a:r>
            <a:endParaRPr lang="en-US" sz="1000" dirty="0"/>
          </a:p>
        </p:txBody>
      </p:sp>
      <p:sp>
        <p:nvSpPr>
          <p:cNvPr id="31" name="Shape 29"/>
          <p:cNvSpPr/>
          <p:nvPr/>
        </p:nvSpPr>
        <p:spPr>
          <a:xfrm>
            <a:off x="4663440" y="3429000"/>
            <a:ext cx="4023360" cy="1188720"/>
          </a:xfrm>
          <a:prstGeom prst="roundRect">
            <a:avLst>
              <a:gd name="adj" fmla="val 4615"/>
            </a:avLst>
          </a:prstGeom>
          <a:solidFill>
            <a:srgbClr val="F3F6FA"/>
          </a:solidFill>
          <a:ln w="9525">
            <a:solidFill>
              <a:srgbClr val="C9D3E0"/>
            </a:solidFill>
            <a:prstDash val="solid"/>
          </a:ln>
        </p:spPr>
      </p:sp>
      <p:sp>
        <p:nvSpPr>
          <p:cNvPr id="32" name="Text 30"/>
          <p:cNvSpPr txBox="1"/>
          <p:nvPr/>
        </p:nvSpPr>
        <p:spPr>
          <a:xfrm>
            <a:off x="4754880" y="3483864"/>
            <a:ext cx="3840480" cy="256032"/>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Deterministic by default</a:t>
            </a:r>
            <a:endParaRPr lang="en-US" sz="1100" dirty="0"/>
          </a:p>
        </p:txBody>
      </p:sp>
      <p:sp>
        <p:nvSpPr>
          <p:cNvPr id="33" name="Text 31"/>
          <p:cNvSpPr txBox="1"/>
          <p:nvPr/>
        </p:nvSpPr>
        <p:spPr>
          <a:xfrm>
            <a:off x="4754880" y="3739896"/>
            <a:ext cx="3840480" cy="822960"/>
          </a:xfrm>
          <a:prstGeom prst="rect">
            <a:avLst/>
          </a:prstGeom>
          <a:noFill/>
          <a:ln/>
        </p:spPr>
        <p:txBody>
          <a:bodyPr wrap="square" lIns="0" tIns="0" rIns="0" bIns="0" rtlCol="0" anchor="t"/>
          <a:lstStyle/>
          <a:p>
            <a:pPr indent="0" marL="0">
              <a:buNone/>
            </a:pPr>
            <a:r>
              <a:rPr lang="en-US" sz="1000" dirty="0">
                <a:solidFill>
                  <a:srgbClr val="1B2A41"/>
                </a:solidFill>
                <a:latin typeface="Calibri" pitchFamily="34" charset="0"/>
                <a:ea typeface="Calibri" pitchFamily="34" charset="-122"/>
                <a:cs typeface="Calibri" pitchFamily="34" charset="-120"/>
              </a:rPr>
              <a:t>The model tier is bound to a deterministic stand-in unless HM_ADJUDICATOR=claude and ANTHROPIC_API_KEY are set. make check and make bench run fully offline: no broker, no database, no network, no key.</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5486400" cy="228600"/>
          </a:xfrm>
          <a:prstGeom prst="rect">
            <a:avLst/>
          </a:prstGeom>
          <a:noFill/>
          <a:ln/>
        </p:spPr>
        <p:txBody>
          <a:bodyPr wrap="square" lIns="0" tIns="0" rIns="0" bIns="0" rtlCol="0" anchor="ctr"/>
          <a:lstStyle/>
          <a:p>
            <a:pPr indent="0" marL="0">
              <a:buNone/>
            </a:pPr>
            <a:r>
              <a:rPr lang="en-US" sz="1000" b="1" spc="200" kern="0" dirty="0">
                <a:solidFill>
                  <a:srgbClr val="2EC4B6"/>
                </a:solidFill>
                <a:latin typeface="Calibri" pitchFamily="34" charset="0"/>
                <a:ea typeface="Calibri" pitchFamily="34" charset="-122"/>
                <a:cs typeface="Calibri" pitchFamily="34" charset="-120"/>
              </a:rPr>
              <a:t>ARCHITECTURE · C4 LEVEL 1</a:t>
            </a:r>
            <a:endParaRPr lang="en-US" sz="1000" dirty="0"/>
          </a:p>
        </p:txBody>
      </p:sp>
      <p:sp>
        <p:nvSpPr>
          <p:cNvPr id="3" name="Text 1"/>
          <p:cNvSpPr txBox="1"/>
          <p:nvPr/>
        </p:nvSpPr>
        <p:spPr>
          <a:xfrm>
            <a:off x="457200" y="457200"/>
            <a:ext cx="8229600" cy="548640"/>
          </a:xfrm>
          <a:prstGeom prst="rect">
            <a:avLst/>
          </a:prstGeom>
          <a:noFill/>
          <a:ln/>
        </p:spPr>
        <p:txBody>
          <a:bodyPr wrap="square" lIns="0" tIns="0" rIns="0" bIns="0" rtlCol="0" anchor="ctr"/>
          <a:lstStyle/>
          <a:p>
            <a:pPr indent="0" marL="0">
              <a:buNone/>
            </a:pPr>
            <a:r>
              <a:rPr lang="en-US" sz="2600" b="1" dirty="0">
                <a:solidFill>
                  <a:srgbClr val="14213D"/>
                </a:solidFill>
                <a:latin typeface="Cambria" pitchFamily="34" charset="0"/>
                <a:ea typeface="Cambria" pitchFamily="34" charset="-122"/>
                <a:cs typeface="Cambria" pitchFamily="34" charset="-120"/>
              </a:rPr>
              <a:t>System context</a:t>
            </a:r>
            <a:endParaRPr lang="en-US" sz="2600" dirty="0"/>
          </a:p>
        </p:txBody>
      </p:sp>
      <p:sp>
        <p:nvSpPr>
          <p:cNvPr id="4" name="Text 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800" dirty="0">
                <a:solidFill>
                  <a:srgbClr val="6B7A90"/>
                </a:solidFill>
                <a:latin typeface="Calibri" pitchFamily="34" charset="0"/>
                <a:ea typeface="Calibri" pitchFamily="34" charset="-122"/>
                <a:cs typeface="Calibri" pitchFamily="34" charset="-120"/>
              </a:rPr>
              <a:t>Harbormaster · AI Systems Architecture Review · 5</a:t>
            </a:r>
            <a:endParaRPr lang="en-US" sz="800" dirty="0"/>
          </a:p>
        </p:txBody>
      </p:sp>
      <p:sp>
        <p:nvSpPr>
          <p:cNvPr id="5" name="Shape 3"/>
          <p:cNvSpPr/>
          <p:nvPr/>
        </p:nvSpPr>
        <p:spPr>
          <a:xfrm>
            <a:off x="457200" y="1188720"/>
            <a:ext cx="1463040" cy="640080"/>
          </a:xfrm>
          <a:prstGeom prst="roundRect">
            <a:avLst>
              <a:gd name="adj" fmla="val 8571"/>
            </a:avLst>
          </a:prstGeom>
          <a:solidFill>
            <a:srgbClr val="F3F6FA"/>
          </a:solidFill>
          <a:ln w="9525">
            <a:solidFill>
              <a:srgbClr val="C9D3E0"/>
            </a:solidFill>
            <a:prstDash val="solid"/>
          </a:ln>
        </p:spPr>
      </p:sp>
      <p:sp>
        <p:nvSpPr>
          <p:cNvPr id="6" name="Text 4"/>
          <p:cNvSpPr txBox="1"/>
          <p:nvPr/>
        </p:nvSpPr>
        <p:spPr>
          <a:xfrm>
            <a:off x="548640" y="1243584"/>
            <a:ext cx="1280160" cy="256032"/>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FTP landing dir</a:t>
            </a:r>
            <a:endParaRPr lang="en-US" sz="1100" dirty="0"/>
          </a:p>
        </p:txBody>
      </p:sp>
      <p:sp>
        <p:nvSpPr>
          <p:cNvPr id="7" name="Text 5"/>
          <p:cNvSpPr txBox="1"/>
          <p:nvPr/>
        </p:nvSpPr>
        <p:spPr>
          <a:xfrm>
            <a:off x="548640" y="1499616"/>
            <a:ext cx="1280160" cy="274320"/>
          </a:xfrm>
          <a:prstGeom prst="rect">
            <a:avLst/>
          </a:prstGeom>
          <a:noFill/>
          <a:ln/>
        </p:spPr>
        <p:txBody>
          <a:bodyPr wrap="square" lIns="0" tIns="0" rIns="0" bIns="0" rtlCol="0" anchor="t"/>
          <a:lstStyle/>
          <a:p>
            <a:pPr indent="0" marL="0">
              <a:buNone/>
            </a:pPr>
            <a:r>
              <a:rPr lang="en-US" sz="850" dirty="0">
                <a:solidFill>
                  <a:srgbClr val="1B2A41"/>
                </a:solidFill>
                <a:latin typeface="Calibri" pitchFamily="34" charset="0"/>
                <a:ea typeface="Calibri" pitchFamily="34" charset="-122"/>
                <a:cs typeface="Calibri" pitchFamily="34" charset="-120"/>
              </a:rPr>
              <a:t>client / custodian files</a:t>
            </a:r>
            <a:endParaRPr lang="en-US" sz="850" dirty="0"/>
          </a:p>
        </p:txBody>
      </p:sp>
      <p:sp>
        <p:nvSpPr>
          <p:cNvPr id="8" name="Shape 6"/>
          <p:cNvSpPr/>
          <p:nvPr/>
        </p:nvSpPr>
        <p:spPr>
          <a:xfrm>
            <a:off x="1920240" y="1508760"/>
            <a:ext cx="594360" cy="1097280"/>
          </a:xfrm>
          <a:prstGeom prst="line">
            <a:avLst/>
          </a:prstGeom>
          <a:noFill/>
          <a:ln w="12700">
            <a:solidFill>
              <a:srgbClr val="6B7A90"/>
            </a:solidFill>
            <a:prstDash val="solid"/>
            <a:tailEnd type="triangle"/>
          </a:ln>
        </p:spPr>
      </p:sp>
      <p:sp>
        <p:nvSpPr>
          <p:cNvPr id="9" name="Shape 7"/>
          <p:cNvSpPr/>
          <p:nvPr/>
        </p:nvSpPr>
        <p:spPr>
          <a:xfrm>
            <a:off x="457200" y="1965960"/>
            <a:ext cx="1463040" cy="640080"/>
          </a:xfrm>
          <a:prstGeom prst="roundRect">
            <a:avLst>
              <a:gd name="adj" fmla="val 8571"/>
            </a:avLst>
          </a:prstGeom>
          <a:solidFill>
            <a:srgbClr val="F3F6FA"/>
          </a:solidFill>
          <a:ln w="9525">
            <a:solidFill>
              <a:srgbClr val="C9D3E0"/>
            </a:solidFill>
            <a:prstDash val="solid"/>
          </a:ln>
        </p:spPr>
      </p:sp>
      <p:sp>
        <p:nvSpPr>
          <p:cNvPr id="10" name="Text 8"/>
          <p:cNvSpPr txBox="1"/>
          <p:nvPr/>
        </p:nvSpPr>
        <p:spPr>
          <a:xfrm>
            <a:off x="548640" y="2020824"/>
            <a:ext cx="1280160" cy="256032"/>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Upstream queue</a:t>
            </a:r>
            <a:endParaRPr lang="en-US" sz="1100" dirty="0"/>
          </a:p>
        </p:txBody>
      </p:sp>
      <p:sp>
        <p:nvSpPr>
          <p:cNvPr id="11" name="Text 9"/>
          <p:cNvSpPr txBox="1"/>
          <p:nvPr/>
        </p:nvSpPr>
        <p:spPr>
          <a:xfrm>
            <a:off x="548640" y="2276856"/>
            <a:ext cx="1280160" cy="274320"/>
          </a:xfrm>
          <a:prstGeom prst="rect">
            <a:avLst/>
          </a:prstGeom>
          <a:noFill/>
          <a:ln/>
        </p:spPr>
        <p:txBody>
          <a:bodyPr wrap="square" lIns="0" tIns="0" rIns="0" bIns="0" rtlCol="0" anchor="t"/>
          <a:lstStyle/>
          <a:p>
            <a:pPr indent="0" marL="0">
              <a:buNone/>
            </a:pPr>
            <a:r>
              <a:rPr lang="en-US" sz="850" dirty="0">
                <a:solidFill>
                  <a:srgbClr val="1B2A41"/>
                </a:solidFill>
                <a:latin typeface="Calibri" pitchFamily="34" charset="0"/>
                <a:ea typeface="Calibri" pitchFamily="34" charset="-122"/>
                <a:cs typeface="Calibri" pitchFamily="34" charset="-120"/>
              </a:rPr>
              <a:t>JSON payloads</a:t>
            </a:r>
            <a:endParaRPr lang="en-US" sz="850" dirty="0"/>
          </a:p>
        </p:txBody>
      </p:sp>
      <p:sp>
        <p:nvSpPr>
          <p:cNvPr id="12" name="Shape 10"/>
          <p:cNvSpPr/>
          <p:nvPr/>
        </p:nvSpPr>
        <p:spPr>
          <a:xfrm>
            <a:off x="1920240" y="2286000"/>
            <a:ext cx="594360" cy="320040"/>
          </a:xfrm>
          <a:prstGeom prst="line">
            <a:avLst/>
          </a:prstGeom>
          <a:noFill/>
          <a:ln w="12700">
            <a:solidFill>
              <a:srgbClr val="6B7A90"/>
            </a:solidFill>
            <a:prstDash val="solid"/>
            <a:tailEnd type="triangle"/>
          </a:ln>
        </p:spPr>
      </p:sp>
      <p:sp>
        <p:nvSpPr>
          <p:cNvPr id="13" name="Shape 11"/>
          <p:cNvSpPr/>
          <p:nvPr/>
        </p:nvSpPr>
        <p:spPr>
          <a:xfrm>
            <a:off x="457200" y="2743200"/>
            <a:ext cx="1463040" cy="640080"/>
          </a:xfrm>
          <a:prstGeom prst="roundRect">
            <a:avLst>
              <a:gd name="adj" fmla="val 8571"/>
            </a:avLst>
          </a:prstGeom>
          <a:solidFill>
            <a:srgbClr val="F3F6FA"/>
          </a:solidFill>
          <a:ln w="9525">
            <a:solidFill>
              <a:srgbClr val="C9D3E0"/>
            </a:solidFill>
            <a:prstDash val="solid"/>
          </a:ln>
        </p:spPr>
      </p:sp>
      <p:sp>
        <p:nvSpPr>
          <p:cNvPr id="14" name="Text 12"/>
          <p:cNvSpPr txBox="1"/>
          <p:nvPr/>
        </p:nvSpPr>
        <p:spPr>
          <a:xfrm>
            <a:off x="548640" y="2798064"/>
            <a:ext cx="1280160" cy="256032"/>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Ops reviewer</a:t>
            </a:r>
            <a:endParaRPr lang="en-US" sz="1100" dirty="0"/>
          </a:p>
        </p:txBody>
      </p:sp>
      <p:sp>
        <p:nvSpPr>
          <p:cNvPr id="15" name="Text 13"/>
          <p:cNvSpPr txBox="1"/>
          <p:nvPr/>
        </p:nvSpPr>
        <p:spPr>
          <a:xfrm>
            <a:off x="548640" y="3054096"/>
            <a:ext cx="1280160" cy="274320"/>
          </a:xfrm>
          <a:prstGeom prst="rect">
            <a:avLst/>
          </a:prstGeom>
          <a:noFill/>
          <a:ln/>
        </p:spPr>
        <p:txBody>
          <a:bodyPr wrap="square" lIns="0" tIns="0" rIns="0" bIns="0" rtlCol="0" anchor="t"/>
          <a:lstStyle/>
          <a:p>
            <a:pPr indent="0" marL="0">
              <a:buNone/>
            </a:pPr>
            <a:r>
              <a:rPr lang="en-US" sz="850" dirty="0">
                <a:solidFill>
                  <a:srgbClr val="1B2A41"/>
                </a:solidFill>
                <a:latin typeface="Calibri" pitchFamily="34" charset="0"/>
                <a:ea typeface="Calibri" pitchFamily="34" charset="-122"/>
                <a:cs typeface="Calibri" pitchFamily="34" charset="-120"/>
              </a:rPr>
              <a:t>browser, four-eyes</a:t>
            </a:r>
            <a:endParaRPr lang="en-US" sz="850" dirty="0"/>
          </a:p>
        </p:txBody>
      </p:sp>
      <p:sp>
        <p:nvSpPr>
          <p:cNvPr id="16" name="Shape 14"/>
          <p:cNvSpPr/>
          <p:nvPr/>
        </p:nvSpPr>
        <p:spPr>
          <a:xfrm flipV="1">
            <a:off x="1920240" y="2606040"/>
            <a:ext cx="594360" cy="457200"/>
          </a:xfrm>
          <a:prstGeom prst="line">
            <a:avLst/>
          </a:prstGeom>
          <a:noFill/>
          <a:ln w="12700">
            <a:solidFill>
              <a:srgbClr val="6B7A90"/>
            </a:solidFill>
            <a:prstDash val="solid"/>
            <a:tailEnd type="triangle"/>
          </a:ln>
        </p:spPr>
      </p:sp>
      <p:sp>
        <p:nvSpPr>
          <p:cNvPr id="17" name="Shape 15"/>
          <p:cNvSpPr/>
          <p:nvPr/>
        </p:nvSpPr>
        <p:spPr>
          <a:xfrm>
            <a:off x="457200" y="3520440"/>
            <a:ext cx="1463040" cy="640080"/>
          </a:xfrm>
          <a:prstGeom prst="roundRect">
            <a:avLst>
              <a:gd name="adj" fmla="val 8571"/>
            </a:avLst>
          </a:prstGeom>
          <a:solidFill>
            <a:srgbClr val="F3F6FA"/>
          </a:solidFill>
          <a:ln w="9525">
            <a:solidFill>
              <a:srgbClr val="C9D3E0"/>
            </a:solidFill>
            <a:prstDash val="solid"/>
          </a:ln>
        </p:spPr>
      </p:sp>
      <p:sp>
        <p:nvSpPr>
          <p:cNvPr id="18" name="Text 16"/>
          <p:cNvSpPr txBox="1"/>
          <p:nvPr/>
        </p:nvSpPr>
        <p:spPr>
          <a:xfrm>
            <a:off x="548640" y="3575304"/>
            <a:ext cx="1280160" cy="256032"/>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Recon engine</a:t>
            </a:r>
            <a:endParaRPr lang="en-US" sz="1100" dirty="0"/>
          </a:p>
        </p:txBody>
      </p:sp>
      <p:sp>
        <p:nvSpPr>
          <p:cNvPr id="19" name="Text 17"/>
          <p:cNvSpPr txBox="1"/>
          <p:nvPr/>
        </p:nvSpPr>
        <p:spPr>
          <a:xfrm>
            <a:off x="548640" y="3831336"/>
            <a:ext cx="1280160" cy="274320"/>
          </a:xfrm>
          <a:prstGeom prst="rect">
            <a:avLst/>
          </a:prstGeom>
          <a:noFill/>
          <a:ln/>
        </p:spPr>
        <p:txBody>
          <a:bodyPr wrap="square" lIns="0" tIns="0" rIns="0" bIns="0" rtlCol="0" anchor="t"/>
          <a:lstStyle/>
          <a:p>
            <a:pPr indent="0" marL="0">
              <a:buNone/>
            </a:pPr>
            <a:r>
              <a:rPr lang="en-US" sz="850" dirty="0">
                <a:solidFill>
                  <a:srgbClr val="1B2A41"/>
                </a:solidFill>
                <a:latin typeface="Calibri" pitchFamily="34" charset="0"/>
                <a:ea typeface="Calibri" pitchFamily="34" charset="-122"/>
                <a:cs typeface="Calibri" pitchFamily="34" charset="-120"/>
              </a:rPr>
              <a:t>downstream, stubbed</a:t>
            </a:r>
            <a:endParaRPr lang="en-US" sz="850" dirty="0"/>
          </a:p>
        </p:txBody>
      </p:sp>
      <p:sp>
        <p:nvSpPr>
          <p:cNvPr id="20" name="Shape 18"/>
          <p:cNvSpPr/>
          <p:nvPr/>
        </p:nvSpPr>
        <p:spPr>
          <a:xfrm flipV="1">
            <a:off x="1920240" y="2606040"/>
            <a:ext cx="594360" cy="1234440"/>
          </a:xfrm>
          <a:prstGeom prst="line">
            <a:avLst/>
          </a:prstGeom>
          <a:noFill/>
          <a:ln w="12700">
            <a:solidFill>
              <a:srgbClr val="6B7A90"/>
            </a:solidFill>
            <a:prstDash val="solid"/>
            <a:tailEnd type="triangle"/>
          </a:ln>
        </p:spPr>
      </p:sp>
      <p:sp>
        <p:nvSpPr>
          <p:cNvPr id="21" name="Shape 19"/>
          <p:cNvSpPr/>
          <p:nvPr/>
        </p:nvSpPr>
        <p:spPr>
          <a:xfrm>
            <a:off x="2560320" y="1188720"/>
            <a:ext cx="3108960" cy="3108960"/>
          </a:xfrm>
          <a:prstGeom prst="roundRect">
            <a:avLst>
              <a:gd name="adj" fmla="val 1765"/>
            </a:avLst>
          </a:prstGeom>
          <a:solidFill>
            <a:srgbClr val="EEF6F4"/>
          </a:solidFill>
          <a:ln w="9525">
            <a:solidFill>
              <a:srgbClr val="2EC4B6"/>
            </a:solidFill>
            <a:prstDash val="solid"/>
          </a:ln>
        </p:spPr>
      </p:sp>
      <p:sp>
        <p:nvSpPr>
          <p:cNvPr id="22" name="Text 20"/>
          <p:cNvSpPr txBox="1"/>
          <p:nvPr/>
        </p:nvSpPr>
        <p:spPr>
          <a:xfrm>
            <a:off x="2697480" y="1261872"/>
            <a:ext cx="2743200" cy="274320"/>
          </a:xfrm>
          <a:prstGeom prst="rect">
            <a:avLst/>
          </a:prstGeom>
          <a:noFill/>
          <a:ln/>
        </p:spPr>
        <p:txBody>
          <a:bodyPr wrap="square" lIns="0" tIns="0" rIns="0" bIns="0" rtlCol="0" anchor="ctr"/>
          <a:lstStyle/>
          <a:p>
            <a:pPr indent="0" marL="0">
              <a:buNone/>
            </a:pPr>
            <a:r>
              <a:rPr lang="en-US" sz="1400" b="1" dirty="0">
                <a:solidFill>
                  <a:srgbClr val="14213D"/>
                </a:solidFill>
                <a:latin typeface="Cambria" pitchFamily="34" charset="0"/>
                <a:ea typeface="Cambria" pitchFamily="34" charset="-122"/>
                <a:cs typeface="Cambria" pitchFamily="34" charset="-120"/>
              </a:rPr>
              <a:t>Harbormaster</a:t>
            </a:r>
            <a:endParaRPr lang="en-US" sz="1400" dirty="0"/>
          </a:p>
        </p:txBody>
      </p:sp>
      <p:sp>
        <p:nvSpPr>
          <p:cNvPr id="23" name="Shape 21"/>
          <p:cNvSpPr/>
          <p:nvPr/>
        </p:nvSpPr>
        <p:spPr>
          <a:xfrm>
            <a:off x="2697480" y="1600200"/>
            <a:ext cx="2834640" cy="685800"/>
          </a:xfrm>
          <a:prstGeom prst="roundRect">
            <a:avLst>
              <a:gd name="adj" fmla="val 8000"/>
            </a:avLst>
          </a:prstGeom>
          <a:solidFill>
            <a:srgbClr val="F3F6FA"/>
          </a:solidFill>
          <a:ln w="9525">
            <a:solidFill>
              <a:srgbClr val="C9D3E0"/>
            </a:solidFill>
            <a:prstDash val="solid"/>
          </a:ln>
        </p:spPr>
      </p:sp>
      <p:sp>
        <p:nvSpPr>
          <p:cNvPr id="24" name="Text 22"/>
          <p:cNvSpPr txBox="1"/>
          <p:nvPr/>
        </p:nvSpPr>
        <p:spPr>
          <a:xfrm>
            <a:off x="2788920" y="1655064"/>
            <a:ext cx="2651760" cy="256032"/>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Ingestion</a:t>
            </a:r>
            <a:endParaRPr lang="en-US" sz="1100" dirty="0"/>
          </a:p>
        </p:txBody>
      </p:sp>
      <p:sp>
        <p:nvSpPr>
          <p:cNvPr id="25" name="Text 23"/>
          <p:cNvSpPr txBox="1"/>
          <p:nvPr/>
        </p:nvSpPr>
        <p:spPr>
          <a:xfrm>
            <a:off x="2788920" y="1911096"/>
            <a:ext cx="2651760" cy="320040"/>
          </a:xfrm>
          <a:prstGeom prst="rect">
            <a:avLst/>
          </a:prstGeom>
          <a:noFill/>
          <a:ln/>
        </p:spPr>
        <p:txBody>
          <a:bodyPr wrap="square" lIns="0" tIns="0" rIns="0" bIns="0" rtlCol="0" anchor="t"/>
          <a:lstStyle/>
          <a:p>
            <a:pPr indent="0" marL="0">
              <a:buNone/>
            </a:pPr>
            <a:r>
              <a:rPr lang="en-US" sz="850" dirty="0">
                <a:solidFill>
                  <a:srgbClr val="1B2A41"/>
                </a:solidFill>
                <a:latin typeface="Calibri" pitchFamily="34" charset="0"/>
                <a:ea typeface="Calibri" pitchFamily="34" charset="-122"/>
                <a:cs typeface="Calibri" pitchFamily="34" charset="-120"/>
              </a:rPr>
              <a:t>Portwatch (Go): write-completion, hashing, dedupe, JSON ingress</a:t>
            </a:r>
            <a:endParaRPr lang="en-US" sz="850" dirty="0"/>
          </a:p>
        </p:txBody>
      </p:sp>
      <p:sp>
        <p:nvSpPr>
          <p:cNvPr id="26" name="Shape 24"/>
          <p:cNvSpPr/>
          <p:nvPr/>
        </p:nvSpPr>
        <p:spPr>
          <a:xfrm>
            <a:off x="2697480" y="2377440"/>
            <a:ext cx="2834640" cy="914400"/>
          </a:xfrm>
          <a:prstGeom prst="roundRect">
            <a:avLst>
              <a:gd name="adj" fmla="val 6000"/>
            </a:avLst>
          </a:prstGeom>
          <a:solidFill>
            <a:srgbClr val="F3F6FA"/>
          </a:solidFill>
          <a:ln w="9525">
            <a:solidFill>
              <a:srgbClr val="C9D3E0"/>
            </a:solidFill>
            <a:prstDash val="solid"/>
          </a:ln>
        </p:spPr>
      </p:sp>
      <p:sp>
        <p:nvSpPr>
          <p:cNvPr id="27" name="Text 25"/>
          <p:cNvSpPr txBox="1"/>
          <p:nvPr/>
        </p:nvSpPr>
        <p:spPr>
          <a:xfrm>
            <a:off x="2788920" y="2432304"/>
            <a:ext cx="2651760" cy="256032"/>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Inspector (Python)</a:t>
            </a:r>
            <a:endParaRPr lang="en-US" sz="1100" dirty="0"/>
          </a:p>
        </p:txBody>
      </p:sp>
      <p:sp>
        <p:nvSpPr>
          <p:cNvPr id="28" name="Text 26"/>
          <p:cNvSpPr txBox="1"/>
          <p:nvPr/>
        </p:nvSpPr>
        <p:spPr>
          <a:xfrm>
            <a:off x="2788920" y="2688336"/>
            <a:ext cx="2651760" cy="548640"/>
          </a:xfrm>
          <a:prstGeom prst="rect">
            <a:avLst/>
          </a:prstGeom>
          <a:noFill/>
          <a:ln/>
        </p:spPr>
        <p:txBody>
          <a:bodyPr wrap="square" lIns="0" tIns="0" rIns="0" bIns="0" rtlCol="0" anchor="t"/>
          <a:lstStyle/>
          <a:p>
            <a:pPr indent="0" marL="0">
              <a:buNone/>
            </a:pPr>
            <a:r>
              <a:rPr lang="en-US" sz="850" dirty="0">
                <a:solidFill>
                  <a:srgbClr val="1B2A41"/>
                </a:solidFill>
                <a:latin typeface="Calibri" pitchFamily="34" charset="0"/>
                <a:ea typeface="Calibri" pitchFamily="34" charset="-122"/>
                <a:cs typeface="Calibri" pitchFamily="34" charset="-120"/>
              </a:rPr>
              <a:t>format sniff · attribution · value date · mapping ladder T1/T2/T3 · confidence</a:t>
            </a:r>
            <a:endParaRPr lang="en-US" sz="850" dirty="0"/>
          </a:p>
        </p:txBody>
      </p:sp>
      <p:sp>
        <p:nvSpPr>
          <p:cNvPr id="29" name="Shape 27"/>
          <p:cNvSpPr/>
          <p:nvPr/>
        </p:nvSpPr>
        <p:spPr>
          <a:xfrm>
            <a:off x="2697480" y="3383280"/>
            <a:ext cx="2834640" cy="777240"/>
          </a:xfrm>
          <a:prstGeom prst="roundRect">
            <a:avLst>
              <a:gd name="adj" fmla="val 7059"/>
            </a:avLst>
          </a:prstGeom>
          <a:solidFill>
            <a:srgbClr val="F3F6FA"/>
          </a:solidFill>
          <a:ln w="9525">
            <a:solidFill>
              <a:srgbClr val="C9D3E0"/>
            </a:solidFill>
            <a:prstDash val="solid"/>
          </a:ln>
        </p:spPr>
      </p:sp>
      <p:sp>
        <p:nvSpPr>
          <p:cNvPr id="30" name="Text 28"/>
          <p:cNvSpPr txBox="1"/>
          <p:nvPr/>
        </p:nvSpPr>
        <p:spPr>
          <a:xfrm>
            <a:off x="2788920" y="3438144"/>
            <a:ext cx="2651760" cy="256032"/>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Berthmaster + Control plane (Go)</a:t>
            </a:r>
            <a:endParaRPr lang="en-US" sz="1100" dirty="0"/>
          </a:p>
        </p:txBody>
      </p:sp>
      <p:sp>
        <p:nvSpPr>
          <p:cNvPr id="31" name="Text 29"/>
          <p:cNvSpPr txBox="1"/>
          <p:nvPr/>
        </p:nvSpPr>
        <p:spPr>
          <a:xfrm>
            <a:off x="2788920" y="3694176"/>
            <a:ext cx="2651760" cy="411480"/>
          </a:xfrm>
          <a:prstGeom prst="rect">
            <a:avLst/>
          </a:prstGeom>
          <a:noFill/>
          <a:ln/>
        </p:spPr>
        <p:txBody>
          <a:bodyPr wrap="square" lIns="0" tIns="0" rIns="0" bIns="0" rtlCol="0" anchor="t"/>
          <a:lstStyle/>
          <a:p>
            <a:pPr indent="0" marL="0">
              <a:buNone/>
            </a:pPr>
            <a:r>
              <a:rPr lang="en-US" sz="850" dirty="0">
                <a:solidFill>
                  <a:srgbClr val="1B2A41"/>
                </a:solidFill>
                <a:latin typeface="Calibri" pitchFamily="34" charset="0"/>
                <a:ea typeface="Calibri" pitchFamily="34" charset="-122"/>
                <a:cs typeface="Calibri" pitchFamily="34" charset="-120"/>
              </a:rPr>
              <a:t>slot lifecycle · review queue · ops console /api/ops</a:t>
            </a:r>
            <a:endParaRPr lang="en-US" sz="850" dirty="0"/>
          </a:p>
        </p:txBody>
      </p:sp>
      <p:sp>
        <p:nvSpPr>
          <p:cNvPr id="32" name="Shape 30"/>
          <p:cNvSpPr/>
          <p:nvPr/>
        </p:nvSpPr>
        <p:spPr>
          <a:xfrm>
            <a:off x="6309360" y="1188720"/>
            <a:ext cx="2377440" cy="685800"/>
          </a:xfrm>
          <a:prstGeom prst="roundRect">
            <a:avLst>
              <a:gd name="adj" fmla="val 8000"/>
            </a:avLst>
          </a:prstGeom>
          <a:solidFill>
            <a:srgbClr val="F3F6FA"/>
          </a:solidFill>
          <a:ln w="9525">
            <a:solidFill>
              <a:srgbClr val="C9D3E0"/>
            </a:solidFill>
            <a:prstDash val="solid"/>
          </a:ln>
        </p:spPr>
      </p:sp>
      <p:sp>
        <p:nvSpPr>
          <p:cNvPr id="33" name="Text 31"/>
          <p:cNvSpPr txBox="1"/>
          <p:nvPr/>
        </p:nvSpPr>
        <p:spPr>
          <a:xfrm>
            <a:off x="6400800" y="1243584"/>
            <a:ext cx="2194560" cy="256032"/>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Redpanda (Kafka-compatible)</a:t>
            </a:r>
            <a:endParaRPr lang="en-US" sz="1100" dirty="0"/>
          </a:p>
        </p:txBody>
      </p:sp>
      <p:sp>
        <p:nvSpPr>
          <p:cNvPr id="34" name="Text 32"/>
          <p:cNvSpPr txBox="1"/>
          <p:nvPr/>
        </p:nvSpPr>
        <p:spPr>
          <a:xfrm>
            <a:off x="6400800" y="1499616"/>
            <a:ext cx="2194560" cy="320040"/>
          </a:xfrm>
          <a:prstGeom prst="rect">
            <a:avLst/>
          </a:prstGeom>
          <a:noFill/>
          <a:ln/>
        </p:spPr>
        <p:txBody>
          <a:bodyPr wrap="square" lIns="0" tIns="0" rIns="0" bIns="0" rtlCol="0" anchor="t"/>
          <a:lstStyle/>
          <a:p>
            <a:pPr indent="0" marL="0">
              <a:buNone/>
            </a:pPr>
            <a:r>
              <a:rPr lang="en-US" sz="800" dirty="0">
                <a:solidFill>
                  <a:srgbClr val="1B2A41"/>
                </a:solidFill>
                <a:latin typeface="Calibri" pitchFamily="34" charset="0"/>
                <a:ea typeface="Calibri" pitchFamily="34" charset="-122"/>
                <a:cs typeface="Calibri" pitchFamily="34" charset="-120"/>
              </a:rPr>
              <a:t>8 durable topics; the event log is the audit trail</a:t>
            </a:r>
            <a:endParaRPr lang="en-US" sz="800" dirty="0"/>
          </a:p>
        </p:txBody>
      </p:sp>
      <p:sp>
        <p:nvSpPr>
          <p:cNvPr id="35" name="Shape 33"/>
          <p:cNvSpPr/>
          <p:nvPr/>
        </p:nvSpPr>
        <p:spPr>
          <a:xfrm>
            <a:off x="6309360" y="2011680"/>
            <a:ext cx="2377440" cy="685800"/>
          </a:xfrm>
          <a:prstGeom prst="roundRect">
            <a:avLst>
              <a:gd name="adj" fmla="val 8000"/>
            </a:avLst>
          </a:prstGeom>
          <a:solidFill>
            <a:srgbClr val="F3F6FA"/>
          </a:solidFill>
          <a:ln w="9525">
            <a:solidFill>
              <a:srgbClr val="C9D3E0"/>
            </a:solidFill>
            <a:prstDash val="solid"/>
          </a:ln>
        </p:spPr>
      </p:sp>
      <p:sp>
        <p:nvSpPr>
          <p:cNvPr id="36" name="Text 34"/>
          <p:cNvSpPr txBox="1"/>
          <p:nvPr/>
        </p:nvSpPr>
        <p:spPr>
          <a:xfrm>
            <a:off x="6400800" y="2066544"/>
            <a:ext cx="2194560" cy="256032"/>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Postgres 16</a:t>
            </a:r>
            <a:endParaRPr lang="en-US" sz="1100" dirty="0"/>
          </a:p>
        </p:txBody>
      </p:sp>
      <p:sp>
        <p:nvSpPr>
          <p:cNvPr id="37" name="Text 35"/>
          <p:cNvSpPr txBox="1"/>
          <p:nvPr/>
        </p:nvSpPr>
        <p:spPr>
          <a:xfrm>
            <a:off x="6400800" y="2322576"/>
            <a:ext cx="2194560" cy="320040"/>
          </a:xfrm>
          <a:prstGeom prst="rect">
            <a:avLst/>
          </a:prstGeom>
          <a:noFill/>
          <a:ln/>
        </p:spPr>
        <p:txBody>
          <a:bodyPr wrap="square" lIns="0" tIns="0" rIns="0" bIns="0" rtlCol="0" anchor="t"/>
          <a:lstStyle/>
          <a:p>
            <a:pPr indent="0" marL="0">
              <a:buNone/>
            </a:pPr>
            <a:r>
              <a:rPr lang="en-US" sz="800" dirty="0">
                <a:solidFill>
                  <a:srgbClr val="1B2A41"/>
                </a:solidFill>
                <a:latin typeface="Calibri" pitchFamily="34" charset="0"/>
                <a:ea typeface="Calibri" pitchFamily="34" charset="-122"/>
                <a:cs typeface="Calibri" pitchFamily="34" charset="-120"/>
              </a:rPr>
              <a:t>read models, slot state, decision log, template cache</a:t>
            </a:r>
            <a:endParaRPr lang="en-US" sz="800" dirty="0"/>
          </a:p>
        </p:txBody>
      </p:sp>
      <p:sp>
        <p:nvSpPr>
          <p:cNvPr id="38" name="Shape 36"/>
          <p:cNvSpPr/>
          <p:nvPr/>
        </p:nvSpPr>
        <p:spPr>
          <a:xfrm>
            <a:off x="6309360" y="2834640"/>
            <a:ext cx="2377440" cy="685800"/>
          </a:xfrm>
          <a:prstGeom prst="roundRect">
            <a:avLst>
              <a:gd name="adj" fmla="val 8000"/>
            </a:avLst>
          </a:prstGeom>
          <a:solidFill>
            <a:srgbClr val="F3F6FA"/>
          </a:solidFill>
          <a:ln w="9525">
            <a:solidFill>
              <a:srgbClr val="C9D3E0"/>
            </a:solidFill>
            <a:prstDash val="solid"/>
          </a:ln>
        </p:spPr>
      </p:sp>
      <p:sp>
        <p:nvSpPr>
          <p:cNvPr id="39" name="Text 37"/>
          <p:cNvSpPr txBox="1"/>
          <p:nvPr/>
        </p:nvSpPr>
        <p:spPr>
          <a:xfrm>
            <a:off x="6400800" y="2889504"/>
            <a:ext cx="2194560" cy="256032"/>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Object store</a:t>
            </a:r>
            <a:endParaRPr lang="en-US" sz="1100" dirty="0"/>
          </a:p>
        </p:txBody>
      </p:sp>
      <p:sp>
        <p:nvSpPr>
          <p:cNvPr id="40" name="Text 38"/>
          <p:cNvSpPr txBox="1"/>
          <p:nvPr/>
        </p:nvSpPr>
        <p:spPr>
          <a:xfrm>
            <a:off x="6400800" y="3145536"/>
            <a:ext cx="2194560" cy="320040"/>
          </a:xfrm>
          <a:prstGeom prst="rect">
            <a:avLst/>
          </a:prstGeom>
          <a:noFill/>
          <a:ln/>
        </p:spPr>
        <p:txBody>
          <a:bodyPr wrap="square" lIns="0" tIns="0" rIns="0" bIns="0" rtlCol="0" anchor="t"/>
          <a:lstStyle/>
          <a:p>
            <a:pPr indent="0" marL="0">
              <a:buNone/>
            </a:pPr>
            <a:r>
              <a:rPr lang="en-US" sz="800" dirty="0">
                <a:solidFill>
                  <a:srgbClr val="1B2A41"/>
                </a:solidFill>
                <a:latin typeface="Calibri" pitchFamily="34" charset="0"/>
                <a:ea typeface="Calibri" pitchFamily="34" charset="-122"/>
                <a:cs typeface="Calibri" pitchFamily="34" charset="-120"/>
              </a:rPr>
              <a:t>landed files + canonical Parquet; fs adapter default, S3 unwired</a:t>
            </a:r>
            <a:endParaRPr lang="en-US" sz="800" dirty="0"/>
          </a:p>
        </p:txBody>
      </p:sp>
      <p:sp>
        <p:nvSpPr>
          <p:cNvPr id="41" name="Shape 39"/>
          <p:cNvSpPr/>
          <p:nvPr/>
        </p:nvSpPr>
        <p:spPr>
          <a:xfrm>
            <a:off x="6309360" y="3657600"/>
            <a:ext cx="2377440" cy="640080"/>
          </a:xfrm>
          <a:prstGeom prst="roundRect">
            <a:avLst>
              <a:gd name="adj" fmla="val 8571"/>
            </a:avLst>
          </a:prstGeom>
          <a:solidFill>
            <a:srgbClr val="F3F6FA"/>
          </a:solidFill>
          <a:ln w="9525">
            <a:solidFill>
              <a:srgbClr val="C9D3E0"/>
            </a:solidFill>
            <a:prstDash val="solid"/>
          </a:ln>
        </p:spPr>
      </p:sp>
      <p:sp>
        <p:nvSpPr>
          <p:cNvPr id="42" name="Text 40"/>
          <p:cNvSpPr txBox="1"/>
          <p:nvPr/>
        </p:nvSpPr>
        <p:spPr>
          <a:xfrm>
            <a:off x="6400800" y="3712464"/>
            <a:ext cx="2194560" cy="256032"/>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Anthropic Claude (opt-in)</a:t>
            </a:r>
            <a:endParaRPr lang="en-US" sz="1100" dirty="0"/>
          </a:p>
        </p:txBody>
      </p:sp>
      <p:sp>
        <p:nvSpPr>
          <p:cNvPr id="43" name="Text 41"/>
          <p:cNvSpPr txBox="1"/>
          <p:nvPr/>
        </p:nvSpPr>
        <p:spPr>
          <a:xfrm>
            <a:off x="6400800" y="3968496"/>
            <a:ext cx="2194560" cy="274320"/>
          </a:xfrm>
          <a:prstGeom prst="rect">
            <a:avLst/>
          </a:prstGeom>
          <a:noFill/>
          <a:ln/>
        </p:spPr>
        <p:txBody>
          <a:bodyPr wrap="square" lIns="0" tIns="0" rIns="0" bIns="0" rtlCol="0" anchor="t"/>
          <a:lstStyle/>
          <a:p>
            <a:pPr indent="0" marL="0">
              <a:buNone/>
            </a:pPr>
            <a:r>
              <a:rPr lang="en-US" sz="800" dirty="0">
                <a:solidFill>
                  <a:srgbClr val="1B2A41"/>
                </a:solidFill>
                <a:latin typeface="Calibri" pitchFamily="34" charset="0"/>
                <a:ea typeface="Calibri" pitchFamily="34" charset="-122"/>
                <a:cs typeface="Calibri" pitchFamily="34" charset="-120"/>
              </a:rPr>
              <a:t>Tier 3 adjudicator; deterministic fake bound by default</a:t>
            </a:r>
            <a:endParaRPr lang="en-US" sz="800" dirty="0"/>
          </a:p>
        </p:txBody>
      </p:sp>
      <p:sp>
        <p:nvSpPr>
          <p:cNvPr id="44" name="Shape 42"/>
          <p:cNvSpPr/>
          <p:nvPr/>
        </p:nvSpPr>
        <p:spPr>
          <a:xfrm flipV="1">
            <a:off x="5669280" y="1527048"/>
            <a:ext cx="640080" cy="1216152"/>
          </a:xfrm>
          <a:prstGeom prst="line">
            <a:avLst/>
          </a:prstGeom>
          <a:noFill/>
          <a:ln w="12700">
            <a:solidFill>
              <a:srgbClr val="6B7A90"/>
            </a:solidFill>
            <a:prstDash val="solid"/>
            <a:tailEnd type="triangle"/>
          </a:ln>
        </p:spPr>
      </p:sp>
      <p:sp>
        <p:nvSpPr>
          <p:cNvPr id="45" name="Shape 43"/>
          <p:cNvSpPr/>
          <p:nvPr/>
        </p:nvSpPr>
        <p:spPr>
          <a:xfrm flipV="1">
            <a:off x="5669280" y="2350008"/>
            <a:ext cx="640080" cy="484632"/>
          </a:xfrm>
          <a:prstGeom prst="line">
            <a:avLst/>
          </a:prstGeom>
          <a:noFill/>
          <a:ln w="12700">
            <a:solidFill>
              <a:srgbClr val="6B7A90"/>
            </a:solidFill>
            <a:prstDash val="solid"/>
            <a:tailEnd type="triangle"/>
          </a:ln>
        </p:spPr>
      </p:sp>
      <p:sp>
        <p:nvSpPr>
          <p:cNvPr id="46" name="Shape 44"/>
          <p:cNvSpPr/>
          <p:nvPr/>
        </p:nvSpPr>
        <p:spPr>
          <a:xfrm>
            <a:off x="5669280" y="2926080"/>
            <a:ext cx="640080" cy="246888"/>
          </a:xfrm>
          <a:prstGeom prst="line">
            <a:avLst/>
          </a:prstGeom>
          <a:noFill/>
          <a:ln w="12700">
            <a:solidFill>
              <a:srgbClr val="6B7A90"/>
            </a:solidFill>
            <a:prstDash val="solid"/>
            <a:tailEnd type="triangle"/>
          </a:ln>
        </p:spPr>
      </p:sp>
      <p:sp>
        <p:nvSpPr>
          <p:cNvPr id="47" name="Shape 45"/>
          <p:cNvSpPr/>
          <p:nvPr/>
        </p:nvSpPr>
        <p:spPr>
          <a:xfrm>
            <a:off x="5669280" y="3017520"/>
            <a:ext cx="640080" cy="960120"/>
          </a:xfrm>
          <a:prstGeom prst="line">
            <a:avLst/>
          </a:prstGeom>
          <a:noFill/>
          <a:ln w="12700">
            <a:solidFill>
              <a:srgbClr val="6B7A90"/>
            </a:solidFill>
            <a:prstDash val="solid"/>
            <a:tailEnd type="triangle"/>
          </a:ln>
        </p:spPr>
      </p:sp>
      <p:sp>
        <p:nvSpPr>
          <p:cNvPr id="48" name="Text 46"/>
          <p:cNvSpPr txBox="1"/>
          <p:nvPr/>
        </p:nvSpPr>
        <p:spPr>
          <a:xfrm>
            <a:off x="457200" y="4434840"/>
            <a:ext cx="8229600" cy="320040"/>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Docker (Redpanda, Postgres, all six services) is host-validated: not run in this build environment (ADR-018). The gate and the bench harness never touch a network.</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5486400" cy="228600"/>
          </a:xfrm>
          <a:prstGeom prst="rect">
            <a:avLst/>
          </a:prstGeom>
          <a:noFill/>
          <a:ln/>
        </p:spPr>
        <p:txBody>
          <a:bodyPr wrap="square" lIns="0" tIns="0" rIns="0" bIns="0" rtlCol="0" anchor="ctr"/>
          <a:lstStyle/>
          <a:p>
            <a:pPr indent="0" marL="0">
              <a:buNone/>
            </a:pPr>
            <a:r>
              <a:rPr lang="en-US" sz="1000" b="1" spc="200" kern="0" dirty="0">
                <a:solidFill>
                  <a:srgbClr val="2EC4B6"/>
                </a:solidFill>
                <a:latin typeface="Calibri" pitchFamily="34" charset="0"/>
                <a:ea typeface="Calibri" pitchFamily="34" charset="-122"/>
                <a:cs typeface="Calibri" pitchFamily="34" charset="-120"/>
              </a:rPr>
              <a:t>ARCHITECTURE · C4 LEVEL 2</a:t>
            </a:r>
            <a:endParaRPr lang="en-US" sz="1000" dirty="0"/>
          </a:p>
        </p:txBody>
      </p:sp>
      <p:sp>
        <p:nvSpPr>
          <p:cNvPr id="3" name="Text 1"/>
          <p:cNvSpPr txBox="1"/>
          <p:nvPr/>
        </p:nvSpPr>
        <p:spPr>
          <a:xfrm>
            <a:off x="457200" y="457200"/>
            <a:ext cx="8229600" cy="548640"/>
          </a:xfrm>
          <a:prstGeom prst="rect">
            <a:avLst/>
          </a:prstGeom>
          <a:noFill/>
          <a:ln/>
        </p:spPr>
        <p:txBody>
          <a:bodyPr wrap="square" lIns="0" tIns="0" rIns="0" bIns="0" rtlCol="0" anchor="ctr"/>
          <a:lstStyle/>
          <a:p>
            <a:pPr indent="0" marL="0">
              <a:buNone/>
            </a:pPr>
            <a:r>
              <a:rPr lang="en-US" sz="2600" b="1" dirty="0">
                <a:solidFill>
                  <a:srgbClr val="14213D"/>
                </a:solidFill>
                <a:latin typeface="Cambria" pitchFamily="34" charset="0"/>
                <a:ea typeface="Cambria" pitchFamily="34" charset="-122"/>
                <a:cs typeface="Cambria" pitchFamily="34" charset="-120"/>
              </a:rPr>
              <a:t>Component architecture</a:t>
            </a:r>
            <a:endParaRPr lang="en-US" sz="2600" dirty="0"/>
          </a:p>
        </p:txBody>
      </p:sp>
      <p:sp>
        <p:nvSpPr>
          <p:cNvPr id="4" name="Text 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800" dirty="0">
                <a:solidFill>
                  <a:srgbClr val="6B7A90"/>
                </a:solidFill>
                <a:latin typeface="Calibri" pitchFamily="34" charset="0"/>
                <a:ea typeface="Calibri" pitchFamily="34" charset="-122"/>
                <a:cs typeface="Calibri" pitchFamily="34" charset="-120"/>
              </a:rPr>
              <a:t>Harbormaster · AI Systems Architecture Review · 6</a:t>
            </a:r>
            <a:endParaRPr lang="en-US" sz="800" dirty="0"/>
          </a:p>
        </p:txBody>
      </p:sp>
      <p:sp>
        <p:nvSpPr>
          <p:cNvPr id="5" name="Shape 3"/>
          <p:cNvSpPr/>
          <p:nvPr/>
        </p:nvSpPr>
        <p:spPr>
          <a:xfrm>
            <a:off x="457200" y="1188720"/>
            <a:ext cx="1965960" cy="3246120"/>
          </a:xfrm>
          <a:prstGeom prst="roundRect">
            <a:avLst>
              <a:gd name="adj" fmla="val 2791"/>
            </a:avLst>
          </a:prstGeom>
          <a:solidFill>
            <a:srgbClr val="F3F6FA"/>
          </a:solidFill>
          <a:ln w="9525">
            <a:solidFill>
              <a:srgbClr val="C9D3E0"/>
            </a:solidFill>
            <a:prstDash val="solid"/>
          </a:ln>
        </p:spPr>
      </p:sp>
      <p:sp>
        <p:nvSpPr>
          <p:cNvPr id="6" name="Text 4"/>
          <p:cNvSpPr txBox="1"/>
          <p:nvPr/>
        </p:nvSpPr>
        <p:spPr>
          <a:xfrm>
            <a:off x="548640" y="1243584"/>
            <a:ext cx="1828800" cy="274320"/>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Portwatch (Go)</a:t>
            </a:r>
            <a:endParaRPr lang="en-US" sz="1100" dirty="0"/>
          </a:p>
        </p:txBody>
      </p:sp>
      <p:sp>
        <p:nvSpPr>
          <p:cNvPr id="7" name="Shape 5"/>
          <p:cNvSpPr/>
          <p:nvPr/>
        </p:nvSpPr>
        <p:spPr>
          <a:xfrm>
            <a:off x="548640" y="1572768"/>
            <a:ext cx="1783080" cy="493776"/>
          </a:xfrm>
          <a:prstGeom prst="roundRect">
            <a:avLst>
              <a:gd name="adj" fmla="val 9259"/>
            </a:avLst>
          </a:prstGeom>
          <a:solidFill>
            <a:srgbClr val="FFFFFF"/>
          </a:solidFill>
          <a:ln w="9525">
            <a:solidFill>
              <a:srgbClr val="C9D3E0"/>
            </a:solidFill>
            <a:prstDash val="solid"/>
          </a:ln>
        </p:spPr>
      </p:sp>
      <p:sp>
        <p:nvSpPr>
          <p:cNvPr id="8" name="Text 6"/>
          <p:cNvSpPr txBox="1"/>
          <p:nvPr/>
        </p:nvSpPr>
        <p:spPr>
          <a:xfrm>
            <a:off x="621792" y="1600200"/>
            <a:ext cx="1645920" cy="219456"/>
          </a:xfrm>
          <a:prstGeom prst="rect">
            <a:avLst/>
          </a:prstGeom>
          <a:noFill/>
          <a:ln/>
        </p:spPr>
        <p:txBody>
          <a:bodyPr wrap="square" lIns="0" tIns="0" rIns="0" bIns="0" rtlCol="0" anchor="ctr"/>
          <a:lstStyle/>
          <a:p>
            <a:pPr indent="0" marL="0">
              <a:buNone/>
            </a:pPr>
            <a:r>
              <a:rPr lang="en-US" sz="850" b="1" dirty="0">
                <a:solidFill>
                  <a:srgbClr val="14213D"/>
                </a:solidFill>
                <a:latin typeface="Courier New" pitchFamily="34" charset="0"/>
                <a:ea typeface="Courier New" pitchFamily="34" charset="-122"/>
                <a:cs typeface="Courier New" pitchFamily="34" charset="-120"/>
              </a:rPr>
              <a:t>scanner.go</a:t>
            </a:r>
            <a:endParaRPr lang="en-US" sz="850" dirty="0"/>
          </a:p>
        </p:txBody>
      </p:sp>
      <p:sp>
        <p:nvSpPr>
          <p:cNvPr id="9" name="Text 7"/>
          <p:cNvSpPr txBox="1"/>
          <p:nvPr/>
        </p:nvSpPr>
        <p:spPr>
          <a:xfrm>
            <a:off x="621792" y="1801368"/>
            <a:ext cx="1645920" cy="237744"/>
          </a:xfrm>
          <a:prstGeom prst="rect">
            <a:avLst/>
          </a:prstGeom>
          <a:noFill/>
          <a:ln/>
        </p:spPr>
        <p:txBody>
          <a:bodyPr wrap="square" lIns="0" tIns="0" rIns="0" bIns="0" rtlCol="0" anchor="ctr"/>
          <a:lstStyle/>
          <a:p>
            <a:pPr indent="0" marL="0">
              <a:buNone/>
            </a:pPr>
            <a:r>
              <a:rPr lang="en-US" sz="800" dirty="0">
                <a:solidFill>
                  <a:srgbClr val="1B2A41"/>
                </a:solidFill>
                <a:latin typeface="Calibri" pitchFamily="34" charset="0"/>
                <a:ea typeface="Calibri" pitchFamily="34" charset="-122"/>
                <a:cs typeface="Calibri" pitchFamily="34" charset="-120"/>
              </a:rPr>
              <a:t>write-completion detection</a:t>
            </a:r>
            <a:endParaRPr lang="en-US" sz="800" dirty="0"/>
          </a:p>
        </p:txBody>
      </p:sp>
      <p:sp>
        <p:nvSpPr>
          <p:cNvPr id="10" name="Shape 8"/>
          <p:cNvSpPr/>
          <p:nvPr/>
        </p:nvSpPr>
        <p:spPr>
          <a:xfrm>
            <a:off x="548640" y="2139696"/>
            <a:ext cx="1783080" cy="493776"/>
          </a:xfrm>
          <a:prstGeom prst="roundRect">
            <a:avLst>
              <a:gd name="adj" fmla="val 9259"/>
            </a:avLst>
          </a:prstGeom>
          <a:solidFill>
            <a:srgbClr val="FFFFFF"/>
          </a:solidFill>
          <a:ln w="9525">
            <a:solidFill>
              <a:srgbClr val="C9D3E0"/>
            </a:solidFill>
            <a:prstDash val="solid"/>
          </a:ln>
        </p:spPr>
      </p:sp>
      <p:sp>
        <p:nvSpPr>
          <p:cNvPr id="11" name="Text 9"/>
          <p:cNvSpPr txBox="1"/>
          <p:nvPr/>
        </p:nvSpPr>
        <p:spPr>
          <a:xfrm>
            <a:off x="621792" y="2167128"/>
            <a:ext cx="1645920" cy="219456"/>
          </a:xfrm>
          <a:prstGeom prst="rect">
            <a:avLst/>
          </a:prstGeom>
          <a:noFill/>
          <a:ln/>
        </p:spPr>
        <p:txBody>
          <a:bodyPr wrap="square" lIns="0" tIns="0" rIns="0" bIns="0" rtlCol="0" anchor="ctr"/>
          <a:lstStyle/>
          <a:p>
            <a:pPr indent="0" marL="0">
              <a:buNone/>
            </a:pPr>
            <a:r>
              <a:rPr lang="en-US" sz="850" b="1" dirty="0">
                <a:solidFill>
                  <a:srgbClr val="14213D"/>
                </a:solidFill>
                <a:latin typeface="Courier New" pitchFamily="34" charset="0"/>
                <a:ea typeface="Courier New" pitchFamily="34" charset="-122"/>
                <a:cs typeface="Courier New" pitchFamily="34" charset="-120"/>
              </a:rPr>
              <a:t>dedupe.go</a:t>
            </a:r>
            <a:endParaRPr lang="en-US" sz="850" dirty="0"/>
          </a:p>
        </p:txBody>
      </p:sp>
      <p:sp>
        <p:nvSpPr>
          <p:cNvPr id="12" name="Text 10"/>
          <p:cNvSpPr txBox="1"/>
          <p:nvPr/>
        </p:nvSpPr>
        <p:spPr>
          <a:xfrm>
            <a:off x="621792" y="2368296"/>
            <a:ext cx="1645920" cy="237744"/>
          </a:xfrm>
          <a:prstGeom prst="rect">
            <a:avLst/>
          </a:prstGeom>
          <a:noFill/>
          <a:ln/>
        </p:spPr>
        <p:txBody>
          <a:bodyPr wrap="square" lIns="0" tIns="0" rIns="0" bIns="0" rtlCol="0" anchor="ctr"/>
          <a:lstStyle/>
          <a:p>
            <a:pPr indent="0" marL="0">
              <a:buNone/>
            </a:pPr>
            <a:r>
              <a:rPr lang="en-US" sz="800" dirty="0">
                <a:solidFill>
                  <a:srgbClr val="1B2A41"/>
                </a:solidFill>
                <a:latin typeface="Calibri" pitchFamily="34" charset="0"/>
                <a:ea typeface="Calibri" pitchFamily="34" charset="-122"/>
                <a:cs typeface="Calibri" pitchFamily="34" charset="-120"/>
              </a:rPr>
              <a:t>content hashing gate</a:t>
            </a:r>
            <a:endParaRPr lang="en-US" sz="800" dirty="0"/>
          </a:p>
        </p:txBody>
      </p:sp>
      <p:sp>
        <p:nvSpPr>
          <p:cNvPr id="13" name="Shape 11"/>
          <p:cNvSpPr/>
          <p:nvPr/>
        </p:nvSpPr>
        <p:spPr>
          <a:xfrm>
            <a:off x="548640" y="2706624"/>
            <a:ext cx="1783080" cy="493776"/>
          </a:xfrm>
          <a:prstGeom prst="roundRect">
            <a:avLst>
              <a:gd name="adj" fmla="val 9259"/>
            </a:avLst>
          </a:prstGeom>
          <a:solidFill>
            <a:srgbClr val="FFFFFF"/>
          </a:solidFill>
          <a:ln w="9525">
            <a:solidFill>
              <a:srgbClr val="C9D3E0"/>
            </a:solidFill>
            <a:prstDash val="solid"/>
          </a:ln>
        </p:spPr>
      </p:sp>
      <p:sp>
        <p:nvSpPr>
          <p:cNvPr id="14" name="Text 12"/>
          <p:cNvSpPr txBox="1"/>
          <p:nvPr/>
        </p:nvSpPr>
        <p:spPr>
          <a:xfrm>
            <a:off x="621792" y="2734056"/>
            <a:ext cx="1645920" cy="219456"/>
          </a:xfrm>
          <a:prstGeom prst="rect">
            <a:avLst/>
          </a:prstGeom>
          <a:noFill/>
          <a:ln/>
        </p:spPr>
        <p:txBody>
          <a:bodyPr wrap="square" lIns="0" tIns="0" rIns="0" bIns="0" rtlCol="0" anchor="ctr"/>
          <a:lstStyle/>
          <a:p>
            <a:pPr indent="0" marL="0">
              <a:buNone/>
            </a:pPr>
            <a:r>
              <a:rPr lang="en-US" sz="850" b="1" dirty="0">
                <a:solidFill>
                  <a:srgbClr val="14213D"/>
                </a:solidFill>
                <a:latin typeface="Courier New" pitchFamily="34" charset="0"/>
                <a:ea typeface="Courier New" pitchFamily="34" charset="-122"/>
                <a:cs typeface="Courier New" pitchFamily="34" charset="-120"/>
              </a:rPr>
              <a:t>ingress/queue.go</a:t>
            </a:r>
            <a:endParaRPr lang="en-US" sz="850" dirty="0"/>
          </a:p>
        </p:txBody>
      </p:sp>
      <p:sp>
        <p:nvSpPr>
          <p:cNvPr id="15" name="Text 13"/>
          <p:cNvSpPr txBox="1"/>
          <p:nvPr/>
        </p:nvSpPr>
        <p:spPr>
          <a:xfrm>
            <a:off x="621792" y="2935224"/>
            <a:ext cx="1645920" cy="237744"/>
          </a:xfrm>
          <a:prstGeom prst="rect">
            <a:avLst/>
          </a:prstGeom>
          <a:noFill/>
          <a:ln/>
        </p:spPr>
        <p:txBody>
          <a:bodyPr wrap="square" lIns="0" tIns="0" rIns="0" bIns="0" rtlCol="0" anchor="ctr"/>
          <a:lstStyle/>
          <a:p>
            <a:pPr indent="0" marL="0">
              <a:buNone/>
            </a:pPr>
            <a:r>
              <a:rPr lang="en-US" sz="800" dirty="0">
                <a:solidFill>
                  <a:srgbClr val="1B2A41"/>
                </a:solidFill>
                <a:latin typeface="Calibri" pitchFamily="34" charset="0"/>
                <a:ea typeface="Calibri" pitchFamily="34" charset="-122"/>
                <a:cs typeface="Calibri" pitchFamily="34" charset="-120"/>
              </a:rPr>
              <a:t>JSON ingress path</a:t>
            </a:r>
            <a:endParaRPr lang="en-US" sz="800" dirty="0"/>
          </a:p>
        </p:txBody>
      </p:sp>
      <p:sp>
        <p:nvSpPr>
          <p:cNvPr id="16" name="Shape 14"/>
          <p:cNvSpPr/>
          <p:nvPr/>
        </p:nvSpPr>
        <p:spPr>
          <a:xfrm>
            <a:off x="2606040" y="1188720"/>
            <a:ext cx="1965960" cy="3246120"/>
          </a:xfrm>
          <a:prstGeom prst="roundRect">
            <a:avLst>
              <a:gd name="adj" fmla="val 2791"/>
            </a:avLst>
          </a:prstGeom>
          <a:solidFill>
            <a:srgbClr val="F3F6FA"/>
          </a:solidFill>
          <a:ln w="9525">
            <a:solidFill>
              <a:srgbClr val="C9D3E0"/>
            </a:solidFill>
            <a:prstDash val="solid"/>
          </a:ln>
        </p:spPr>
      </p:sp>
      <p:sp>
        <p:nvSpPr>
          <p:cNvPr id="17" name="Text 15"/>
          <p:cNvSpPr txBox="1"/>
          <p:nvPr/>
        </p:nvSpPr>
        <p:spPr>
          <a:xfrm>
            <a:off x="2697480" y="1243584"/>
            <a:ext cx="1828800" cy="274320"/>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Inspector (Python)</a:t>
            </a:r>
            <a:endParaRPr lang="en-US" sz="1100" dirty="0"/>
          </a:p>
        </p:txBody>
      </p:sp>
      <p:sp>
        <p:nvSpPr>
          <p:cNvPr id="18" name="Shape 16"/>
          <p:cNvSpPr/>
          <p:nvPr/>
        </p:nvSpPr>
        <p:spPr>
          <a:xfrm>
            <a:off x="2697480" y="1572768"/>
            <a:ext cx="1783080" cy="493776"/>
          </a:xfrm>
          <a:prstGeom prst="roundRect">
            <a:avLst>
              <a:gd name="adj" fmla="val 9259"/>
            </a:avLst>
          </a:prstGeom>
          <a:solidFill>
            <a:srgbClr val="FFFFFF"/>
          </a:solidFill>
          <a:ln w="9525">
            <a:solidFill>
              <a:srgbClr val="C9D3E0"/>
            </a:solidFill>
            <a:prstDash val="solid"/>
          </a:ln>
        </p:spPr>
      </p:sp>
      <p:sp>
        <p:nvSpPr>
          <p:cNvPr id="19" name="Text 17"/>
          <p:cNvSpPr txBox="1"/>
          <p:nvPr/>
        </p:nvSpPr>
        <p:spPr>
          <a:xfrm>
            <a:off x="2770632" y="1600200"/>
            <a:ext cx="1645920" cy="219456"/>
          </a:xfrm>
          <a:prstGeom prst="rect">
            <a:avLst/>
          </a:prstGeom>
          <a:noFill/>
          <a:ln/>
        </p:spPr>
        <p:txBody>
          <a:bodyPr wrap="square" lIns="0" tIns="0" rIns="0" bIns="0" rtlCol="0" anchor="ctr"/>
          <a:lstStyle/>
          <a:p>
            <a:pPr indent="0" marL="0">
              <a:buNone/>
            </a:pPr>
            <a:r>
              <a:rPr lang="en-US" sz="850" b="1" dirty="0">
                <a:solidFill>
                  <a:srgbClr val="14213D"/>
                </a:solidFill>
                <a:latin typeface="Courier New" pitchFamily="34" charset="0"/>
                <a:ea typeface="Courier New" pitchFamily="34" charset="-122"/>
                <a:cs typeface="Courier New" pitchFamily="34" charset="-120"/>
              </a:rPr>
              <a:t>parsers/*</a:t>
            </a:r>
            <a:endParaRPr lang="en-US" sz="850" dirty="0"/>
          </a:p>
        </p:txBody>
      </p:sp>
      <p:sp>
        <p:nvSpPr>
          <p:cNvPr id="20" name="Text 18"/>
          <p:cNvSpPr txBox="1"/>
          <p:nvPr/>
        </p:nvSpPr>
        <p:spPr>
          <a:xfrm>
            <a:off x="2770632" y="1801368"/>
            <a:ext cx="1645920" cy="237744"/>
          </a:xfrm>
          <a:prstGeom prst="rect">
            <a:avLst/>
          </a:prstGeom>
          <a:noFill/>
          <a:ln/>
        </p:spPr>
        <p:txBody>
          <a:bodyPr wrap="square" lIns="0" tIns="0" rIns="0" bIns="0" rtlCol="0" anchor="ctr"/>
          <a:lstStyle/>
          <a:p>
            <a:pPr indent="0" marL="0">
              <a:buNone/>
            </a:pPr>
            <a:r>
              <a:rPr lang="en-US" sz="800" dirty="0">
                <a:solidFill>
                  <a:srgbClr val="1B2A41"/>
                </a:solidFill>
                <a:latin typeface="Calibri" pitchFamily="34" charset="0"/>
                <a:ea typeface="Calibri" pitchFamily="34" charset="-122"/>
                <a:cs typeface="Calibri" pitchFamily="34" charset="-120"/>
              </a:rPr>
              <a:t>delimited · excel · xml · fixml · email</a:t>
            </a:r>
            <a:endParaRPr lang="en-US" sz="800" dirty="0"/>
          </a:p>
        </p:txBody>
      </p:sp>
      <p:sp>
        <p:nvSpPr>
          <p:cNvPr id="21" name="Shape 19"/>
          <p:cNvSpPr/>
          <p:nvPr/>
        </p:nvSpPr>
        <p:spPr>
          <a:xfrm>
            <a:off x="2697480" y="2139696"/>
            <a:ext cx="1783080" cy="493776"/>
          </a:xfrm>
          <a:prstGeom prst="roundRect">
            <a:avLst>
              <a:gd name="adj" fmla="val 9259"/>
            </a:avLst>
          </a:prstGeom>
          <a:solidFill>
            <a:srgbClr val="FFFFFF"/>
          </a:solidFill>
          <a:ln w="9525">
            <a:solidFill>
              <a:srgbClr val="C9D3E0"/>
            </a:solidFill>
            <a:prstDash val="solid"/>
          </a:ln>
        </p:spPr>
      </p:sp>
      <p:sp>
        <p:nvSpPr>
          <p:cNvPr id="22" name="Text 20"/>
          <p:cNvSpPr txBox="1"/>
          <p:nvPr/>
        </p:nvSpPr>
        <p:spPr>
          <a:xfrm>
            <a:off x="2770632" y="2167128"/>
            <a:ext cx="1645920" cy="219456"/>
          </a:xfrm>
          <a:prstGeom prst="rect">
            <a:avLst/>
          </a:prstGeom>
          <a:noFill/>
          <a:ln/>
        </p:spPr>
        <p:txBody>
          <a:bodyPr wrap="square" lIns="0" tIns="0" rIns="0" bIns="0" rtlCol="0" anchor="ctr"/>
          <a:lstStyle/>
          <a:p>
            <a:pPr indent="0" marL="0">
              <a:buNone/>
            </a:pPr>
            <a:r>
              <a:rPr lang="en-US" sz="850" b="1" dirty="0">
                <a:solidFill>
                  <a:srgbClr val="14213D"/>
                </a:solidFill>
                <a:latin typeface="Courier New" pitchFamily="34" charset="0"/>
                <a:ea typeface="Courier New" pitchFamily="34" charset="-122"/>
                <a:cs typeface="Courier New" pitchFamily="34" charset="-120"/>
              </a:rPr>
              <a:t>attribution.py</a:t>
            </a:r>
            <a:endParaRPr lang="en-US" sz="850" dirty="0"/>
          </a:p>
        </p:txBody>
      </p:sp>
      <p:sp>
        <p:nvSpPr>
          <p:cNvPr id="23" name="Text 21"/>
          <p:cNvSpPr txBox="1"/>
          <p:nvPr/>
        </p:nvSpPr>
        <p:spPr>
          <a:xfrm>
            <a:off x="2770632" y="2368296"/>
            <a:ext cx="1645920" cy="237744"/>
          </a:xfrm>
          <a:prstGeom prst="rect">
            <a:avLst/>
          </a:prstGeom>
          <a:noFill/>
          <a:ln/>
        </p:spPr>
        <p:txBody>
          <a:bodyPr wrap="square" lIns="0" tIns="0" rIns="0" bIns="0" rtlCol="0" anchor="ctr"/>
          <a:lstStyle/>
          <a:p>
            <a:pPr indent="0" marL="0">
              <a:buNone/>
            </a:pPr>
            <a:r>
              <a:rPr lang="en-US" sz="800" dirty="0">
                <a:solidFill>
                  <a:srgbClr val="1B2A41"/>
                </a:solidFill>
                <a:latin typeface="Calibri" pitchFamily="34" charset="0"/>
                <a:ea typeface="Calibri" pitchFamily="34" charset="-122"/>
                <a:cs typeface="Calibri" pitchFamily="34" charset="-120"/>
              </a:rPr>
              <a:t>client scoring</a:t>
            </a:r>
            <a:endParaRPr lang="en-US" sz="800" dirty="0"/>
          </a:p>
        </p:txBody>
      </p:sp>
      <p:sp>
        <p:nvSpPr>
          <p:cNvPr id="24" name="Shape 22"/>
          <p:cNvSpPr/>
          <p:nvPr/>
        </p:nvSpPr>
        <p:spPr>
          <a:xfrm>
            <a:off x="2697480" y="2706624"/>
            <a:ext cx="1783080" cy="493776"/>
          </a:xfrm>
          <a:prstGeom prst="roundRect">
            <a:avLst>
              <a:gd name="adj" fmla="val 9259"/>
            </a:avLst>
          </a:prstGeom>
          <a:solidFill>
            <a:srgbClr val="FFFFFF"/>
          </a:solidFill>
          <a:ln w="9525">
            <a:solidFill>
              <a:srgbClr val="C9D3E0"/>
            </a:solidFill>
            <a:prstDash val="solid"/>
          </a:ln>
        </p:spPr>
      </p:sp>
      <p:sp>
        <p:nvSpPr>
          <p:cNvPr id="25" name="Text 23"/>
          <p:cNvSpPr txBox="1"/>
          <p:nvPr/>
        </p:nvSpPr>
        <p:spPr>
          <a:xfrm>
            <a:off x="2770632" y="2734056"/>
            <a:ext cx="1645920" cy="219456"/>
          </a:xfrm>
          <a:prstGeom prst="rect">
            <a:avLst/>
          </a:prstGeom>
          <a:noFill/>
          <a:ln/>
        </p:spPr>
        <p:txBody>
          <a:bodyPr wrap="square" lIns="0" tIns="0" rIns="0" bIns="0" rtlCol="0" anchor="ctr"/>
          <a:lstStyle/>
          <a:p>
            <a:pPr indent="0" marL="0">
              <a:buNone/>
            </a:pPr>
            <a:r>
              <a:rPr lang="en-US" sz="850" b="1" dirty="0">
                <a:solidFill>
                  <a:srgbClr val="14213D"/>
                </a:solidFill>
                <a:latin typeface="Courier New" pitchFamily="34" charset="0"/>
                <a:ea typeface="Courier New" pitchFamily="34" charset="-122"/>
                <a:cs typeface="Courier New" pitchFamily="34" charset="-120"/>
              </a:rPr>
              <a:t>valuedate.py</a:t>
            </a:r>
            <a:endParaRPr lang="en-US" sz="850" dirty="0"/>
          </a:p>
        </p:txBody>
      </p:sp>
      <p:sp>
        <p:nvSpPr>
          <p:cNvPr id="26" name="Text 24"/>
          <p:cNvSpPr txBox="1"/>
          <p:nvPr/>
        </p:nvSpPr>
        <p:spPr>
          <a:xfrm>
            <a:off x="2770632" y="2935224"/>
            <a:ext cx="1645920" cy="237744"/>
          </a:xfrm>
          <a:prstGeom prst="rect">
            <a:avLst/>
          </a:prstGeom>
          <a:noFill/>
          <a:ln/>
        </p:spPr>
        <p:txBody>
          <a:bodyPr wrap="square" lIns="0" tIns="0" rIns="0" bIns="0" rtlCol="0" anchor="ctr"/>
          <a:lstStyle/>
          <a:p>
            <a:pPr indent="0" marL="0">
              <a:buNone/>
            </a:pPr>
            <a:r>
              <a:rPr lang="en-US" sz="800" dirty="0">
                <a:solidFill>
                  <a:srgbClr val="1B2A41"/>
                </a:solidFill>
                <a:latin typeface="Calibri" pitchFamily="34" charset="0"/>
                <a:ea typeface="Calibri" pitchFamily="34" charset="-122"/>
                <a:cs typeface="Calibri" pitchFamily="34" charset="-120"/>
              </a:rPr>
              <a:t>3-source resolution</a:t>
            </a:r>
            <a:endParaRPr lang="en-US" sz="800" dirty="0"/>
          </a:p>
        </p:txBody>
      </p:sp>
      <p:sp>
        <p:nvSpPr>
          <p:cNvPr id="27" name="Shape 25"/>
          <p:cNvSpPr/>
          <p:nvPr/>
        </p:nvSpPr>
        <p:spPr>
          <a:xfrm>
            <a:off x="2697480" y="3273552"/>
            <a:ext cx="1783080" cy="493776"/>
          </a:xfrm>
          <a:prstGeom prst="roundRect">
            <a:avLst>
              <a:gd name="adj" fmla="val 9259"/>
            </a:avLst>
          </a:prstGeom>
          <a:solidFill>
            <a:srgbClr val="FFFFFF"/>
          </a:solidFill>
          <a:ln w="9525">
            <a:solidFill>
              <a:srgbClr val="C9D3E0"/>
            </a:solidFill>
            <a:prstDash val="solid"/>
          </a:ln>
        </p:spPr>
      </p:sp>
      <p:sp>
        <p:nvSpPr>
          <p:cNvPr id="28" name="Text 26"/>
          <p:cNvSpPr txBox="1"/>
          <p:nvPr/>
        </p:nvSpPr>
        <p:spPr>
          <a:xfrm>
            <a:off x="2770632" y="3300984"/>
            <a:ext cx="1645920" cy="219456"/>
          </a:xfrm>
          <a:prstGeom prst="rect">
            <a:avLst/>
          </a:prstGeom>
          <a:noFill/>
          <a:ln/>
        </p:spPr>
        <p:txBody>
          <a:bodyPr wrap="square" lIns="0" tIns="0" rIns="0" bIns="0" rtlCol="0" anchor="ctr"/>
          <a:lstStyle/>
          <a:p>
            <a:pPr indent="0" marL="0">
              <a:buNone/>
            </a:pPr>
            <a:r>
              <a:rPr lang="en-US" sz="850" b="1" dirty="0">
                <a:solidFill>
                  <a:srgbClr val="14213D"/>
                </a:solidFill>
                <a:latin typeface="Courier New" pitchFamily="34" charset="0"/>
                <a:ea typeface="Courier New" pitchFamily="34" charset="-122"/>
                <a:cs typeface="Courier New" pitchFamily="34" charset="-120"/>
              </a:rPr>
              <a:t>mapping/*</a:t>
            </a:r>
            <a:endParaRPr lang="en-US" sz="850" dirty="0"/>
          </a:p>
        </p:txBody>
      </p:sp>
      <p:sp>
        <p:nvSpPr>
          <p:cNvPr id="29" name="Text 27"/>
          <p:cNvSpPr txBox="1"/>
          <p:nvPr/>
        </p:nvSpPr>
        <p:spPr>
          <a:xfrm>
            <a:off x="2770632" y="3502152"/>
            <a:ext cx="1645920" cy="237744"/>
          </a:xfrm>
          <a:prstGeom prst="rect">
            <a:avLst/>
          </a:prstGeom>
          <a:noFill/>
          <a:ln/>
        </p:spPr>
        <p:txBody>
          <a:bodyPr wrap="square" lIns="0" tIns="0" rIns="0" bIns="0" rtlCol="0" anchor="ctr"/>
          <a:lstStyle/>
          <a:p>
            <a:pPr indent="0" marL="0">
              <a:buNone/>
            </a:pPr>
            <a:r>
              <a:rPr lang="en-US" sz="800" dirty="0">
                <a:solidFill>
                  <a:srgbClr val="1B2A41"/>
                </a:solidFill>
                <a:latin typeface="Calibri" pitchFamily="34" charset="0"/>
                <a:ea typeface="Calibri" pitchFamily="34" charset="-122"/>
                <a:cs typeface="Calibri" pitchFamily="34" charset="-120"/>
              </a:rPr>
              <a:t>tier1 · tier2 · tier3 · resolver</a:t>
            </a:r>
            <a:endParaRPr lang="en-US" sz="800" dirty="0"/>
          </a:p>
        </p:txBody>
      </p:sp>
      <p:sp>
        <p:nvSpPr>
          <p:cNvPr id="30" name="Shape 28"/>
          <p:cNvSpPr/>
          <p:nvPr/>
        </p:nvSpPr>
        <p:spPr>
          <a:xfrm>
            <a:off x="2697480" y="3840480"/>
            <a:ext cx="1783080" cy="493776"/>
          </a:xfrm>
          <a:prstGeom prst="roundRect">
            <a:avLst>
              <a:gd name="adj" fmla="val 9259"/>
            </a:avLst>
          </a:prstGeom>
          <a:solidFill>
            <a:srgbClr val="FFFFFF"/>
          </a:solidFill>
          <a:ln w="9525">
            <a:solidFill>
              <a:srgbClr val="C9D3E0"/>
            </a:solidFill>
            <a:prstDash val="solid"/>
          </a:ln>
        </p:spPr>
      </p:sp>
      <p:sp>
        <p:nvSpPr>
          <p:cNvPr id="31" name="Text 29"/>
          <p:cNvSpPr txBox="1"/>
          <p:nvPr/>
        </p:nvSpPr>
        <p:spPr>
          <a:xfrm>
            <a:off x="2770632" y="3867912"/>
            <a:ext cx="1645920" cy="219456"/>
          </a:xfrm>
          <a:prstGeom prst="rect">
            <a:avLst/>
          </a:prstGeom>
          <a:noFill/>
          <a:ln/>
        </p:spPr>
        <p:txBody>
          <a:bodyPr wrap="square" lIns="0" tIns="0" rIns="0" bIns="0" rtlCol="0" anchor="ctr"/>
          <a:lstStyle/>
          <a:p>
            <a:pPr indent="0" marL="0">
              <a:buNone/>
            </a:pPr>
            <a:r>
              <a:rPr lang="en-US" sz="850" b="1" dirty="0">
                <a:solidFill>
                  <a:srgbClr val="14213D"/>
                </a:solidFill>
                <a:latin typeface="Courier New" pitchFamily="34" charset="0"/>
                <a:ea typeface="Courier New" pitchFamily="34" charset="-122"/>
                <a:cs typeface="Courier New" pitchFamily="34" charset="-120"/>
              </a:rPr>
              <a:t>confidence.py</a:t>
            </a:r>
            <a:endParaRPr lang="en-US" sz="850" dirty="0"/>
          </a:p>
        </p:txBody>
      </p:sp>
      <p:sp>
        <p:nvSpPr>
          <p:cNvPr id="32" name="Text 30"/>
          <p:cNvSpPr txBox="1"/>
          <p:nvPr/>
        </p:nvSpPr>
        <p:spPr>
          <a:xfrm>
            <a:off x="2770632" y="4069080"/>
            <a:ext cx="1645920" cy="237744"/>
          </a:xfrm>
          <a:prstGeom prst="rect">
            <a:avLst/>
          </a:prstGeom>
          <a:noFill/>
          <a:ln/>
        </p:spPr>
        <p:txBody>
          <a:bodyPr wrap="square" lIns="0" tIns="0" rIns="0" bIns="0" rtlCol="0" anchor="ctr"/>
          <a:lstStyle/>
          <a:p>
            <a:pPr indent="0" marL="0">
              <a:buNone/>
            </a:pPr>
            <a:r>
              <a:rPr lang="en-US" sz="800" dirty="0">
                <a:solidFill>
                  <a:srgbClr val="1B2A41"/>
                </a:solidFill>
                <a:latin typeface="Calibri" pitchFamily="34" charset="0"/>
                <a:ea typeface="Calibri" pitchFamily="34" charset="-122"/>
                <a:cs typeface="Calibri" pitchFamily="34" charset="-120"/>
              </a:rPr>
              <a:t>dispatch/quarantine/reject</a:t>
            </a:r>
            <a:endParaRPr lang="en-US" sz="800" dirty="0"/>
          </a:p>
        </p:txBody>
      </p:sp>
      <p:sp>
        <p:nvSpPr>
          <p:cNvPr id="33" name="Shape 31"/>
          <p:cNvSpPr/>
          <p:nvPr/>
        </p:nvSpPr>
        <p:spPr>
          <a:xfrm>
            <a:off x="4754880" y="1188720"/>
            <a:ext cx="1965960" cy="3246120"/>
          </a:xfrm>
          <a:prstGeom prst="roundRect">
            <a:avLst>
              <a:gd name="adj" fmla="val 2791"/>
            </a:avLst>
          </a:prstGeom>
          <a:solidFill>
            <a:srgbClr val="F3F6FA"/>
          </a:solidFill>
          <a:ln w="9525">
            <a:solidFill>
              <a:srgbClr val="C9D3E0"/>
            </a:solidFill>
            <a:prstDash val="solid"/>
          </a:ln>
        </p:spPr>
      </p:sp>
      <p:sp>
        <p:nvSpPr>
          <p:cNvPr id="34" name="Text 32"/>
          <p:cNvSpPr txBox="1"/>
          <p:nvPr/>
        </p:nvSpPr>
        <p:spPr>
          <a:xfrm>
            <a:off x="4846320" y="1243584"/>
            <a:ext cx="1828800" cy="274320"/>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Berthmaster (Go)</a:t>
            </a:r>
            <a:endParaRPr lang="en-US" sz="1100" dirty="0"/>
          </a:p>
        </p:txBody>
      </p:sp>
      <p:sp>
        <p:nvSpPr>
          <p:cNvPr id="35" name="Shape 33"/>
          <p:cNvSpPr/>
          <p:nvPr/>
        </p:nvSpPr>
        <p:spPr>
          <a:xfrm>
            <a:off x="4846320" y="1572768"/>
            <a:ext cx="1783080" cy="493776"/>
          </a:xfrm>
          <a:prstGeom prst="roundRect">
            <a:avLst>
              <a:gd name="adj" fmla="val 9259"/>
            </a:avLst>
          </a:prstGeom>
          <a:solidFill>
            <a:srgbClr val="FFFFFF"/>
          </a:solidFill>
          <a:ln w="9525">
            <a:solidFill>
              <a:srgbClr val="C9D3E0"/>
            </a:solidFill>
            <a:prstDash val="solid"/>
          </a:ln>
        </p:spPr>
      </p:sp>
      <p:sp>
        <p:nvSpPr>
          <p:cNvPr id="36" name="Text 34"/>
          <p:cNvSpPr txBox="1"/>
          <p:nvPr/>
        </p:nvSpPr>
        <p:spPr>
          <a:xfrm>
            <a:off x="4919472" y="1600200"/>
            <a:ext cx="1645920" cy="219456"/>
          </a:xfrm>
          <a:prstGeom prst="rect">
            <a:avLst/>
          </a:prstGeom>
          <a:noFill/>
          <a:ln/>
        </p:spPr>
        <p:txBody>
          <a:bodyPr wrap="square" lIns="0" tIns="0" rIns="0" bIns="0" rtlCol="0" anchor="ctr"/>
          <a:lstStyle/>
          <a:p>
            <a:pPr indent="0" marL="0">
              <a:buNone/>
            </a:pPr>
            <a:r>
              <a:rPr lang="en-US" sz="850" b="1" dirty="0">
                <a:solidFill>
                  <a:srgbClr val="14213D"/>
                </a:solidFill>
                <a:latin typeface="Courier New" pitchFamily="34" charset="0"/>
                <a:ea typeface="Courier New" pitchFamily="34" charset="-122"/>
                <a:cs typeface="Courier New" pitchFamily="34" charset="-120"/>
              </a:rPr>
              <a:t>slot state machine</a:t>
            </a:r>
            <a:endParaRPr lang="en-US" sz="850" dirty="0"/>
          </a:p>
        </p:txBody>
      </p:sp>
      <p:sp>
        <p:nvSpPr>
          <p:cNvPr id="37" name="Text 35"/>
          <p:cNvSpPr txBox="1"/>
          <p:nvPr/>
        </p:nvSpPr>
        <p:spPr>
          <a:xfrm>
            <a:off x="4919472" y="1801368"/>
            <a:ext cx="1645920" cy="237744"/>
          </a:xfrm>
          <a:prstGeom prst="rect">
            <a:avLst/>
          </a:prstGeom>
          <a:noFill/>
          <a:ln/>
        </p:spPr>
        <p:txBody>
          <a:bodyPr wrap="square" lIns="0" tIns="0" rIns="0" bIns="0" rtlCol="0" anchor="ctr"/>
          <a:lstStyle/>
          <a:p>
            <a:pPr indent="0" marL="0">
              <a:buNone/>
            </a:pPr>
            <a:r>
              <a:rPr lang="en-US" sz="800" dirty="0">
                <a:solidFill>
                  <a:srgbClr val="1B2A41"/>
                </a:solidFill>
                <a:latin typeface="Calibri" pitchFamily="34" charset="0"/>
                <a:ea typeface="Calibri" pitchFamily="34" charset="-122"/>
                <a:cs typeface="Calibri" pitchFamily="34" charset="-120"/>
              </a:rPr>
              <a:t>expectation, late window</a:t>
            </a:r>
            <a:endParaRPr lang="en-US" sz="800" dirty="0"/>
          </a:p>
        </p:txBody>
      </p:sp>
      <p:sp>
        <p:nvSpPr>
          <p:cNvPr id="38" name="Shape 36"/>
          <p:cNvSpPr/>
          <p:nvPr/>
        </p:nvSpPr>
        <p:spPr>
          <a:xfrm>
            <a:off x="4846320" y="2139696"/>
            <a:ext cx="1783080" cy="493776"/>
          </a:xfrm>
          <a:prstGeom prst="roundRect">
            <a:avLst>
              <a:gd name="adj" fmla="val 9259"/>
            </a:avLst>
          </a:prstGeom>
          <a:solidFill>
            <a:srgbClr val="FFFFFF"/>
          </a:solidFill>
          <a:ln w="9525">
            <a:solidFill>
              <a:srgbClr val="C9D3E0"/>
            </a:solidFill>
            <a:prstDash val="solid"/>
          </a:ln>
        </p:spPr>
      </p:sp>
      <p:sp>
        <p:nvSpPr>
          <p:cNvPr id="39" name="Text 37"/>
          <p:cNvSpPr txBox="1"/>
          <p:nvPr/>
        </p:nvSpPr>
        <p:spPr>
          <a:xfrm>
            <a:off x="4919472" y="2167128"/>
            <a:ext cx="1645920" cy="219456"/>
          </a:xfrm>
          <a:prstGeom prst="rect">
            <a:avLst/>
          </a:prstGeom>
          <a:noFill/>
          <a:ln/>
        </p:spPr>
        <p:txBody>
          <a:bodyPr wrap="square" lIns="0" tIns="0" rIns="0" bIns="0" rtlCol="0" anchor="ctr"/>
          <a:lstStyle/>
          <a:p>
            <a:pPr indent="0" marL="0">
              <a:buNone/>
            </a:pPr>
            <a:r>
              <a:rPr lang="en-US" sz="850" b="1" dirty="0">
                <a:solidFill>
                  <a:srgbClr val="14213D"/>
                </a:solidFill>
                <a:latin typeface="Courier New" pitchFamily="34" charset="0"/>
                <a:ea typeface="Courier New" pitchFamily="34" charset="-122"/>
                <a:cs typeface="Courier New" pitchFamily="34" charset="-120"/>
              </a:rPr>
              <a:t>supersession</a:t>
            </a:r>
            <a:endParaRPr lang="en-US" sz="850" dirty="0"/>
          </a:p>
        </p:txBody>
      </p:sp>
      <p:sp>
        <p:nvSpPr>
          <p:cNvPr id="40" name="Text 38"/>
          <p:cNvSpPr txBox="1"/>
          <p:nvPr/>
        </p:nvSpPr>
        <p:spPr>
          <a:xfrm>
            <a:off x="4919472" y="2368296"/>
            <a:ext cx="1645920" cy="237744"/>
          </a:xfrm>
          <a:prstGeom prst="rect">
            <a:avLst/>
          </a:prstGeom>
          <a:noFill/>
          <a:ln/>
        </p:spPr>
        <p:txBody>
          <a:bodyPr wrap="square" lIns="0" tIns="0" rIns="0" bIns="0" rtlCol="0" anchor="ctr"/>
          <a:lstStyle/>
          <a:p>
            <a:pPr indent="0" marL="0">
              <a:buNone/>
            </a:pPr>
            <a:r>
              <a:rPr lang="en-US" sz="800" dirty="0">
                <a:solidFill>
                  <a:srgbClr val="1B2A41"/>
                </a:solidFill>
                <a:latin typeface="Calibri" pitchFamily="34" charset="0"/>
                <a:ea typeface="Calibri" pitchFamily="34" charset="-122"/>
                <a:cs typeface="Calibri" pitchFamily="34" charset="-120"/>
              </a:rPr>
              <a:t>void + replace, ordered</a:t>
            </a:r>
            <a:endParaRPr lang="en-US" sz="800" dirty="0"/>
          </a:p>
        </p:txBody>
      </p:sp>
      <p:sp>
        <p:nvSpPr>
          <p:cNvPr id="41" name="Shape 39"/>
          <p:cNvSpPr/>
          <p:nvPr/>
        </p:nvSpPr>
        <p:spPr>
          <a:xfrm>
            <a:off x="4846320" y="2706624"/>
            <a:ext cx="1783080" cy="493776"/>
          </a:xfrm>
          <a:prstGeom prst="roundRect">
            <a:avLst>
              <a:gd name="adj" fmla="val 9259"/>
            </a:avLst>
          </a:prstGeom>
          <a:solidFill>
            <a:srgbClr val="FFFFFF"/>
          </a:solidFill>
          <a:ln w="9525">
            <a:solidFill>
              <a:srgbClr val="C9D3E0"/>
            </a:solidFill>
            <a:prstDash val="solid"/>
          </a:ln>
        </p:spPr>
      </p:sp>
      <p:sp>
        <p:nvSpPr>
          <p:cNvPr id="42" name="Text 40"/>
          <p:cNvSpPr txBox="1"/>
          <p:nvPr/>
        </p:nvSpPr>
        <p:spPr>
          <a:xfrm>
            <a:off x="4919472" y="2734056"/>
            <a:ext cx="1645920" cy="219456"/>
          </a:xfrm>
          <a:prstGeom prst="rect">
            <a:avLst/>
          </a:prstGeom>
          <a:noFill/>
          <a:ln/>
        </p:spPr>
        <p:txBody>
          <a:bodyPr wrap="square" lIns="0" tIns="0" rIns="0" bIns="0" rtlCol="0" anchor="ctr"/>
          <a:lstStyle/>
          <a:p>
            <a:pPr indent="0" marL="0">
              <a:buNone/>
            </a:pPr>
            <a:r>
              <a:rPr lang="en-US" sz="850" b="1" dirty="0">
                <a:solidFill>
                  <a:srgbClr val="14213D"/>
                </a:solidFill>
                <a:latin typeface="Courier New" pitchFamily="34" charset="0"/>
                <a:ea typeface="Courier New" pitchFamily="34" charset="-122"/>
                <a:cs typeface="Courier New" pitchFamily="34" charset="-120"/>
              </a:rPr>
              <a:t>missing-file alerts</a:t>
            </a:r>
            <a:endParaRPr lang="en-US" sz="850" dirty="0"/>
          </a:p>
        </p:txBody>
      </p:sp>
      <p:sp>
        <p:nvSpPr>
          <p:cNvPr id="43" name="Text 41"/>
          <p:cNvSpPr txBox="1"/>
          <p:nvPr/>
        </p:nvSpPr>
        <p:spPr>
          <a:xfrm>
            <a:off x="4919472" y="2935224"/>
            <a:ext cx="1645920" cy="237744"/>
          </a:xfrm>
          <a:prstGeom prst="rect">
            <a:avLst/>
          </a:prstGeom>
          <a:noFill/>
          <a:ln/>
        </p:spPr>
        <p:txBody>
          <a:bodyPr wrap="square" lIns="0" tIns="0" rIns="0" bIns="0" rtlCol="0" anchor="ctr"/>
          <a:lstStyle/>
          <a:p>
            <a:pPr indent="0" marL="0">
              <a:buNone/>
            </a:pPr>
            <a:r>
              <a:rPr lang="en-US" sz="800" dirty="0">
                <a:solidFill>
                  <a:srgbClr val="1B2A41"/>
                </a:solidFill>
                <a:latin typeface="Calibri" pitchFamily="34" charset="0"/>
                <a:ea typeface="Calibri" pitchFamily="34" charset="-122"/>
                <a:cs typeface="Calibri" pitchFamily="34" charset="-120"/>
              </a:rPr>
              <a:t>unmet expectations</a:t>
            </a:r>
            <a:endParaRPr lang="en-US" sz="800" dirty="0"/>
          </a:p>
        </p:txBody>
      </p:sp>
      <p:sp>
        <p:nvSpPr>
          <p:cNvPr id="44" name="Shape 42"/>
          <p:cNvSpPr/>
          <p:nvPr/>
        </p:nvSpPr>
        <p:spPr>
          <a:xfrm>
            <a:off x="6903720" y="1188720"/>
            <a:ext cx="1965960" cy="3246120"/>
          </a:xfrm>
          <a:prstGeom prst="roundRect">
            <a:avLst>
              <a:gd name="adj" fmla="val 2791"/>
            </a:avLst>
          </a:prstGeom>
          <a:solidFill>
            <a:srgbClr val="F3F6FA"/>
          </a:solidFill>
          <a:ln w="9525">
            <a:solidFill>
              <a:srgbClr val="C9D3E0"/>
            </a:solidFill>
            <a:prstDash val="solid"/>
          </a:ln>
        </p:spPr>
      </p:sp>
      <p:sp>
        <p:nvSpPr>
          <p:cNvPr id="45" name="Text 43"/>
          <p:cNvSpPr txBox="1"/>
          <p:nvPr/>
        </p:nvSpPr>
        <p:spPr>
          <a:xfrm>
            <a:off x="6995160" y="1243584"/>
            <a:ext cx="1828800" cy="274320"/>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Control plane (Go)</a:t>
            </a:r>
            <a:endParaRPr lang="en-US" sz="1100" dirty="0"/>
          </a:p>
        </p:txBody>
      </p:sp>
      <p:sp>
        <p:nvSpPr>
          <p:cNvPr id="46" name="Shape 44"/>
          <p:cNvSpPr/>
          <p:nvPr/>
        </p:nvSpPr>
        <p:spPr>
          <a:xfrm>
            <a:off x="6995160" y="1572768"/>
            <a:ext cx="1783080" cy="493776"/>
          </a:xfrm>
          <a:prstGeom prst="roundRect">
            <a:avLst>
              <a:gd name="adj" fmla="val 9259"/>
            </a:avLst>
          </a:prstGeom>
          <a:solidFill>
            <a:srgbClr val="FFFFFF"/>
          </a:solidFill>
          <a:ln w="9525">
            <a:solidFill>
              <a:srgbClr val="C9D3E0"/>
            </a:solidFill>
            <a:prstDash val="solid"/>
          </a:ln>
        </p:spPr>
      </p:sp>
      <p:sp>
        <p:nvSpPr>
          <p:cNvPr id="47" name="Text 45"/>
          <p:cNvSpPr txBox="1"/>
          <p:nvPr/>
        </p:nvSpPr>
        <p:spPr>
          <a:xfrm>
            <a:off x="7068312" y="1600200"/>
            <a:ext cx="1645920" cy="219456"/>
          </a:xfrm>
          <a:prstGeom prst="rect">
            <a:avLst/>
          </a:prstGeom>
          <a:noFill/>
          <a:ln/>
        </p:spPr>
        <p:txBody>
          <a:bodyPr wrap="square" lIns="0" tIns="0" rIns="0" bIns="0" rtlCol="0" anchor="ctr"/>
          <a:lstStyle/>
          <a:p>
            <a:pPr indent="0" marL="0">
              <a:buNone/>
            </a:pPr>
            <a:r>
              <a:rPr lang="en-US" sz="850" b="1" dirty="0">
                <a:solidFill>
                  <a:srgbClr val="14213D"/>
                </a:solidFill>
                <a:latin typeface="Courier New" pitchFamily="34" charset="0"/>
                <a:ea typeface="Courier New" pitchFamily="34" charset="-122"/>
                <a:cs typeface="Courier New" pitchFamily="34" charset="-120"/>
              </a:rPr>
              <a:t>web/</a:t>
            </a:r>
            <a:endParaRPr lang="en-US" sz="850" dirty="0"/>
          </a:p>
        </p:txBody>
      </p:sp>
      <p:sp>
        <p:nvSpPr>
          <p:cNvPr id="48" name="Text 46"/>
          <p:cNvSpPr txBox="1"/>
          <p:nvPr/>
        </p:nvSpPr>
        <p:spPr>
          <a:xfrm>
            <a:off x="7068312" y="1801368"/>
            <a:ext cx="1645920" cy="237744"/>
          </a:xfrm>
          <a:prstGeom prst="rect">
            <a:avLst/>
          </a:prstGeom>
          <a:noFill/>
          <a:ln/>
        </p:spPr>
        <p:txBody>
          <a:bodyPr wrap="square" lIns="0" tIns="0" rIns="0" bIns="0" rtlCol="0" anchor="ctr"/>
          <a:lstStyle/>
          <a:p>
            <a:pPr indent="0" marL="0">
              <a:buNone/>
            </a:pPr>
            <a:r>
              <a:rPr lang="en-US" sz="800" dirty="0">
                <a:solidFill>
                  <a:srgbClr val="1B2A41"/>
                </a:solidFill>
                <a:latin typeface="Calibri" pitchFamily="34" charset="0"/>
                <a:ea typeface="Calibri" pitchFamily="34" charset="-122"/>
                <a:cs typeface="Calibri" pitchFamily="34" charset="-120"/>
              </a:rPr>
              <a:t>html/template + HTMX board</a:t>
            </a:r>
            <a:endParaRPr lang="en-US" sz="800" dirty="0"/>
          </a:p>
        </p:txBody>
      </p:sp>
      <p:sp>
        <p:nvSpPr>
          <p:cNvPr id="49" name="Shape 47"/>
          <p:cNvSpPr/>
          <p:nvPr/>
        </p:nvSpPr>
        <p:spPr>
          <a:xfrm>
            <a:off x="6995160" y="2139696"/>
            <a:ext cx="1783080" cy="493776"/>
          </a:xfrm>
          <a:prstGeom prst="roundRect">
            <a:avLst>
              <a:gd name="adj" fmla="val 9259"/>
            </a:avLst>
          </a:prstGeom>
          <a:solidFill>
            <a:srgbClr val="FFFFFF"/>
          </a:solidFill>
          <a:ln w="9525">
            <a:solidFill>
              <a:srgbClr val="C9D3E0"/>
            </a:solidFill>
            <a:prstDash val="solid"/>
          </a:ln>
        </p:spPr>
      </p:sp>
      <p:sp>
        <p:nvSpPr>
          <p:cNvPr id="50" name="Text 48"/>
          <p:cNvSpPr txBox="1"/>
          <p:nvPr/>
        </p:nvSpPr>
        <p:spPr>
          <a:xfrm>
            <a:off x="7068312" y="2167128"/>
            <a:ext cx="1645920" cy="219456"/>
          </a:xfrm>
          <a:prstGeom prst="rect">
            <a:avLst/>
          </a:prstGeom>
          <a:noFill/>
          <a:ln/>
        </p:spPr>
        <p:txBody>
          <a:bodyPr wrap="square" lIns="0" tIns="0" rIns="0" bIns="0" rtlCol="0" anchor="ctr"/>
          <a:lstStyle/>
          <a:p>
            <a:pPr indent="0" marL="0">
              <a:buNone/>
            </a:pPr>
            <a:r>
              <a:rPr lang="en-US" sz="850" b="1" dirty="0">
                <a:solidFill>
                  <a:srgbClr val="14213D"/>
                </a:solidFill>
                <a:latin typeface="Courier New" pitchFamily="34" charset="0"/>
                <a:ea typeface="Courier New" pitchFamily="34" charset="-122"/>
                <a:cs typeface="Courier New" pitchFamily="34" charset="-120"/>
              </a:rPr>
              <a:t>/api/ops</a:t>
            </a:r>
            <a:endParaRPr lang="en-US" sz="850" dirty="0"/>
          </a:p>
        </p:txBody>
      </p:sp>
      <p:sp>
        <p:nvSpPr>
          <p:cNvPr id="51" name="Text 49"/>
          <p:cNvSpPr txBox="1"/>
          <p:nvPr/>
        </p:nvSpPr>
        <p:spPr>
          <a:xfrm>
            <a:off x="7068312" y="2368296"/>
            <a:ext cx="1645920" cy="237744"/>
          </a:xfrm>
          <a:prstGeom prst="rect">
            <a:avLst/>
          </a:prstGeom>
          <a:noFill/>
          <a:ln/>
        </p:spPr>
        <p:txBody>
          <a:bodyPr wrap="square" lIns="0" tIns="0" rIns="0" bIns="0" rtlCol="0" anchor="ctr"/>
          <a:lstStyle/>
          <a:p>
            <a:pPr indent="0" marL="0">
              <a:buNone/>
            </a:pPr>
            <a:r>
              <a:rPr lang="en-US" sz="800" dirty="0">
                <a:solidFill>
                  <a:srgbClr val="1B2A41"/>
                </a:solidFill>
                <a:latin typeface="Calibri" pitchFamily="34" charset="0"/>
                <a:ea typeface="Calibri" pitchFamily="34" charset="-122"/>
                <a:cs typeface="Calibri" pitchFamily="34" charset="-120"/>
              </a:rPr>
              <a:t>operator posture</a:t>
            </a:r>
            <a:endParaRPr lang="en-US" sz="800" dirty="0"/>
          </a:p>
        </p:txBody>
      </p:sp>
      <p:sp>
        <p:nvSpPr>
          <p:cNvPr id="52" name="Shape 50"/>
          <p:cNvSpPr/>
          <p:nvPr/>
        </p:nvSpPr>
        <p:spPr>
          <a:xfrm>
            <a:off x="6995160" y="2706624"/>
            <a:ext cx="1783080" cy="493776"/>
          </a:xfrm>
          <a:prstGeom prst="roundRect">
            <a:avLst>
              <a:gd name="adj" fmla="val 9259"/>
            </a:avLst>
          </a:prstGeom>
          <a:solidFill>
            <a:srgbClr val="FFFFFF"/>
          </a:solidFill>
          <a:ln w="9525">
            <a:solidFill>
              <a:srgbClr val="C9D3E0"/>
            </a:solidFill>
            <a:prstDash val="solid"/>
          </a:ln>
        </p:spPr>
      </p:sp>
      <p:sp>
        <p:nvSpPr>
          <p:cNvPr id="53" name="Text 51"/>
          <p:cNvSpPr txBox="1"/>
          <p:nvPr/>
        </p:nvSpPr>
        <p:spPr>
          <a:xfrm>
            <a:off x="7068312" y="2734056"/>
            <a:ext cx="1645920" cy="219456"/>
          </a:xfrm>
          <a:prstGeom prst="rect">
            <a:avLst/>
          </a:prstGeom>
          <a:noFill/>
          <a:ln/>
        </p:spPr>
        <p:txBody>
          <a:bodyPr wrap="square" lIns="0" tIns="0" rIns="0" bIns="0" rtlCol="0" anchor="ctr"/>
          <a:lstStyle/>
          <a:p>
            <a:pPr indent="0" marL="0">
              <a:buNone/>
            </a:pPr>
            <a:r>
              <a:rPr lang="en-US" sz="850" b="1" dirty="0">
                <a:solidFill>
                  <a:srgbClr val="14213D"/>
                </a:solidFill>
                <a:latin typeface="Courier New" pitchFamily="34" charset="0"/>
                <a:ea typeface="Courier New" pitchFamily="34" charset="-122"/>
                <a:cs typeface="Courier New" pitchFamily="34" charset="-120"/>
              </a:rPr>
              <a:t>review queue</a:t>
            </a:r>
            <a:endParaRPr lang="en-US" sz="850" dirty="0"/>
          </a:p>
        </p:txBody>
      </p:sp>
      <p:sp>
        <p:nvSpPr>
          <p:cNvPr id="54" name="Text 52"/>
          <p:cNvSpPr txBox="1"/>
          <p:nvPr/>
        </p:nvSpPr>
        <p:spPr>
          <a:xfrm>
            <a:off x="7068312" y="2935224"/>
            <a:ext cx="1645920" cy="237744"/>
          </a:xfrm>
          <a:prstGeom prst="rect">
            <a:avLst/>
          </a:prstGeom>
          <a:noFill/>
          <a:ln/>
        </p:spPr>
        <p:txBody>
          <a:bodyPr wrap="square" lIns="0" tIns="0" rIns="0" bIns="0" rtlCol="0" anchor="ctr"/>
          <a:lstStyle/>
          <a:p>
            <a:pPr indent="0" marL="0">
              <a:buNone/>
            </a:pPr>
            <a:r>
              <a:rPr lang="en-US" sz="800" dirty="0">
                <a:solidFill>
                  <a:srgbClr val="1B2A41"/>
                </a:solidFill>
                <a:latin typeface="Calibri" pitchFamily="34" charset="0"/>
                <a:ea typeface="Calibri" pitchFamily="34" charset="-122"/>
                <a:cs typeface="Calibri" pitchFamily="34" charset="-120"/>
              </a:rPr>
              <a:t>four-eyes decisions</a:t>
            </a:r>
            <a:endParaRPr lang="en-US" sz="800" dirty="0"/>
          </a:p>
        </p:txBody>
      </p:sp>
      <p:sp>
        <p:nvSpPr>
          <p:cNvPr id="55" name="Shape 53"/>
          <p:cNvSpPr/>
          <p:nvPr/>
        </p:nvSpPr>
        <p:spPr>
          <a:xfrm>
            <a:off x="2423160" y="2834640"/>
            <a:ext cx="182880" cy="9144"/>
          </a:xfrm>
          <a:prstGeom prst="line">
            <a:avLst/>
          </a:prstGeom>
          <a:noFill/>
          <a:ln w="25400">
            <a:solidFill>
              <a:srgbClr val="2EC4B6"/>
            </a:solidFill>
            <a:prstDash val="solid"/>
            <a:tailEnd type="triangle"/>
          </a:ln>
        </p:spPr>
      </p:sp>
      <p:sp>
        <p:nvSpPr>
          <p:cNvPr id="56" name="Shape 54"/>
          <p:cNvSpPr/>
          <p:nvPr/>
        </p:nvSpPr>
        <p:spPr>
          <a:xfrm>
            <a:off x="4572000" y="2834640"/>
            <a:ext cx="182880" cy="9144"/>
          </a:xfrm>
          <a:prstGeom prst="line">
            <a:avLst/>
          </a:prstGeom>
          <a:noFill/>
          <a:ln w="25400">
            <a:solidFill>
              <a:srgbClr val="2EC4B6"/>
            </a:solidFill>
            <a:prstDash val="solid"/>
            <a:tailEnd type="triangle"/>
          </a:ln>
        </p:spPr>
      </p:sp>
      <p:sp>
        <p:nvSpPr>
          <p:cNvPr id="57" name="Shape 55"/>
          <p:cNvSpPr/>
          <p:nvPr/>
        </p:nvSpPr>
        <p:spPr>
          <a:xfrm>
            <a:off x="6720840" y="2834640"/>
            <a:ext cx="182880" cy="9144"/>
          </a:xfrm>
          <a:prstGeom prst="line">
            <a:avLst/>
          </a:prstGeom>
          <a:noFill/>
          <a:ln w="25400">
            <a:solidFill>
              <a:srgbClr val="2EC4B6"/>
            </a:solidFill>
            <a:prstDash val="solid"/>
            <a:tailEnd type="triangle"/>
          </a:ln>
        </p:spPr>
      </p:sp>
      <p:sp>
        <p:nvSpPr>
          <p:cNvPr id="58" name="Text 56"/>
          <p:cNvSpPr txBox="1"/>
          <p:nvPr/>
        </p:nvSpPr>
        <p:spPr>
          <a:xfrm>
            <a:off x="457200" y="4480560"/>
            <a:ext cx="8229600" cy="274320"/>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Message contracts are defined once in proto/ and generated for both languages with buf; protojson on the wire keeps topics human-readable for triage.</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5486400" cy="228600"/>
          </a:xfrm>
          <a:prstGeom prst="rect">
            <a:avLst/>
          </a:prstGeom>
          <a:noFill/>
          <a:ln/>
        </p:spPr>
        <p:txBody>
          <a:bodyPr wrap="square" lIns="0" tIns="0" rIns="0" bIns="0" rtlCol="0" anchor="ctr"/>
          <a:lstStyle/>
          <a:p>
            <a:pPr indent="0" marL="0">
              <a:buNone/>
            </a:pPr>
            <a:r>
              <a:rPr lang="en-US" sz="1000" b="1" spc="200" kern="0" dirty="0">
                <a:solidFill>
                  <a:srgbClr val="2EC4B6"/>
                </a:solidFill>
                <a:latin typeface="Calibri" pitchFamily="34" charset="0"/>
                <a:ea typeface="Calibri" pitchFamily="34" charset="-122"/>
                <a:cs typeface="Calibri" pitchFamily="34" charset="-120"/>
              </a:rPr>
              <a:t>ARCHITECTURE · CRITICAL FLOW</a:t>
            </a:r>
            <a:endParaRPr lang="en-US" sz="1000" dirty="0"/>
          </a:p>
        </p:txBody>
      </p:sp>
      <p:sp>
        <p:nvSpPr>
          <p:cNvPr id="3" name="Text 1"/>
          <p:cNvSpPr txBox="1"/>
          <p:nvPr/>
        </p:nvSpPr>
        <p:spPr>
          <a:xfrm>
            <a:off x="457200" y="457200"/>
            <a:ext cx="8229600" cy="548640"/>
          </a:xfrm>
          <a:prstGeom prst="rect">
            <a:avLst/>
          </a:prstGeom>
          <a:noFill/>
          <a:ln/>
        </p:spPr>
        <p:txBody>
          <a:bodyPr wrap="square" lIns="0" tIns="0" rIns="0" bIns="0" rtlCol="0" anchor="ctr"/>
          <a:lstStyle/>
          <a:p>
            <a:pPr indent="0" marL="0">
              <a:buNone/>
            </a:pPr>
            <a:r>
              <a:rPr lang="en-US" sz="2600" b="1" dirty="0">
                <a:solidFill>
                  <a:srgbClr val="14213D"/>
                </a:solidFill>
                <a:latin typeface="Cambria" pitchFamily="34" charset="0"/>
                <a:ea typeface="Cambria" pitchFamily="34" charset="-122"/>
                <a:cs typeface="Cambria" pitchFamily="34" charset="-120"/>
              </a:rPr>
              <a:t>The arrival-to-berth-assignment pipeline</a:t>
            </a:r>
            <a:endParaRPr lang="en-US" sz="2600" dirty="0"/>
          </a:p>
        </p:txBody>
      </p:sp>
      <p:sp>
        <p:nvSpPr>
          <p:cNvPr id="4" name="Text 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800" dirty="0">
                <a:solidFill>
                  <a:srgbClr val="6B7A90"/>
                </a:solidFill>
                <a:latin typeface="Calibri" pitchFamily="34" charset="0"/>
                <a:ea typeface="Calibri" pitchFamily="34" charset="-122"/>
                <a:cs typeface="Calibri" pitchFamily="34" charset="-120"/>
              </a:rPr>
              <a:t>Harbormaster · AI Systems Architecture Review · 7</a:t>
            </a:r>
            <a:endParaRPr lang="en-US" sz="800" dirty="0"/>
          </a:p>
        </p:txBody>
      </p:sp>
      <p:sp>
        <p:nvSpPr>
          <p:cNvPr id="5" name="Shape 3"/>
          <p:cNvSpPr/>
          <p:nvPr/>
        </p:nvSpPr>
        <p:spPr>
          <a:xfrm>
            <a:off x="457200" y="1280160"/>
            <a:ext cx="1965960" cy="1234440"/>
          </a:xfrm>
          <a:prstGeom prst="roundRect">
            <a:avLst>
              <a:gd name="adj" fmla="val 4444"/>
            </a:avLst>
          </a:prstGeom>
          <a:solidFill>
            <a:srgbClr val="F3F6FA"/>
          </a:solidFill>
          <a:ln w="9525">
            <a:solidFill>
              <a:srgbClr val="C9D3E0"/>
            </a:solidFill>
            <a:prstDash val="solid"/>
          </a:ln>
        </p:spPr>
      </p:sp>
      <p:sp>
        <p:nvSpPr>
          <p:cNvPr id="6" name="Text 4"/>
          <p:cNvSpPr txBox="1"/>
          <p:nvPr/>
        </p:nvSpPr>
        <p:spPr>
          <a:xfrm>
            <a:off x="548640" y="1353312"/>
            <a:ext cx="1783080" cy="274320"/>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1. Detect</a:t>
            </a:r>
            <a:endParaRPr lang="en-US" sz="1100" dirty="0"/>
          </a:p>
        </p:txBody>
      </p:sp>
      <p:sp>
        <p:nvSpPr>
          <p:cNvPr id="7" name="Text 5"/>
          <p:cNvSpPr txBox="1"/>
          <p:nvPr/>
        </p:nvSpPr>
        <p:spPr>
          <a:xfrm>
            <a:off x="548640" y="1645920"/>
            <a:ext cx="1783080" cy="822960"/>
          </a:xfrm>
          <a:prstGeom prst="rect">
            <a:avLst/>
          </a:prstGeom>
          <a:noFill/>
          <a:ln/>
        </p:spPr>
        <p:txBody>
          <a:bodyPr wrap="square" lIns="0" tIns="0" rIns="0" bIns="0" rtlCol="0" anchor="t"/>
          <a:lstStyle/>
          <a:p>
            <a:pPr indent="0" marL="0">
              <a:buNone/>
            </a:pPr>
            <a:r>
              <a:rPr lang="en-US" sz="850" dirty="0">
                <a:solidFill>
                  <a:srgbClr val="1B2A41"/>
                </a:solidFill>
                <a:latin typeface="Calibri" pitchFamily="34" charset="0"/>
                <a:ea typeface="Calibri" pitchFamily="34" charset="-122"/>
                <a:cs typeface="Calibri" pitchFamily="34" charset="-120"/>
              </a:rPr>
              <a:t>write-completion + SHA-256; exact duplicate and redelivery suppressed by content hash</a:t>
            </a:r>
            <a:endParaRPr lang="en-US" sz="850" dirty="0"/>
          </a:p>
        </p:txBody>
      </p:sp>
      <p:sp>
        <p:nvSpPr>
          <p:cNvPr id="8" name="Shape 6"/>
          <p:cNvSpPr/>
          <p:nvPr/>
        </p:nvSpPr>
        <p:spPr>
          <a:xfrm>
            <a:off x="2423160" y="1892808"/>
            <a:ext cx="137160" cy="9144"/>
          </a:xfrm>
          <a:prstGeom prst="line">
            <a:avLst/>
          </a:prstGeom>
          <a:noFill/>
          <a:ln w="15875">
            <a:solidFill>
              <a:srgbClr val="6B7A90"/>
            </a:solidFill>
            <a:prstDash val="solid"/>
            <a:tailEnd type="triangle"/>
          </a:ln>
        </p:spPr>
      </p:sp>
      <p:sp>
        <p:nvSpPr>
          <p:cNvPr id="9" name="Shape 7"/>
          <p:cNvSpPr/>
          <p:nvPr/>
        </p:nvSpPr>
        <p:spPr>
          <a:xfrm>
            <a:off x="2560320" y="1280160"/>
            <a:ext cx="1965960" cy="1234440"/>
          </a:xfrm>
          <a:prstGeom prst="roundRect">
            <a:avLst>
              <a:gd name="adj" fmla="val 4444"/>
            </a:avLst>
          </a:prstGeom>
          <a:solidFill>
            <a:srgbClr val="F3F6FA"/>
          </a:solidFill>
          <a:ln w="9525">
            <a:solidFill>
              <a:srgbClr val="C9D3E0"/>
            </a:solidFill>
            <a:prstDash val="solid"/>
          </a:ln>
        </p:spPr>
      </p:sp>
      <p:sp>
        <p:nvSpPr>
          <p:cNvPr id="10" name="Text 8"/>
          <p:cNvSpPr txBox="1"/>
          <p:nvPr/>
        </p:nvSpPr>
        <p:spPr>
          <a:xfrm>
            <a:off x="2651760" y="1353312"/>
            <a:ext cx="1783080" cy="274320"/>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2. Sniff &amp; parse</a:t>
            </a:r>
            <a:endParaRPr lang="en-US" sz="1100" dirty="0"/>
          </a:p>
        </p:txBody>
      </p:sp>
      <p:sp>
        <p:nvSpPr>
          <p:cNvPr id="11" name="Text 9"/>
          <p:cNvSpPr txBox="1"/>
          <p:nvPr/>
        </p:nvSpPr>
        <p:spPr>
          <a:xfrm>
            <a:off x="2651760" y="1645920"/>
            <a:ext cx="1783080" cy="822960"/>
          </a:xfrm>
          <a:prstGeom prst="rect">
            <a:avLst/>
          </a:prstGeom>
          <a:noFill/>
          <a:ln/>
        </p:spPr>
        <p:txBody>
          <a:bodyPr wrap="square" lIns="0" tIns="0" rIns="0" bIns="0" rtlCol="0" anchor="t"/>
          <a:lstStyle/>
          <a:p>
            <a:pPr indent="0" marL="0">
              <a:buNone/>
            </a:pPr>
            <a:r>
              <a:rPr lang="en-US" sz="850" dirty="0">
                <a:solidFill>
                  <a:srgbClr val="1B2A41"/>
                </a:solidFill>
                <a:latin typeface="Calibri" pitchFamily="34" charset="0"/>
                <a:ea typeface="Calibri" pitchFamily="34" charset="-122"/>
                <a:cs typeface="Calibri" pitchFamily="34" charset="-120"/>
              </a:rPr>
              <a:t>format decided by content, not extension; six parsers behind one interface</a:t>
            </a:r>
            <a:endParaRPr lang="en-US" sz="850" dirty="0"/>
          </a:p>
        </p:txBody>
      </p:sp>
      <p:sp>
        <p:nvSpPr>
          <p:cNvPr id="12" name="Shape 10"/>
          <p:cNvSpPr/>
          <p:nvPr/>
        </p:nvSpPr>
        <p:spPr>
          <a:xfrm>
            <a:off x="4526280" y="1892808"/>
            <a:ext cx="137160" cy="9144"/>
          </a:xfrm>
          <a:prstGeom prst="line">
            <a:avLst/>
          </a:prstGeom>
          <a:noFill/>
          <a:ln w="15875">
            <a:solidFill>
              <a:srgbClr val="6B7A90"/>
            </a:solidFill>
            <a:prstDash val="solid"/>
            <a:tailEnd type="triangle"/>
          </a:ln>
        </p:spPr>
      </p:sp>
      <p:sp>
        <p:nvSpPr>
          <p:cNvPr id="13" name="Shape 11"/>
          <p:cNvSpPr/>
          <p:nvPr/>
        </p:nvSpPr>
        <p:spPr>
          <a:xfrm>
            <a:off x="4663440" y="1280160"/>
            <a:ext cx="1965960" cy="1234440"/>
          </a:xfrm>
          <a:prstGeom prst="roundRect">
            <a:avLst>
              <a:gd name="adj" fmla="val 4444"/>
            </a:avLst>
          </a:prstGeom>
          <a:solidFill>
            <a:srgbClr val="F3F6FA"/>
          </a:solidFill>
          <a:ln w="9525">
            <a:solidFill>
              <a:srgbClr val="C9D3E0"/>
            </a:solidFill>
            <a:prstDash val="solid"/>
          </a:ln>
        </p:spPr>
      </p:sp>
      <p:sp>
        <p:nvSpPr>
          <p:cNvPr id="14" name="Text 12"/>
          <p:cNvSpPr txBox="1"/>
          <p:nvPr/>
        </p:nvSpPr>
        <p:spPr>
          <a:xfrm>
            <a:off x="4754880" y="1353312"/>
            <a:ext cx="1783080" cy="274320"/>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3. Attribute</a:t>
            </a:r>
            <a:endParaRPr lang="en-US" sz="1100" dirty="0"/>
          </a:p>
        </p:txBody>
      </p:sp>
      <p:sp>
        <p:nvSpPr>
          <p:cNvPr id="15" name="Text 13"/>
          <p:cNvSpPr txBox="1"/>
          <p:nvPr/>
        </p:nvSpPr>
        <p:spPr>
          <a:xfrm>
            <a:off x="4754880" y="1645920"/>
            <a:ext cx="1783080" cy="822960"/>
          </a:xfrm>
          <a:prstGeom prst="rect">
            <a:avLst/>
          </a:prstGeom>
          <a:noFill/>
          <a:ln/>
        </p:spPr>
        <p:txBody>
          <a:bodyPr wrap="square" lIns="0" tIns="0" rIns="0" bIns="0" rtlCol="0" anchor="t"/>
          <a:lstStyle/>
          <a:p>
            <a:pPr indent="0" marL="0">
              <a:buNone/>
            </a:pPr>
            <a:r>
              <a:rPr lang="en-US" sz="850" dirty="0">
                <a:solidFill>
                  <a:srgbClr val="1B2A41"/>
                </a:solidFill>
                <a:latin typeface="Calibri" pitchFamily="34" charset="0"/>
                <a:ea typeface="Calibri" pitchFamily="34" charset="-122"/>
                <a:cs typeface="Calibri" pitchFamily="34" charset="-120"/>
              </a:rPr>
              <a:t>client scored from filename patterns + embedded account IDs, not a priority list</a:t>
            </a:r>
            <a:endParaRPr lang="en-US" sz="850" dirty="0"/>
          </a:p>
        </p:txBody>
      </p:sp>
      <p:sp>
        <p:nvSpPr>
          <p:cNvPr id="16" name="Shape 14"/>
          <p:cNvSpPr/>
          <p:nvPr/>
        </p:nvSpPr>
        <p:spPr>
          <a:xfrm>
            <a:off x="6629400" y="1892808"/>
            <a:ext cx="137160" cy="9144"/>
          </a:xfrm>
          <a:prstGeom prst="line">
            <a:avLst/>
          </a:prstGeom>
          <a:noFill/>
          <a:ln w="15875">
            <a:solidFill>
              <a:srgbClr val="6B7A90"/>
            </a:solidFill>
            <a:prstDash val="solid"/>
            <a:tailEnd type="triangle"/>
          </a:ln>
        </p:spPr>
      </p:sp>
      <p:sp>
        <p:nvSpPr>
          <p:cNvPr id="17" name="Shape 15"/>
          <p:cNvSpPr/>
          <p:nvPr/>
        </p:nvSpPr>
        <p:spPr>
          <a:xfrm>
            <a:off x="6766560" y="1280160"/>
            <a:ext cx="1965960" cy="1234440"/>
          </a:xfrm>
          <a:prstGeom prst="roundRect">
            <a:avLst>
              <a:gd name="adj" fmla="val 4444"/>
            </a:avLst>
          </a:prstGeom>
          <a:solidFill>
            <a:srgbClr val="F3F6FA"/>
          </a:solidFill>
          <a:ln w="9525">
            <a:solidFill>
              <a:srgbClr val="C9D3E0"/>
            </a:solidFill>
            <a:prstDash val="solid"/>
          </a:ln>
        </p:spPr>
      </p:sp>
      <p:sp>
        <p:nvSpPr>
          <p:cNvPr id="18" name="Text 16"/>
          <p:cNvSpPr txBox="1"/>
          <p:nvPr/>
        </p:nvSpPr>
        <p:spPr>
          <a:xfrm>
            <a:off x="6858000" y="1353312"/>
            <a:ext cx="1783080" cy="274320"/>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4. Resolve date</a:t>
            </a:r>
            <a:endParaRPr lang="en-US" sz="1100" dirty="0"/>
          </a:p>
        </p:txBody>
      </p:sp>
      <p:sp>
        <p:nvSpPr>
          <p:cNvPr id="19" name="Text 17"/>
          <p:cNvSpPr txBox="1"/>
          <p:nvPr/>
        </p:nvSpPr>
        <p:spPr>
          <a:xfrm>
            <a:off x="6858000" y="1645920"/>
            <a:ext cx="1783080" cy="822960"/>
          </a:xfrm>
          <a:prstGeom prst="rect">
            <a:avLst/>
          </a:prstGeom>
          <a:noFill/>
          <a:ln/>
        </p:spPr>
        <p:txBody>
          <a:bodyPr wrap="square" lIns="0" tIns="0" rIns="0" bIns="0" rtlCol="0" anchor="t"/>
          <a:lstStyle/>
          <a:p>
            <a:pPr indent="0" marL="0">
              <a:buNone/>
            </a:pPr>
            <a:r>
              <a:rPr lang="en-US" sz="850" dirty="0">
                <a:solidFill>
                  <a:srgbClr val="1B2A41"/>
                </a:solidFill>
                <a:latin typeface="Calibri" pitchFamily="34" charset="0"/>
                <a:ea typeface="Calibri" pitchFamily="34" charset="-122"/>
                <a:cs typeface="Calibri" pitchFamily="34" charset="-120"/>
              </a:rPr>
              <a:t>filename, content and arrival time ranked; disagreement always flagged, never silent</a:t>
            </a:r>
            <a:endParaRPr lang="en-US" sz="850" dirty="0"/>
          </a:p>
        </p:txBody>
      </p:sp>
      <p:sp>
        <p:nvSpPr>
          <p:cNvPr id="20" name="Shape 18"/>
          <p:cNvSpPr/>
          <p:nvPr/>
        </p:nvSpPr>
        <p:spPr>
          <a:xfrm>
            <a:off x="457200" y="2834640"/>
            <a:ext cx="1965960" cy="1234440"/>
          </a:xfrm>
          <a:prstGeom prst="roundRect">
            <a:avLst>
              <a:gd name="adj" fmla="val 4444"/>
            </a:avLst>
          </a:prstGeom>
          <a:solidFill>
            <a:srgbClr val="EEF6F4"/>
          </a:solidFill>
          <a:ln w="9525">
            <a:solidFill>
              <a:srgbClr val="2EC4B6"/>
            </a:solidFill>
            <a:prstDash val="solid"/>
          </a:ln>
        </p:spPr>
      </p:sp>
      <p:sp>
        <p:nvSpPr>
          <p:cNvPr id="21" name="Text 19"/>
          <p:cNvSpPr txBox="1"/>
          <p:nvPr/>
        </p:nvSpPr>
        <p:spPr>
          <a:xfrm>
            <a:off x="548640" y="2907792"/>
            <a:ext cx="1783080" cy="274320"/>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5. Map columns</a:t>
            </a:r>
            <a:endParaRPr lang="en-US" sz="1100" dirty="0"/>
          </a:p>
        </p:txBody>
      </p:sp>
      <p:sp>
        <p:nvSpPr>
          <p:cNvPr id="22" name="Text 20"/>
          <p:cNvSpPr txBox="1"/>
          <p:nvPr/>
        </p:nvSpPr>
        <p:spPr>
          <a:xfrm>
            <a:off x="548640" y="3200400"/>
            <a:ext cx="1783080" cy="822960"/>
          </a:xfrm>
          <a:prstGeom prst="rect">
            <a:avLst/>
          </a:prstGeom>
          <a:noFill/>
          <a:ln/>
        </p:spPr>
        <p:txBody>
          <a:bodyPr wrap="square" lIns="0" tIns="0" rIns="0" bIns="0" rtlCol="0" anchor="t"/>
          <a:lstStyle/>
          <a:p>
            <a:pPr indent="0" marL="0">
              <a:buNone/>
            </a:pPr>
            <a:r>
              <a:rPr lang="en-US" sz="850" dirty="0">
                <a:solidFill>
                  <a:srgbClr val="1B2A41"/>
                </a:solidFill>
                <a:latin typeface="Calibri" pitchFamily="34" charset="0"/>
                <a:ea typeface="Calibri" pitchFamily="34" charset="-122"/>
                <a:cs typeface="Calibri" pitchFamily="34" charset="-120"/>
              </a:rPr>
              <a:t>alias → fuzzy → model, one-way escalation, cached by template fingerprint</a:t>
            </a:r>
            <a:endParaRPr lang="en-US" sz="850" dirty="0"/>
          </a:p>
        </p:txBody>
      </p:sp>
      <p:sp>
        <p:nvSpPr>
          <p:cNvPr id="23" name="Shape 21"/>
          <p:cNvSpPr/>
          <p:nvPr/>
        </p:nvSpPr>
        <p:spPr>
          <a:xfrm>
            <a:off x="2423160" y="3447288"/>
            <a:ext cx="137160" cy="9144"/>
          </a:xfrm>
          <a:prstGeom prst="line">
            <a:avLst/>
          </a:prstGeom>
          <a:noFill/>
          <a:ln w="15875">
            <a:solidFill>
              <a:srgbClr val="6B7A90"/>
            </a:solidFill>
            <a:prstDash val="solid"/>
            <a:tailEnd type="triangle"/>
          </a:ln>
        </p:spPr>
      </p:sp>
      <p:sp>
        <p:nvSpPr>
          <p:cNvPr id="24" name="Shape 22"/>
          <p:cNvSpPr/>
          <p:nvPr/>
        </p:nvSpPr>
        <p:spPr>
          <a:xfrm>
            <a:off x="2560320" y="2834640"/>
            <a:ext cx="1965960" cy="1234440"/>
          </a:xfrm>
          <a:prstGeom prst="roundRect">
            <a:avLst>
              <a:gd name="adj" fmla="val 4444"/>
            </a:avLst>
          </a:prstGeom>
          <a:solidFill>
            <a:srgbClr val="EEF6F4"/>
          </a:solidFill>
          <a:ln w="9525">
            <a:solidFill>
              <a:srgbClr val="2EC4B6"/>
            </a:solidFill>
            <a:prstDash val="solid"/>
          </a:ln>
        </p:spPr>
      </p:sp>
      <p:sp>
        <p:nvSpPr>
          <p:cNvPr id="25" name="Text 23"/>
          <p:cNvSpPr txBox="1"/>
          <p:nvPr/>
        </p:nvSpPr>
        <p:spPr>
          <a:xfrm>
            <a:off x="2651760" y="2907792"/>
            <a:ext cx="1783080" cy="274320"/>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6. Score</a:t>
            </a:r>
            <a:endParaRPr lang="en-US" sz="1100" dirty="0"/>
          </a:p>
        </p:txBody>
      </p:sp>
      <p:sp>
        <p:nvSpPr>
          <p:cNvPr id="26" name="Text 24"/>
          <p:cNvSpPr txBox="1"/>
          <p:nvPr/>
        </p:nvSpPr>
        <p:spPr>
          <a:xfrm>
            <a:off x="2651760" y="3200400"/>
            <a:ext cx="1783080" cy="822960"/>
          </a:xfrm>
          <a:prstGeom prst="rect">
            <a:avLst/>
          </a:prstGeom>
          <a:noFill/>
          <a:ln/>
        </p:spPr>
        <p:txBody>
          <a:bodyPr wrap="square" lIns="0" tIns="0" rIns="0" bIns="0" rtlCol="0" anchor="t"/>
          <a:lstStyle/>
          <a:p>
            <a:pPr indent="0" marL="0">
              <a:buNone/>
            </a:pPr>
            <a:r>
              <a:rPr lang="en-US" sz="850" dirty="0">
                <a:solidFill>
                  <a:srgbClr val="1B2A41"/>
                </a:solidFill>
                <a:latin typeface="Calibri" pitchFamily="34" charset="0"/>
                <a:ea typeface="Calibri" pitchFamily="34" charset="-122"/>
                <a:cs typeface="Calibri" pitchFamily="34" charset="-120"/>
              </a:rPr>
              <a:t>weighted composite confidence; material fields count 3× incidental ones</a:t>
            </a:r>
            <a:endParaRPr lang="en-US" sz="850" dirty="0"/>
          </a:p>
        </p:txBody>
      </p:sp>
      <p:sp>
        <p:nvSpPr>
          <p:cNvPr id="27" name="Shape 25"/>
          <p:cNvSpPr/>
          <p:nvPr/>
        </p:nvSpPr>
        <p:spPr>
          <a:xfrm>
            <a:off x="4526280" y="3447288"/>
            <a:ext cx="137160" cy="9144"/>
          </a:xfrm>
          <a:prstGeom prst="line">
            <a:avLst/>
          </a:prstGeom>
          <a:noFill/>
          <a:ln w="15875">
            <a:solidFill>
              <a:srgbClr val="6B7A90"/>
            </a:solidFill>
            <a:prstDash val="solid"/>
            <a:tailEnd type="triangle"/>
          </a:ln>
        </p:spPr>
      </p:sp>
      <p:sp>
        <p:nvSpPr>
          <p:cNvPr id="28" name="Shape 26"/>
          <p:cNvSpPr/>
          <p:nvPr/>
        </p:nvSpPr>
        <p:spPr>
          <a:xfrm>
            <a:off x="4663440" y="2834640"/>
            <a:ext cx="1965960" cy="1234440"/>
          </a:xfrm>
          <a:prstGeom prst="roundRect">
            <a:avLst>
              <a:gd name="adj" fmla="val 4444"/>
            </a:avLst>
          </a:prstGeom>
          <a:solidFill>
            <a:srgbClr val="EEF6F4"/>
          </a:solidFill>
          <a:ln w="9525">
            <a:solidFill>
              <a:srgbClr val="2EC4B6"/>
            </a:solidFill>
            <a:prstDash val="solid"/>
          </a:ln>
        </p:spPr>
      </p:sp>
      <p:sp>
        <p:nvSpPr>
          <p:cNvPr id="29" name="Text 27"/>
          <p:cNvSpPr txBox="1"/>
          <p:nvPr/>
        </p:nvSpPr>
        <p:spPr>
          <a:xfrm>
            <a:off x="4754880" y="2907792"/>
            <a:ext cx="1783080" cy="274320"/>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7. Route</a:t>
            </a:r>
            <a:endParaRPr lang="en-US" sz="1100" dirty="0"/>
          </a:p>
        </p:txBody>
      </p:sp>
      <p:sp>
        <p:nvSpPr>
          <p:cNvPr id="30" name="Text 28"/>
          <p:cNvSpPr txBox="1"/>
          <p:nvPr/>
        </p:nvSpPr>
        <p:spPr>
          <a:xfrm>
            <a:off x="4754880" y="3200400"/>
            <a:ext cx="1783080" cy="822960"/>
          </a:xfrm>
          <a:prstGeom prst="rect">
            <a:avLst/>
          </a:prstGeom>
          <a:noFill/>
          <a:ln/>
        </p:spPr>
        <p:txBody>
          <a:bodyPr wrap="square" lIns="0" tIns="0" rIns="0" bIns="0" rtlCol="0" anchor="t"/>
          <a:lstStyle/>
          <a:p>
            <a:pPr indent="0" marL="0">
              <a:buNone/>
            </a:pPr>
            <a:r>
              <a:rPr lang="en-US" sz="850" dirty="0">
                <a:solidFill>
                  <a:srgbClr val="1B2A41"/>
                </a:solidFill>
                <a:latin typeface="Calibri" pitchFamily="34" charset="0"/>
                <a:ea typeface="Calibri" pitchFamily="34" charset="-122"/>
                <a:cs typeface="Calibri" pitchFamily="34" charset="-120"/>
              </a:rPr>
              <a:t>dispatch above threshold; quarantine to four-eyes; reject below the floor</a:t>
            </a:r>
            <a:endParaRPr lang="en-US" sz="850" dirty="0"/>
          </a:p>
        </p:txBody>
      </p:sp>
      <p:sp>
        <p:nvSpPr>
          <p:cNvPr id="31" name="Shape 29"/>
          <p:cNvSpPr/>
          <p:nvPr/>
        </p:nvSpPr>
        <p:spPr>
          <a:xfrm>
            <a:off x="6629400" y="3447288"/>
            <a:ext cx="137160" cy="9144"/>
          </a:xfrm>
          <a:prstGeom prst="line">
            <a:avLst/>
          </a:prstGeom>
          <a:noFill/>
          <a:ln w="15875">
            <a:solidFill>
              <a:srgbClr val="6B7A90"/>
            </a:solidFill>
            <a:prstDash val="solid"/>
            <a:tailEnd type="triangle"/>
          </a:ln>
        </p:spPr>
      </p:sp>
      <p:sp>
        <p:nvSpPr>
          <p:cNvPr id="32" name="Shape 30"/>
          <p:cNvSpPr/>
          <p:nvPr/>
        </p:nvSpPr>
        <p:spPr>
          <a:xfrm>
            <a:off x="6766560" y="2834640"/>
            <a:ext cx="1965960" cy="1234440"/>
          </a:xfrm>
          <a:prstGeom prst="roundRect">
            <a:avLst>
              <a:gd name="adj" fmla="val 4444"/>
            </a:avLst>
          </a:prstGeom>
          <a:solidFill>
            <a:srgbClr val="EEF6F4"/>
          </a:solidFill>
          <a:ln w="9525">
            <a:solidFill>
              <a:srgbClr val="2EC4B6"/>
            </a:solidFill>
            <a:prstDash val="solid"/>
          </a:ln>
        </p:spPr>
      </p:sp>
      <p:sp>
        <p:nvSpPr>
          <p:cNvPr id="33" name="Text 31"/>
          <p:cNvSpPr txBox="1"/>
          <p:nvPr/>
        </p:nvSpPr>
        <p:spPr>
          <a:xfrm>
            <a:off x="6858000" y="2907792"/>
            <a:ext cx="1783080" cy="274320"/>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8. Assign berth</a:t>
            </a:r>
            <a:endParaRPr lang="en-US" sz="1100" dirty="0"/>
          </a:p>
        </p:txBody>
      </p:sp>
      <p:sp>
        <p:nvSpPr>
          <p:cNvPr id="34" name="Text 32"/>
          <p:cNvSpPr txBox="1"/>
          <p:nvPr/>
        </p:nvSpPr>
        <p:spPr>
          <a:xfrm>
            <a:off x="6858000" y="3200400"/>
            <a:ext cx="1783080" cy="822960"/>
          </a:xfrm>
          <a:prstGeom prst="rect">
            <a:avLst/>
          </a:prstGeom>
          <a:noFill/>
          <a:ln/>
        </p:spPr>
        <p:txBody>
          <a:bodyPr wrap="square" lIns="0" tIns="0" rIns="0" bIns="0" rtlCol="0" anchor="t"/>
          <a:lstStyle/>
          <a:p>
            <a:pPr indent="0" marL="0">
              <a:buNone/>
            </a:pPr>
            <a:r>
              <a:rPr lang="en-US" sz="850" dirty="0">
                <a:solidFill>
                  <a:srgbClr val="1B2A41"/>
                </a:solidFill>
                <a:latin typeface="Calibri" pitchFamily="34" charset="0"/>
                <a:ea typeface="Calibri" pitchFamily="34" charset="-122"/>
                <a:cs typeface="Calibri" pitchFamily="34" charset="-120"/>
              </a:rPr>
              <a:t>both sides paired per client/domain/value-date; supersession replaces in order</a:t>
            </a:r>
            <a:endParaRPr lang="en-US" sz="850" dirty="0"/>
          </a:p>
        </p:txBody>
      </p:sp>
      <p:sp>
        <p:nvSpPr>
          <p:cNvPr id="35" name="Shape 33"/>
          <p:cNvSpPr/>
          <p:nvPr/>
        </p:nvSpPr>
        <p:spPr>
          <a:xfrm>
            <a:off x="8229600" y="2514600"/>
            <a:ext cx="9144" cy="320040"/>
          </a:xfrm>
          <a:prstGeom prst="line">
            <a:avLst/>
          </a:prstGeom>
          <a:noFill/>
          <a:ln w="15875">
            <a:solidFill>
              <a:srgbClr val="6B7A90"/>
            </a:solidFill>
            <a:prstDash val="solid"/>
            <a:tailEnd type="triangle"/>
          </a:ln>
        </p:spPr>
      </p:sp>
      <p:sp>
        <p:nvSpPr>
          <p:cNvPr id="36" name="Text 34"/>
          <p:cNvSpPr txBox="1"/>
          <p:nvPr/>
        </p:nvSpPr>
        <p:spPr>
          <a:xfrm>
            <a:off x="457200" y="4434840"/>
            <a:ext cx="8229600" cy="320040"/>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Every stage records why it decided what it did. Audit is a property of the architecture: each decision appends to a hash-chained log, and read models are projections rebuildable from offset zero.</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5486400" cy="228600"/>
          </a:xfrm>
          <a:prstGeom prst="rect">
            <a:avLst/>
          </a:prstGeom>
          <a:noFill/>
          <a:ln/>
        </p:spPr>
        <p:txBody>
          <a:bodyPr wrap="square" lIns="0" tIns="0" rIns="0" bIns="0" rtlCol="0" anchor="ctr"/>
          <a:lstStyle/>
          <a:p>
            <a:pPr indent="0" marL="0">
              <a:buNone/>
            </a:pPr>
            <a:r>
              <a:rPr lang="en-US" sz="1000" b="1" spc="200" kern="0" dirty="0">
                <a:solidFill>
                  <a:srgbClr val="2EC4B6"/>
                </a:solidFill>
                <a:latin typeface="Calibri" pitchFamily="34" charset="0"/>
                <a:ea typeface="Calibri" pitchFamily="34" charset="-122"/>
                <a:cs typeface="Calibri" pitchFamily="34" charset="-120"/>
              </a:rPr>
              <a:t>DESIGN · CORE MECHANISM</a:t>
            </a:r>
            <a:endParaRPr lang="en-US" sz="1000" dirty="0"/>
          </a:p>
        </p:txBody>
      </p:sp>
      <p:sp>
        <p:nvSpPr>
          <p:cNvPr id="3" name="Text 1"/>
          <p:cNvSpPr txBox="1"/>
          <p:nvPr/>
        </p:nvSpPr>
        <p:spPr>
          <a:xfrm>
            <a:off x="457200" y="457200"/>
            <a:ext cx="8229600" cy="548640"/>
          </a:xfrm>
          <a:prstGeom prst="rect">
            <a:avLst/>
          </a:prstGeom>
          <a:noFill/>
          <a:ln/>
        </p:spPr>
        <p:txBody>
          <a:bodyPr wrap="square" lIns="0" tIns="0" rIns="0" bIns="0" rtlCol="0" anchor="ctr"/>
          <a:lstStyle/>
          <a:p>
            <a:pPr indent="0" marL="0">
              <a:buNone/>
            </a:pPr>
            <a:r>
              <a:rPr lang="en-US" sz="2600" b="1" dirty="0">
                <a:solidFill>
                  <a:srgbClr val="14213D"/>
                </a:solidFill>
                <a:latin typeface="Cambria" pitchFamily="34" charset="0"/>
                <a:ea typeface="Cambria" pitchFamily="34" charset="-122"/>
                <a:cs typeface="Cambria" pitchFamily="34" charset="-120"/>
              </a:rPr>
              <a:t>The mapping ladder: falling model dependence</a:t>
            </a:r>
            <a:endParaRPr lang="en-US" sz="2600" dirty="0"/>
          </a:p>
        </p:txBody>
      </p:sp>
      <p:sp>
        <p:nvSpPr>
          <p:cNvPr id="4" name="Text 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800" dirty="0">
                <a:solidFill>
                  <a:srgbClr val="6B7A90"/>
                </a:solidFill>
                <a:latin typeface="Calibri" pitchFamily="34" charset="0"/>
                <a:ea typeface="Calibri" pitchFamily="34" charset="-122"/>
                <a:cs typeface="Calibri" pitchFamily="34" charset="-120"/>
              </a:rPr>
              <a:t>Harbormaster · AI Systems Architecture Review · 8</a:t>
            </a:r>
            <a:endParaRPr lang="en-US" sz="800" dirty="0"/>
          </a:p>
        </p:txBody>
      </p:sp>
      <p:sp>
        <p:nvSpPr>
          <p:cNvPr id="5" name="Shape 3"/>
          <p:cNvSpPr/>
          <p:nvPr/>
        </p:nvSpPr>
        <p:spPr>
          <a:xfrm>
            <a:off x="457200" y="1188720"/>
            <a:ext cx="4206240" cy="3246120"/>
          </a:xfrm>
          <a:prstGeom prst="roundRect">
            <a:avLst>
              <a:gd name="adj" fmla="val 1690"/>
            </a:avLst>
          </a:prstGeom>
          <a:solidFill>
            <a:srgbClr val="1C2B4F"/>
          </a:solidFill>
          <a:ln w="9525">
            <a:solidFill>
              <a:srgbClr val="1C2B4F"/>
            </a:solidFill>
            <a:prstDash val="solid"/>
          </a:ln>
        </p:spPr>
      </p:sp>
      <p:sp>
        <p:nvSpPr>
          <p:cNvPr id="6" name="Text 4"/>
          <p:cNvSpPr txBox="1"/>
          <p:nvPr/>
        </p:nvSpPr>
        <p:spPr>
          <a:xfrm>
            <a:off x="594360" y="1261872"/>
            <a:ext cx="3931920" cy="274320"/>
          </a:xfrm>
          <a:prstGeom prst="rect">
            <a:avLst/>
          </a:prstGeom>
          <a:noFill/>
          <a:ln/>
        </p:spPr>
        <p:txBody>
          <a:bodyPr wrap="square" lIns="0" tIns="0" rIns="0" bIns="0" rtlCol="0" anchor="ctr"/>
          <a:lstStyle/>
          <a:p>
            <a:pPr indent="0" marL="0">
              <a:buNone/>
            </a:pPr>
            <a:r>
              <a:rPr lang="en-US" sz="1100" b="1" dirty="0">
                <a:solidFill>
                  <a:srgbClr val="2EC4B6"/>
                </a:solidFill>
                <a:latin typeface="Calibri" pitchFamily="34" charset="0"/>
                <a:ea typeface="Calibri" pitchFamily="34" charset="-122"/>
                <a:cs typeface="Calibri" pitchFamily="34" charset="-120"/>
              </a:rPr>
              <a:t>Three escalating tiers, one-way</a:t>
            </a:r>
            <a:endParaRPr lang="en-US" sz="1100" dirty="0"/>
          </a:p>
        </p:txBody>
      </p:sp>
      <p:sp>
        <p:nvSpPr>
          <p:cNvPr id="7" name="Text 5"/>
          <p:cNvSpPr txBox="1"/>
          <p:nvPr/>
        </p:nvSpPr>
        <p:spPr>
          <a:xfrm>
            <a:off x="594360" y="1600200"/>
            <a:ext cx="3931920" cy="1554480"/>
          </a:xfrm>
          <a:prstGeom prst="rect">
            <a:avLst/>
          </a:prstGeom>
          <a:noFill/>
          <a:ln/>
        </p:spPr>
        <p:txBody>
          <a:bodyPr wrap="square" lIns="0" tIns="0" rIns="0" bIns="0" rtlCol="0" anchor="t"/>
          <a:lstStyle/>
          <a:p>
            <a:pPr indent="0" marL="0">
              <a:buNone/>
            </a:pPr>
            <a:r>
              <a:rPr lang="en-US" sz="950" dirty="0">
                <a:solidFill>
                  <a:srgbClr val="FFFFFF"/>
                </a:solidFill>
                <a:latin typeface="Courier New" pitchFamily="34" charset="0"/>
                <a:ea typeface="Courier New" pitchFamily="34" charset="-122"/>
                <a:cs typeface="Courier New" pitchFamily="34" charset="-120"/>
              </a:rPr>
              <a:t>T1  alias dictionary (µs)      160/214  74.8%</a:t>
            </a:r>
            <a:endParaRPr lang="en-US" sz="950" dirty="0"/>
          </a:p>
          <a:p>
            <a:pPr indent="0" marL="0">
              <a:buNone/>
            </a:pPr>
            <a:r>
              <a:rPr lang="en-US" sz="950" dirty="0">
                <a:solidFill>
                  <a:srgbClr val="FFFFFF"/>
                </a:solidFill>
                <a:latin typeface="Courier New" pitchFamily="34" charset="0"/>
                <a:ea typeface="Courier New" pitchFamily="34" charset="-122"/>
                <a:cs typeface="Courier New" pitchFamily="34" charset="-120"/>
              </a:rPr>
              <a:t>T1  structural price rule       4/214    1.9%</a:t>
            </a:r>
            <a:endParaRPr lang="en-US" sz="950" dirty="0"/>
          </a:p>
          <a:p>
            <a:pPr indent="0" marL="0">
              <a:buNone/>
            </a:pPr>
            <a:r>
              <a:rPr lang="en-US" sz="950" dirty="0">
                <a:solidFill>
                  <a:srgbClr val="FFFFFF"/>
                </a:solidFill>
                <a:latin typeface="Courier New" pitchFamily="34" charset="0"/>
                <a:ea typeface="Courier New" pitchFamily="34" charset="-122"/>
                <a:cs typeface="Courier New" pitchFamily="34" charset="-120"/>
              </a:rPr>
              <a:t>T2  fuzzy match (ms)            8/214    3.7%</a:t>
            </a:r>
            <a:endParaRPr lang="en-US" sz="950" dirty="0"/>
          </a:p>
          <a:p>
            <a:pPr indent="0" marL="0">
              <a:buNone/>
            </a:pPr>
            <a:r>
              <a:rPr lang="en-US" sz="950" dirty="0">
                <a:solidFill>
                  <a:srgbClr val="FFFFFF"/>
                </a:solidFill>
                <a:latin typeface="Courier New" pitchFamily="34" charset="0"/>
                <a:ea typeface="Courier New" pitchFamily="34" charset="-122"/>
                <a:cs typeface="Courier New" pitchFamily="34" charset="-120"/>
              </a:rPr>
              <a:t>     client override (promoted) 1/214    0.5%</a:t>
            </a:r>
            <a:endParaRPr lang="en-US" sz="950" dirty="0"/>
          </a:p>
          <a:p>
            <a:pPr indent="0" marL="0">
              <a:buNone/>
            </a:pPr>
            <a:r>
              <a:rPr lang="en-US" sz="950" dirty="0">
                <a:solidFill>
                  <a:srgbClr val="FFFFFF"/>
                </a:solidFill>
                <a:latin typeface="Courier New" pitchFamily="34" charset="0"/>
                <a:ea typeface="Courier New" pitchFamily="34" charset="-122"/>
                <a:cs typeface="Courier New" pitchFamily="34" charset="-120"/>
              </a:rPr>
              <a:t>T3  model, given the residue    5/214    2.3%</a:t>
            </a:r>
            <a:endParaRPr lang="en-US" sz="950" dirty="0"/>
          </a:p>
          <a:p>
            <a:pPr indent="0" marL="0">
              <a:buNone/>
            </a:pPr>
            <a:r>
              <a:rPr lang="en-US" sz="950" dirty="0">
                <a:solidFill>
                  <a:srgbClr val="FFFFFF"/>
                </a:solidFill>
                <a:latin typeface="Courier New" pitchFamily="34" charset="0"/>
                <a:ea typeface="Courier New" pitchFamily="34" charset="-122"/>
                <a:cs typeface="Courier New" pitchFamily="34" charset="-120"/>
              </a:rPr>
              <a:t>     unresolved, declined      36/214   16.8%</a:t>
            </a:r>
            <a:endParaRPr lang="en-US" sz="950" dirty="0"/>
          </a:p>
        </p:txBody>
      </p:sp>
      <p:sp>
        <p:nvSpPr>
          <p:cNvPr id="8" name="Text 6"/>
          <p:cNvSpPr txBox="1"/>
          <p:nvPr/>
        </p:nvSpPr>
        <p:spPr>
          <a:xfrm>
            <a:off x="594360" y="2788920"/>
            <a:ext cx="3931920" cy="1554480"/>
          </a:xfrm>
          <a:prstGeom prst="rect">
            <a:avLst/>
          </a:prstGeom>
          <a:noFill/>
          <a:ln/>
        </p:spPr>
        <p:txBody>
          <a:bodyPr wrap="square" lIns="0" tIns="0" rIns="0" bIns="0" rtlCol="0" anchor="t"/>
          <a:lstStyle/>
          <a:p>
            <a:pPr marL="342900" indent="-342900">
              <a:spcAft>
                <a:spcPts val="400"/>
              </a:spcAft>
              <a:buSzPct val="100000"/>
              <a:buChar char="•"/>
            </a:pPr>
            <a:r>
              <a:rPr lang="en-US" sz="900" dirty="0">
                <a:solidFill>
                  <a:srgbClr val="DCE7F5"/>
                </a:solidFill>
                <a:latin typeface="Calibri" pitchFamily="34" charset="0"/>
                <a:ea typeface="Calibri" pitchFamily="34" charset="-122"/>
                <a:cs typeface="Calibri" pitchFamily="34" charset="-120"/>
              </a:rPr>
              <a:t>Each tier sees only what the previous one declined; a column T1 resolved is never re-litigated by a model</a:t>
            </a:r>
            <a:endParaRPr lang="en-US" sz="900" dirty="0"/>
          </a:p>
          <a:p>
            <a:pPr marL="342900" indent="-342900">
              <a:spcAft>
                <a:spcPts val="400"/>
              </a:spcAft>
              <a:buSzPct val="100000"/>
              <a:buChar char="•"/>
            </a:pPr>
            <a:r>
              <a:rPr lang="en-US" sz="900" dirty="0">
                <a:solidFill>
                  <a:srgbClr val="DCE7F5"/>
                </a:solidFill>
                <a:latin typeface="Calibri" pitchFamily="34" charset="0"/>
                <a:ea typeface="Calibri" pitchFamily="34" charset="-122"/>
                <a:cs typeface="Calibri" pitchFamily="34" charset="-120"/>
              </a:rPr>
              <a:t>Results are cached by template fingerprint — the second file with a known layout costs nothing</a:t>
            </a:r>
            <a:endParaRPr lang="en-US" sz="900" dirty="0"/>
          </a:p>
          <a:p>
            <a:pPr marL="342900" indent="-342900">
              <a:spcAft>
                <a:spcPts val="400"/>
              </a:spcAft>
              <a:buSzPct val="100000"/>
              <a:buChar char="•"/>
            </a:pPr>
            <a:r>
              <a:rPr lang="en-US" sz="900" dirty="0">
                <a:solidFill>
                  <a:srgbClr val="DCE7F5"/>
                </a:solidFill>
                <a:latin typeface="Calibri" pitchFamily="34" charset="0"/>
                <a:ea typeface="Calibri" pitchFamily="34" charset="-122"/>
                <a:cs typeface="Calibri" pitchFamily="34" charset="-120"/>
              </a:rPr>
              <a:t>A reviewer can promote a confirmed T3 decision into the client's T1 dictionary; it resolves at T1 forever after</a:t>
            </a:r>
            <a:endParaRPr lang="en-US" sz="900" dirty="0"/>
          </a:p>
          <a:p>
            <a:pPr marL="342900" indent="-342900">
              <a:spcAft>
                <a:spcPts val="400"/>
              </a:spcAft>
              <a:buSzPct val="100000"/>
              <a:buChar char="•"/>
            </a:pPr>
            <a:r>
              <a:rPr lang="en-US" sz="900" dirty="0">
                <a:solidFill>
                  <a:srgbClr val="DCE7F5"/>
                </a:solidFill>
                <a:latin typeface="Calibri" pitchFamily="34" charset="0"/>
                <a:ea typeface="Calibri" pitchFamily="34" charset="-122"/>
                <a:cs typeface="Calibri" pitchFamily="34" charset="-120"/>
              </a:rPr>
              <a:t>Measured, not hoped: the second file with a known layout costs zero adjudications, asserted in test_correctness_targets_across_the_corpus, not claimed in prose</a:t>
            </a:r>
            <a:endParaRPr lang="en-US" sz="900" dirty="0"/>
          </a:p>
        </p:txBody>
      </p:sp>
      <p:sp>
        <p:nvSpPr>
          <p:cNvPr id="9" name="Shape 7"/>
          <p:cNvSpPr/>
          <p:nvPr/>
        </p:nvSpPr>
        <p:spPr>
          <a:xfrm>
            <a:off x="4937760" y="1188720"/>
            <a:ext cx="3749040" cy="990600"/>
          </a:xfrm>
          <a:prstGeom prst="roundRect">
            <a:avLst>
              <a:gd name="adj" fmla="val 5538"/>
            </a:avLst>
          </a:prstGeom>
          <a:solidFill>
            <a:srgbClr val="F3F6FA"/>
          </a:solidFill>
          <a:ln w="9525">
            <a:solidFill>
              <a:srgbClr val="C9D3E0"/>
            </a:solidFill>
            <a:prstDash val="solid"/>
          </a:ln>
        </p:spPr>
      </p:sp>
      <p:sp>
        <p:nvSpPr>
          <p:cNvPr id="10" name="Text 8"/>
          <p:cNvSpPr txBox="1"/>
          <p:nvPr/>
        </p:nvSpPr>
        <p:spPr>
          <a:xfrm>
            <a:off x="5029200" y="1243584"/>
            <a:ext cx="3566160" cy="256032"/>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Structure over vocabulary</a:t>
            </a:r>
            <a:endParaRPr lang="en-US" sz="1100" dirty="0"/>
          </a:p>
        </p:txBody>
      </p:sp>
      <p:sp>
        <p:nvSpPr>
          <p:cNvPr id="11" name="Text 9"/>
          <p:cNvSpPr txBox="1"/>
          <p:nvPr/>
        </p:nvSpPr>
        <p:spPr>
          <a:xfrm>
            <a:off x="5029200" y="1499616"/>
            <a:ext cx="3566160" cy="624840"/>
          </a:xfrm>
          <a:prstGeom prst="rect">
            <a:avLst/>
          </a:prstGeom>
          <a:noFill/>
          <a:ln/>
        </p:spPr>
        <p:txBody>
          <a:bodyPr wrap="square" lIns="0" tIns="0" rIns="0" bIns="0" rtlCol="0" anchor="t"/>
          <a:lstStyle/>
          <a:p>
            <a:pPr indent="0" marL="0">
              <a:buNone/>
            </a:pPr>
            <a:r>
              <a:rPr lang="en-US" sz="900" dirty="0">
                <a:solidFill>
                  <a:srgbClr val="1B2A41"/>
                </a:solidFill>
                <a:latin typeface="Calibri" pitchFamily="34" charset="0"/>
                <a:ea typeface="Calibri" pitchFamily="34" charset="-122"/>
                <a:cs typeface="Calibri" pitchFamily="34" charset="-120"/>
              </a:rPr>
              <a:t>settlement/mark/prior-settlement repeat per instrument-day; trade price varies per row — resolved by that shape, not the header text</a:t>
            </a:r>
            <a:endParaRPr lang="en-US" sz="900" dirty="0"/>
          </a:p>
        </p:txBody>
      </p:sp>
      <p:sp>
        <p:nvSpPr>
          <p:cNvPr id="12" name="Shape 10"/>
          <p:cNvSpPr/>
          <p:nvPr/>
        </p:nvSpPr>
        <p:spPr>
          <a:xfrm>
            <a:off x="4937760" y="2316480"/>
            <a:ext cx="3749040" cy="990600"/>
          </a:xfrm>
          <a:prstGeom prst="roundRect">
            <a:avLst>
              <a:gd name="adj" fmla="val 5538"/>
            </a:avLst>
          </a:prstGeom>
          <a:solidFill>
            <a:srgbClr val="F3F6FA"/>
          </a:solidFill>
          <a:ln w="9525">
            <a:solidFill>
              <a:srgbClr val="C9D3E0"/>
            </a:solidFill>
            <a:prstDash val="solid"/>
          </a:ln>
        </p:spPr>
      </p:sp>
      <p:sp>
        <p:nvSpPr>
          <p:cNvPr id="13" name="Text 11"/>
          <p:cNvSpPr txBox="1"/>
          <p:nvPr/>
        </p:nvSpPr>
        <p:spPr>
          <a:xfrm>
            <a:off x="5029200" y="2371344"/>
            <a:ext cx="3566160" cy="256032"/>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Provenance on every field</a:t>
            </a:r>
            <a:endParaRPr lang="en-US" sz="1100" dirty="0"/>
          </a:p>
        </p:txBody>
      </p:sp>
      <p:sp>
        <p:nvSpPr>
          <p:cNvPr id="14" name="Text 12"/>
          <p:cNvSpPr txBox="1"/>
          <p:nvPr/>
        </p:nvSpPr>
        <p:spPr>
          <a:xfrm>
            <a:off x="5029200" y="2627376"/>
            <a:ext cx="3566160" cy="624840"/>
          </a:xfrm>
          <a:prstGeom prst="rect">
            <a:avLst/>
          </a:prstGeom>
          <a:noFill/>
          <a:ln/>
        </p:spPr>
        <p:txBody>
          <a:bodyPr wrap="square" lIns="0" tIns="0" rIns="0" bIns="0" rtlCol="0" anchor="t"/>
          <a:lstStyle/>
          <a:p>
            <a:pPr indent="0" marL="0">
              <a:buNone/>
            </a:pPr>
            <a:r>
              <a:rPr lang="en-US" sz="900" dirty="0">
                <a:solidFill>
                  <a:srgbClr val="1B2A41"/>
                </a:solidFill>
                <a:latin typeface="Calibri" pitchFamily="34" charset="0"/>
                <a:ea typeface="Calibri" pitchFamily="34" charset="-122"/>
                <a:cs typeface="Calibri" pitchFamily="34" charset="-120"/>
              </a:rPr>
              <a:t>each dispatched mapping carries a tier and non-empty evidence string; a mapping with no provenance is a defect</a:t>
            </a:r>
            <a:endParaRPr lang="en-US" sz="900" dirty="0"/>
          </a:p>
        </p:txBody>
      </p:sp>
      <p:sp>
        <p:nvSpPr>
          <p:cNvPr id="15" name="Shape 13"/>
          <p:cNvSpPr/>
          <p:nvPr/>
        </p:nvSpPr>
        <p:spPr>
          <a:xfrm>
            <a:off x="4937760" y="3444240"/>
            <a:ext cx="3749040" cy="990600"/>
          </a:xfrm>
          <a:prstGeom prst="roundRect">
            <a:avLst>
              <a:gd name="adj" fmla="val 5538"/>
            </a:avLst>
          </a:prstGeom>
          <a:solidFill>
            <a:srgbClr val="F3F6FA"/>
          </a:solidFill>
          <a:ln w="9525">
            <a:solidFill>
              <a:srgbClr val="C9D3E0"/>
            </a:solidFill>
            <a:prstDash val="solid"/>
          </a:ln>
        </p:spPr>
      </p:sp>
      <p:sp>
        <p:nvSpPr>
          <p:cNvPr id="16" name="Text 14"/>
          <p:cNvSpPr txBox="1"/>
          <p:nvPr/>
        </p:nvSpPr>
        <p:spPr>
          <a:xfrm>
            <a:off x="5029200" y="3499104"/>
            <a:ext cx="3566160" cy="256032"/>
          </a:xfrm>
          <a:prstGeom prst="rect">
            <a:avLst/>
          </a:prstGeom>
          <a:noFill/>
          <a:ln/>
        </p:spPr>
        <p:txBody>
          <a:bodyPr wrap="square" lIns="0" tIns="0" rIns="0" bIns="0" rtlCol="0" anchor="ctr"/>
          <a:lstStyle/>
          <a:p>
            <a:pPr indent="0" marL="0">
              <a:buNone/>
            </a:pPr>
            <a:r>
              <a:rPr lang="en-US" sz="1100" b="1" dirty="0">
                <a:solidFill>
                  <a:srgbClr val="D64550"/>
                </a:solidFill>
                <a:latin typeface="Calibri" pitchFamily="34" charset="0"/>
                <a:ea typeface="Calibri" pitchFamily="34" charset="-122"/>
                <a:cs typeface="Calibri" pitchFamily="34" charset="-120"/>
              </a:rPr>
              <a:t>Decline over guess</a:t>
            </a:r>
            <a:endParaRPr lang="en-US" sz="1100" dirty="0"/>
          </a:p>
        </p:txBody>
      </p:sp>
      <p:sp>
        <p:nvSpPr>
          <p:cNvPr id="17" name="Text 15"/>
          <p:cNvSpPr txBox="1"/>
          <p:nvPr/>
        </p:nvSpPr>
        <p:spPr>
          <a:xfrm>
            <a:off x="5029200" y="3755136"/>
            <a:ext cx="3566160" cy="624840"/>
          </a:xfrm>
          <a:prstGeom prst="rect">
            <a:avLst/>
          </a:prstGeom>
          <a:noFill/>
          <a:ln/>
        </p:spPr>
        <p:txBody>
          <a:bodyPr wrap="square" lIns="0" tIns="0" rIns="0" bIns="0" rtlCol="0" anchor="t"/>
          <a:lstStyle/>
          <a:p>
            <a:pPr indent="0" marL="0">
              <a:buNone/>
            </a:pPr>
            <a:r>
              <a:rPr lang="en-US" sz="900" dirty="0">
                <a:solidFill>
                  <a:srgbClr val="1B2A41"/>
                </a:solidFill>
                <a:latin typeface="Calibri" pitchFamily="34" charset="0"/>
                <a:ea typeface="Calibri" pitchFamily="34" charset="-122"/>
                <a:cs typeface="Calibri" pitchFamily="34" charset="-120"/>
              </a:rPr>
              <a:t>a wrong mapping breaks reconciliation silently; unresolved becomes a review item instead</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5486400" cy="228600"/>
          </a:xfrm>
          <a:prstGeom prst="rect">
            <a:avLst/>
          </a:prstGeom>
          <a:noFill/>
          <a:ln/>
        </p:spPr>
        <p:txBody>
          <a:bodyPr wrap="square" lIns="0" tIns="0" rIns="0" bIns="0" rtlCol="0" anchor="ctr"/>
          <a:lstStyle/>
          <a:p>
            <a:pPr indent="0" marL="0">
              <a:buNone/>
            </a:pPr>
            <a:r>
              <a:rPr lang="en-US" sz="1000" b="1" spc="200" kern="0" dirty="0">
                <a:solidFill>
                  <a:srgbClr val="2EC4B6"/>
                </a:solidFill>
                <a:latin typeface="Calibri" pitchFamily="34" charset="0"/>
                <a:ea typeface="Calibri" pitchFamily="34" charset="-122"/>
                <a:cs typeface="Calibri" pitchFamily="34" charset="-120"/>
              </a:rPr>
              <a:t>ARCHITECTURE · DATA</a:t>
            </a:r>
            <a:endParaRPr lang="en-US" sz="1000" dirty="0"/>
          </a:p>
        </p:txBody>
      </p:sp>
      <p:sp>
        <p:nvSpPr>
          <p:cNvPr id="3" name="Text 1"/>
          <p:cNvSpPr txBox="1"/>
          <p:nvPr/>
        </p:nvSpPr>
        <p:spPr>
          <a:xfrm>
            <a:off x="457200" y="457200"/>
            <a:ext cx="8229600" cy="548640"/>
          </a:xfrm>
          <a:prstGeom prst="rect">
            <a:avLst/>
          </a:prstGeom>
          <a:noFill/>
          <a:ln/>
        </p:spPr>
        <p:txBody>
          <a:bodyPr wrap="square" lIns="0" tIns="0" rIns="0" bIns="0" rtlCol="0" anchor="ctr"/>
          <a:lstStyle/>
          <a:p>
            <a:pPr indent="0" marL="0">
              <a:buNone/>
            </a:pPr>
            <a:r>
              <a:rPr lang="en-US" sz="2600" b="1" dirty="0">
                <a:solidFill>
                  <a:srgbClr val="14213D"/>
                </a:solidFill>
                <a:latin typeface="Cambria" pitchFamily="34" charset="0"/>
                <a:ea typeface="Cambria" pitchFamily="34" charset="-122"/>
                <a:cs typeface="Cambria" pitchFamily="34" charset="-120"/>
              </a:rPr>
              <a:t>Data architecture</a:t>
            </a:r>
            <a:endParaRPr lang="en-US" sz="2600" dirty="0"/>
          </a:p>
        </p:txBody>
      </p:sp>
      <p:sp>
        <p:nvSpPr>
          <p:cNvPr id="4" name="Text 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800" dirty="0">
                <a:solidFill>
                  <a:srgbClr val="6B7A90"/>
                </a:solidFill>
                <a:latin typeface="Calibri" pitchFamily="34" charset="0"/>
                <a:ea typeface="Calibri" pitchFamily="34" charset="-122"/>
                <a:cs typeface="Calibri" pitchFamily="34" charset="-120"/>
              </a:rPr>
              <a:t>Harbormaster · AI Systems Architecture Review · 9</a:t>
            </a:r>
            <a:endParaRPr lang="en-US" sz="800" dirty="0"/>
          </a:p>
        </p:txBody>
      </p:sp>
      <p:sp>
        <p:nvSpPr>
          <p:cNvPr id="5" name="Shape 3"/>
          <p:cNvSpPr/>
          <p:nvPr/>
        </p:nvSpPr>
        <p:spPr>
          <a:xfrm>
            <a:off x="457200" y="1188720"/>
            <a:ext cx="2651760" cy="3246120"/>
          </a:xfrm>
          <a:prstGeom prst="roundRect">
            <a:avLst>
              <a:gd name="adj" fmla="val 2069"/>
            </a:avLst>
          </a:prstGeom>
          <a:solidFill>
            <a:srgbClr val="F3F6FA"/>
          </a:solidFill>
          <a:ln w="9525">
            <a:solidFill>
              <a:srgbClr val="C9D3E0"/>
            </a:solidFill>
            <a:prstDash val="solid"/>
          </a:ln>
        </p:spPr>
      </p:sp>
      <p:sp>
        <p:nvSpPr>
          <p:cNvPr id="6" name="Text 4"/>
          <p:cNvSpPr txBox="1"/>
          <p:nvPr/>
        </p:nvSpPr>
        <p:spPr>
          <a:xfrm>
            <a:off x="548640" y="1243584"/>
            <a:ext cx="2468880" cy="256032"/>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8 Kafka-compatible topics</a:t>
            </a:r>
            <a:endParaRPr lang="en-US" sz="1100" dirty="0"/>
          </a:p>
        </p:txBody>
      </p:sp>
      <p:sp>
        <p:nvSpPr>
          <p:cNvPr id="7" name="Text 5"/>
          <p:cNvSpPr txBox="1"/>
          <p:nvPr/>
        </p:nvSpPr>
        <p:spPr>
          <a:xfrm>
            <a:off x="548640" y="1499616"/>
            <a:ext cx="2468880" cy="2880360"/>
          </a:xfrm>
          <a:prstGeom prst="rect">
            <a:avLst/>
          </a:prstGeom>
          <a:noFill/>
          <a:ln/>
        </p:spPr>
        <p:txBody>
          <a:bodyPr wrap="square" lIns="0" tIns="0" rIns="0" bIns="0" rtlCol="0" anchor="t"/>
          <a:lstStyle/>
          <a:p>
            <a:pPr indent="0" marL="0">
              <a:buNone/>
            </a:pPr>
            <a:r>
              <a:rPr lang="en-US" sz="850" dirty="0">
                <a:solidFill>
                  <a:srgbClr val="1B2A41"/>
                </a:solidFill>
                <a:latin typeface="Calibri" pitchFamily="34" charset="0"/>
                <a:ea typeface="Calibri" pitchFamily="34" charset="-122"/>
                <a:cs typeface="Calibri" pitchFamily="34" charset="-120"/>
              </a:rPr>
              <a:t>hm.arrivals.raw (Portwatch→Inspector)</a:t>
            </a:r>
            <a:endParaRPr lang="en-US" sz="850" dirty="0"/>
          </a:p>
          <a:p>
            <a:pPr indent="0" marL="0">
              <a:buNone/>
            </a:pPr>
            <a:r>
              <a:rPr lang="en-US" sz="850" dirty="0">
                <a:solidFill>
                  <a:srgbClr val="1B2A41"/>
                </a:solidFill>
                <a:latin typeface="Calibri" pitchFamily="34" charset="0"/>
                <a:ea typeface="Calibri" pitchFamily="34" charset="-122"/>
                <a:cs typeface="Calibri" pitchFamily="34" charset="-120"/>
              </a:rPr>
              <a:t>hm.arrivals.classified (30d)</a:t>
            </a:r>
            <a:endParaRPr lang="en-US" sz="850" dirty="0"/>
          </a:p>
          <a:p>
            <a:pPr indent="0" marL="0">
              <a:buNone/>
            </a:pPr>
            <a:r>
              <a:rPr lang="en-US" sz="850" dirty="0">
                <a:solidFill>
                  <a:srgbClr val="1B2A41"/>
                </a:solidFill>
                <a:latin typeface="Calibri" pitchFamily="34" charset="0"/>
                <a:ea typeface="Calibri" pitchFamily="34" charset="-122"/>
                <a:cs typeface="Calibri" pitchFamily="34" charset="-120"/>
              </a:rPr>
              <a:t>hm.arrivals.quarantined (30d)</a:t>
            </a:r>
            <a:endParaRPr lang="en-US" sz="850" dirty="0"/>
          </a:p>
          <a:p>
            <a:pPr indent="0" marL="0">
              <a:buNone/>
            </a:pPr>
            <a:r>
              <a:rPr lang="en-US" sz="850" dirty="0">
                <a:solidFill>
                  <a:srgbClr val="1B2A41"/>
                </a:solidFill>
                <a:latin typeface="Calibri" pitchFamily="34" charset="0"/>
                <a:ea typeface="Calibri" pitchFamily="34" charset="-122"/>
                <a:cs typeface="Calibri" pitchFamily="34" charset="-120"/>
              </a:rPr>
              <a:t>hm.review.decisions (30d)</a:t>
            </a:r>
            <a:endParaRPr lang="en-US" sz="850" dirty="0"/>
          </a:p>
          <a:p>
            <a:pPr indent="0" marL="0">
              <a:buNone/>
            </a:pPr>
            <a:r>
              <a:rPr lang="en-US" sz="850" dirty="0">
                <a:solidFill>
                  <a:srgbClr val="1B2A41"/>
                </a:solidFill>
                <a:latin typeface="Calibri" pitchFamily="34" charset="0"/>
                <a:ea typeface="Calibri" pitchFamily="34" charset="-122"/>
                <a:cs typeface="Calibri" pitchFamily="34" charset="-120"/>
              </a:rPr>
              <a:t>hm.berth.assigned (90d)</a:t>
            </a:r>
            <a:endParaRPr lang="en-US" sz="850" dirty="0"/>
          </a:p>
          <a:p>
            <a:pPr indent="0" marL="0">
              <a:buNone/>
            </a:pPr>
            <a:r>
              <a:rPr lang="en-US" sz="850" dirty="0">
                <a:solidFill>
                  <a:srgbClr val="1B2A41"/>
                </a:solidFill>
                <a:latin typeface="Calibri" pitchFamily="34" charset="0"/>
                <a:ea typeface="Calibri" pitchFamily="34" charset="-122"/>
                <a:cs typeface="Calibri" pitchFamily="34" charset="-120"/>
              </a:rPr>
              <a:t>hm.berth.superseded (90d)</a:t>
            </a:r>
            <a:endParaRPr lang="en-US" sz="850" dirty="0"/>
          </a:p>
          <a:p>
            <a:pPr indent="0" marL="0">
              <a:buNone/>
            </a:pPr>
            <a:r>
              <a:rPr lang="en-US" sz="850" dirty="0">
                <a:solidFill>
                  <a:srgbClr val="1B2A41"/>
                </a:solidFill>
                <a:latin typeface="Calibri" pitchFamily="34" charset="0"/>
                <a:ea typeface="Calibri" pitchFamily="34" charset="-122"/>
                <a:cs typeface="Calibri" pitchFamily="34" charset="-120"/>
              </a:rPr>
              <a:t>hm.alerts.missing (30d)</a:t>
            </a:r>
            <a:endParaRPr lang="en-US" sz="850" dirty="0"/>
          </a:p>
          <a:p>
            <a:pPr indent="0" marL="0">
              <a:buNone/>
            </a:pPr>
            <a:r>
              <a:rPr lang="en-US" sz="850" dirty="0">
                <a:solidFill>
                  <a:srgbClr val="1B2A41"/>
                </a:solidFill>
                <a:latin typeface="Calibri" pitchFamily="34" charset="0"/>
                <a:ea typeface="Calibri" pitchFamily="34" charset="-122"/>
                <a:cs typeface="Calibri" pitchFamily="34" charset="-120"/>
              </a:rPr>
              <a:t>hm.audit.decisions (compacted, infinite)</a:t>
            </a:r>
            <a:endParaRPr lang="en-US" sz="850" dirty="0"/>
          </a:p>
          <a:p>
            <a:pPr indent="0" marL="0">
              <a:buNone/>
            </a:pPr>
            <a:endParaRPr lang="en-US" sz="850" dirty="0"/>
          </a:p>
          <a:p>
            <a:pPr indent="0" marL="0">
              <a:buNone/>
            </a:pPr>
            <a:r>
              <a:rPr lang="en-US" sz="850" dirty="0">
                <a:solidFill>
                  <a:srgbClr val="1B2A41"/>
                </a:solidFill>
                <a:latin typeface="Calibri" pitchFamily="34" charset="0"/>
                <a:ea typeface="Calibri" pitchFamily="34" charset="-122"/>
                <a:cs typeface="Calibri" pitchFamily="34" charset="-120"/>
              </a:rPr>
              <a:t>Partitioned by client:domain:value_date — ordering within a slot is structural, not a runtime hope.</a:t>
            </a:r>
            <a:endParaRPr lang="en-US" sz="850" dirty="0"/>
          </a:p>
        </p:txBody>
      </p:sp>
      <p:sp>
        <p:nvSpPr>
          <p:cNvPr id="8" name="Shape 6"/>
          <p:cNvSpPr/>
          <p:nvPr/>
        </p:nvSpPr>
        <p:spPr>
          <a:xfrm>
            <a:off x="3383280" y="1188720"/>
            <a:ext cx="2514600" cy="1508760"/>
          </a:xfrm>
          <a:prstGeom prst="roundRect">
            <a:avLst>
              <a:gd name="adj" fmla="val 3636"/>
            </a:avLst>
          </a:prstGeom>
          <a:solidFill>
            <a:srgbClr val="F3F6FA"/>
          </a:solidFill>
          <a:ln w="9525">
            <a:solidFill>
              <a:srgbClr val="C9D3E0"/>
            </a:solidFill>
            <a:prstDash val="solid"/>
          </a:ln>
        </p:spPr>
      </p:sp>
      <p:sp>
        <p:nvSpPr>
          <p:cNvPr id="9" name="Text 7"/>
          <p:cNvSpPr txBox="1"/>
          <p:nvPr/>
        </p:nvSpPr>
        <p:spPr>
          <a:xfrm>
            <a:off x="3474720" y="1243584"/>
            <a:ext cx="2331720" cy="256032"/>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Postgres 16</a:t>
            </a:r>
            <a:endParaRPr lang="en-US" sz="1100" dirty="0"/>
          </a:p>
        </p:txBody>
      </p:sp>
      <p:sp>
        <p:nvSpPr>
          <p:cNvPr id="10" name="Text 8"/>
          <p:cNvSpPr txBox="1"/>
          <p:nvPr/>
        </p:nvSpPr>
        <p:spPr>
          <a:xfrm>
            <a:off x="3474720" y="1499616"/>
            <a:ext cx="2331720" cy="1143000"/>
          </a:xfrm>
          <a:prstGeom prst="rect">
            <a:avLst/>
          </a:prstGeom>
          <a:noFill/>
          <a:ln/>
        </p:spPr>
        <p:txBody>
          <a:bodyPr wrap="square" lIns="0" tIns="0" rIns="0" bIns="0" rtlCol="0" anchor="t"/>
          <a:lstStyle/>
          <a:p>
            <a:pPr indent="0" marL="0">
              <a:buNone/>
            </a:pPr>
            <a:r>
              <a:rPr lang="en-US" sz="900" dirty="0">
                <a:solidFill>
                  <a:srgbClr val="1B2A41"/>
                </a:solidFill>
                <a:latin typeface="Calibri" pitchFamily="34" charset="0"/>
                <a:ea typeface="Calibri" pitchFamily="34" charset="-122"/>
                <a:cs typeface="Calibri" pitchFamily="34" charset="-120"/>
              </a:rPr>
              <a:t>Read models (arrival board, slot state), expectation state, hash-chained decision log, template mapping cache, review decisions. JSONB for variable-shape payloads.</a:t>
            </a:r>
            <a:endParaRPr lang="en-US" sz="900" dirty="0"/>
          </a:p>
        </p:txBody>
      </p:sp>
      <p:sp>
        <p:nvSpPr>
          <p:cNvPr id="11" name="Shape 9"/>
          <p:cNvSpPr/>
          <p:nvPr/>
        </p:nvSpPr>
        <p:spPr>
          <a:xfrm>
            <a:off x="3383280" y="2834640"/>
            <a:ext cx="2514600" cy="1600200"/>
          </a:xfrm>
          <a:prstGeom prst="roundRect">
            <a:avLst>
              <a:gd name="adj" fmla="val 3429"/>
            </a:avLst>
          </a:prstGeom>
          <a:solidFill>
            <a:srgbClr val="F3F6FA"/>
          </a:solidFill>
          <a:ln w="9525">
            <a:solidFill>
              <a:srgbClr val="C9D3E0"/>
            </a:solidFill>
            <a:prstDash val="solid"/>
          </a:ln>
        </p:spPr>
      </p:sp>
      <p:sp>
        <p:nvSpPr>
          <p:cNvPr id="12" name="Text 10"/>
          <p:cNvSpPr txBox="1"/>
          <p:nvPr/>
        </p:nvSpPr>
        <p:spPr>
          <a:xfrm>
            <a:off x="3474720" y="2889504"/>
            <a:ext cx="2331720" cy="256032"/>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Object store</a:t>
            </a:r>
            <a:endParaRPr lang="en-US" sz="1100" dirty="0"/>
          </a:p>
        </p:txBody>
      </p:sp>
      <p:sp>
        <p:nvSpPr>
          <p:cNvPr id="13" name="Text 11"/>
          <p:cNvSpPr txBox="1"/>
          <p:nvPr/>
        </p:nvSpPr>
        <p:spPr>
          <a:xfrm>
            <a:off x="3474720" y="3145536"/>
            <a:ext cx="2331720" cy="1234440"/>
          </a:xfrm>
          <a:prstGeom prst="rect">
            <a:avLst/>
          </a:prstGeom>
          <a:noFill/>
          <a:ln/>
        </p:spPr>
        <p:txBody>
          <a:bodyPr wrap="square" lIns="0" tIns="0" rIns="0" bIns="0" rtlCol="0" anchor="t"/>
          <a:lstStyle/>
          <a:p>
            <a:pPr indent="0" marL="0">
              <a:buNone/>
            </a:pPr>
            <a:r>
              <a:rPr lang="en-US" sz="900" dirty="0">
                <a:solidFill>
                  <a:srgbClr val="1B2A41"/>
                </a:solidFill>
                <a:latin typeface="Calibri" pitchFamily="34" charset="0"/>
                <a:ea typeface="Calibri" pitchFamily="34" charset="-122"/>
                <a:cs typeface="Calibri" pitchFamily="34" charset="-120"/>
              </a:rPr>
              <a:t>Landed raw files + canonical Parquet output, behind an interface. Filesystem adapter is the default; an S3 adapter is implemented and unit-tested but unwired in the demo (ADR-015).</a:t>
            </a:r>
            <a:endParaRPr lang="en-US" sz="900" dirty="0"/>
          </a:p>
        </p:txBody>
      </p:sp>
      <p:sp>
        <p:nvSpPr>
          <p:cNvPr id="14" name="Shape 12"/>
          <p:cNvSpPr/>
          <p:nvPr/>
        </p:nvSpPr>
        <p:spPr>
          <a:xfrm>
            <a:off x="6172200" y="1188720"/>
            <a:ext cx="2514600" cy="1508760"/>
          </a:xfrm>
          <a:prstGeom prst="roundRect">
            <a:avLst>
              <a:gd name="adj" fmla="val 3636"/>
            </a:avLst>
          </a:prstGeom>
          <a:solidFill>
            <a:srgbClr val="F3F6FA"/>
          </a:solidFill>
          <a:ln w="9525">
            <a:solidFill>
              <a:srgbClr val="C9D3E0"/>
            </a:solidFill>
            <a:prstDash val="solid"/>
          </a:ln>
        </p:spPr>
      </p:sp>
      <p:sp>
        <p:nvSpPr>
          <p:cNvPr id="15" name="Text 13"/>
          <p:cNvSpPr txBox="1"/>
          <p:nvPr/>
        </p:nvSpPr>
        <p:spPr>
          <a:xfrm>
            <a:off x="6263640" y="1243584"/>
            <a:ext cx="2331720" cy="256032"/>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Canonical output: Parquet, not CSV</a:t>
            </a:r>
            <a:endParaRPr lang="en-US" sz="1100" dirty="0"/>
          </a:p>
        </p:txBody>
      </p:sp>
      <p:sp>
        <p:nvSpPr>
          <p:cNvPr id="16" name="Text 14"/>
          <p:cNvSpPr txBox="1"/>
          <p:nvPr/>
        </p:nvSpPr>
        <p:spPr>
          <a:xfrm>
            <a:off x="6263640" y="1499616"/>
            <a:ext cx="2331720" cy="1143000"/>
          </a:xfrm>
          <a:prstGeom prst="rect">
            <a:avLst/>
          </a:prstGeom>
          <a:noFill/>
          <a:ln/>
        </p:spPr>
        <p:txBody>
          <a:bodyPr wrap="square" lIns="0" tIns="0" rIns="0" bIns="0" rtlCol="0" anchor="t"/>
          <a:lstStyle/>
          <a:p>
            <a:pPr indent="0" marL="0">
              <a:buNone/>
            </a:pPr>
            <a:r>
              <a:rPr lang="en-US" sz="900" dirty="0">
                <a:solidFill>
                  <a:srgbClr val="1B2A41"/>
                </a:solidFill>
                <a:latin typeface="Calibri" pitchFamily="34" charset="0"/>
                <a:ea typeface="Calibri" pitchFamily="34" charset="-122"/>
                <a:cs typeface="Calibri" pitchFamily="34" charset="-120"/>
              </a:rPr>
              <a:t>Typed and columnar; a null settlement price survives distinctly from a zero one, which the downstream engine must not confuse (ADR-006).</a:t>
            </a:r>
            <a:endParaRPr lang="en-US" sz="900" dirty="0"/>
          </a:p>
        </p:txBody>
      </p:sp>
      <p:sp>
        <p:nvSpPr>
          <p:cNvPr id="17" name="Shape 15"/>
          <p:cNvSpPr/>
          <p:nvPr/>
        </p:nvSpPr>
        <p:spPr>
          <a:xfrm>
            <a:off x="6172200" y="2834640"/>
            <a:ext cx="2514600" cy="1600200"/>
          </a:xfrm>
          <a:prstGeom prst="roundRect">
            <a:avLst>
              <a:gd name="adj" fmla="val 3429"/>
            </a:avLst>
          </a:prstGeom>
          <a:solidFill>
            <a:srgbClr val="F3F6FA"/>
          </a:solidFill>
          <a:ln w="9525">
            <a:solidFill>
              <a:srgbClr val="C9D3E0"/>
            </a:solidFill>
            <a:prstDash val="solid"/>
          </a:ln>
        </p:spPr>
      </p:sp>
      <p:sp>
        <p:nvSpPr>
          <p:cNvPr id="18" name="Text 16"/>
          <p:cNvSpPr txBox="1"/>
          <p:nvPr/>
        </p:nvSpPr>
        <p:spPr>
          <a:xfrm>
            <a:off x="6263640" y="2889504"/>
            <a:ext cx="2331720" cy="256032"/>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Masking</a:t>
            </a:r>
            <a:endParaRPr lang="en-US" sz="1100" dirty="0"/>
          </a:p>
        </p:txBody>
      </p:sp>
      <p:sp>
        <p:nvSpPr>
          <p:cNvPr id="19" name="Text 17"/>
          <p:cNvSpPr txBox="1"/>
          <p:nvPr/>
        </p:nvSpPr>
        <p:spPr>
          <a:xfrm>
            <a:off x="6263640" y="3145536"/>
            <a:ext cx="2331720" cy="1234440"/>
          </a:xfrm>
          <a:prstGeom prst="rect">
            <a:avLst/>
          </a:prstGeom>
          <a:noFill/>
          <a:ln/>
        </p:spPr>
        <p:txBody>
          <a:bodyPr wrap="square" lIns="0" tIns="0" rIns="0" bIns="0" rtlCol="0" anchor="t"/>
          <a:lstStyle/>
          <a:p>
            <a:pPr indent="0" marL="0">
              <a:buNone/>
            </a:pPr>
            <a:r>
              <a:rPr lang="en-US" sz="900" dirty="0">
                <a:solidFill>
                  <a:srgbClr val="1B2A41"/>
                </a:solidFill>
                <a:latin typeface="Calibri" pitchFamily="34" charset="0"/>
                <a:ea typeface="Calibri" pitchFamily="34" charset="-122"/>
                <a:cs typeface="Calibri" pitchFamily="34" charset="-120"/>
              </a:rPr>
              <a:t>Account numbers masked to last-4 in logs and UI by default; account and client names stay visible. Applied in a serialisation hook, not per call site (ADR-011).</a:t>
            </a:r>
            <a:endParaRPr lang="en-US" sz="900" dirty="0"/>
          </a:p>
        </p:txBody>
      </p:sp>
      <p:sp>
        <p:nvSpPr>
          <p:cNvPr id="20" name="Text 18"/>
          <p:cNvSpPr txBox="1"/>
          <p:nvPr/>
        </p:nvSpPr>
        <p:spPr>
          <a:xfrm>
            <a:off x="457200" y="4526280"/>
            <a:ext cx="8229600" cy="274320"/>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Contracts are defined once in proto/ and generated for Go and Python by buf; a cross-language round-trip test is part of the offline gate.</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5486400" cy="228600"/>
          </a:xfrm>
          <a:prstGeom prst="rect">
            <a:avLst/>
          </a:prstGeom>
          <a:noFill/>
          <a:ln/>
        </p:spPr>
        <p:txBody>
          <a:bodyPr wrap="square" lIns="0" tIns="0" rIns="0" bIns="0" rtlCol="0" anchor="ctr"/>
          <a:lstStyle/>
          <a:p>
            <a:pPr indent="0" marL="0">
              <a:buNone/>
            </a:pPr>
            <a:r>
              <a:rPr lang="en-US" sz="1000" b="1" spc="200" kern="0" dirty="0">
                <a:solidFill>
                  <a:srgbClr val="2EC4B6"/>
                </a:solidFill>
                <a:latin typeface="Calibri" pitchFamily="34" charset="0"/>
                <a:ea typeface="Calibri" pitchFamily="34" charset="-122"/>
                <a:cs typeface="Calibri" pitchFamily="34" charset="-120"/>
              </a:rPr>
              <a:t>ARCHITECTURE · INTEGRATION</a:t>
            </a:r>
            <a:endParaRPr lang="en-US" sz="1000" dirty="0"/>
          </a:p>
        </p:txBody>
      </p:sp>
      <p:sp>
        <p:nvSpPr>
          <p:cNvPr id="3" name="Text 1"/>
          <p:cNvSpPr txBox="1"/>
          <p:nvPr/>
        </p:nvSpPr>
        <p:spPr>
          <a:xfrm>
            <a:off x="457200" y="457200"/>
            <a:ext cx="8229600" cy="548640"/>
          </a:xfrm>
          <a:prstGeom prst="rect">
            <a:avLst/>
          </a:prstGeom>
          <a:noFill/>
          <a:ln/>
        </p:spPr>
        <p:txBody>
          <a:bodyPr wrap="square" lIns="0" tIns="0" rIns="0" bIns="0" rtlCol="0" anchor="ctr"/>
          <a:lstStyle/>
          <a:p>
            <a:pPr indent="0" marL="0">
              <a:buNone/>
            </a:pPr>
            <a:r>
              <a:rPr lang="en-US" sz="2600" b="1" dirty="0">
                <a:solidFill>
                  <a:srgbClr val="14213D"/>
                </a:solidFill>
                <a:latin typeface="Cambria" pitchFamily="34" charset="0"/>
                <a:ea typeface="Cambria" pitchFamily="34" charset="-122"/>
                <a:cs typeface="Cambria" pitchFamily="34" charset="-120"/>
              </a:rPr>
              <a:t>The model tier: opt-in, behind an interface</a:t>
            </a:r>
            <a:endParaRPr lang="en-US" sz="2600" dirty="0"/>
          </a:p>
        </p:txBody>
      </p:sp>
      <p:sp>
        <p:nvSpPr>
          <p:cNvPr id="4" name="Text 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800" dirty="0">
                <a:solidFill>
                  <a:srgbClr val="6B7A90"/>
                </a:solidFill>
                <a:latin typeface="Calibri" pitchFamily="34" charset="0"/>
                <a:ea typeface="Calibri" pitchFamily="34" charset="-122"/>
                <a:cs typeface="Calibri" pitchFamily="34" charset="-120"/>
              </a:rPr>
              <a:t>Harbormaster · AI Systems Architecture Review · 10</a:t>
            </a:r>
            <a:endParaRPr lang="en-US" sz="800" dirty="0"/>
          </a:p>
        </p:txBody>
      </p:sp>
      <p:sp>
        <p:nvSpPr>
          <p:cNvPr id="5" name="Shape 3"/>
          <p:cNvSpPr/>
          <p:nvPr/>
        </p:nvSpPr>
        <p:spPr>
          <a:xfrm>
            <a:off x="457200" y="1188720"/>
            <a:ext cx="3931920" cy="1554480"/>
          </a:xfrm>
          <a:prstGeom prst="roundRect">
            <a:avLst>
              <a:gd name="adj" fmla="val 3529"/>
            </a:avLst>
          </a:prstGeom>
          <a:solidFill>
            <a:srgbClr val="F3F6FA"/>
          </a:solidFill>
          <a:ln w="9525">
            <a:solidFill>
              <a:srgbClr val="C9D3E0"/>
            </a:solidFill>
            <a:prstDash val="solid"/>
          </a:ln>
        </p:spPr>
      </p:sp>
      <p:sp>
        <p:nvSpPr>
          <p:cNvPr id="6" name="Text 4"/>
          <p:cNvSpPr txBox="1"/>
          <p:nvPr/>
        </p:nvSpPr>
        <p:spPr>
          <a:xfrm>
            <a:off x="548640" y="1243584"/>
            <a:ext cx="3749040" cy="256032"/>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Off by default</a:t>
            </a:r>
            <a:endParaRPr lang="en-US" sz="1100" dirty="0"/>
          </a:p>
        </p:txBody>
      </p:sp>
      <p:sp>
        <p:nvSpPr>
          <p:cNvPr id="7" name="Text 5"/>
          <p:cNvSpPr txBox="1"/>
          <p:nvPr/>
        </p:nvSpPr>
        <p:spPr>
          <a:xfrm>
            <a:off x="548640" y="1499616"/>
            <a:ext cx="3749040" cy="1188720"/>
          </a:xfrm>
          <a:prstGeom prst="rect">
            <a:avLst/>
          </a:prstGeom>
          <a:noFill/>
          <a:ln/>
        </p:spPr>
        <p:txBody>
          <a:bodyPr wrap="square" lIns="0" tIns="0" rIns="0" bIns="0" rtlCol="0" anchor="t"/>
          <a:lstStyle/>
          <a:p>
            <a:pPr indent="0" marL="0">
              <a:buNone/>
            </a:pPr>
            <a:r>
              <a:rPr lang="en-US" sz="950" dirty="0">
                <a:solidFill>
                  <a:srgbClr val="1B2A41"/>
                </a:solidFill>
                <a:latin typeface="Calibri" pitchFamily="34" charset="0"/>
                <a:ea typeface="Calibri" pitchFamily="34" charset="-122"/>
                <a:cs typeface="Calibri" pitchFamily="34" charset="-120"/>
              </a:rPr>
              <a:t>HM_ADJUDICATOR defaults to fake — a deterministic stand-in bound behind the same MappingAdjudicator interface Claude implements. A misconfigured deployment runs without a model rather than failing to start.</a:t>
            </a:r>
            <a:endParaRPr lang="en-US" sz="950" dirty="0"/>
          </a:p>
        </p:txBody>
      </p:sp>
      <p:sp>
        <p:nvSpPr>
          <p:cNvPr id="8" name="Shape 6"/>
          <p:cNvSpPr/>
          <p:nvPr/>
        </p:nvSpPr>
        <p:spPr>
          <a:xfrm>
            <a:off x="4754880" y="1188720"/>
            <a:ext cx="3931920" cy="1554480"/>
          </a:xfrm>
          <a:prstGeom prst="roundRect">
            <a:avLst>
              <a:gd name="adj" fmla="val 3529"/>
            </a:avLst>
          </a:prstGeom>
          <a:solidFill>
            <a:srgbClr val="F3F6FA"/>
          </a:solidFill>
          <a:ln w="9525">
            <a:solidFill>
              <a:srgbClr val="C9D3E0"/>
            </a:solidFill>
            <a:prstDash val="solid"/>
          </a:ln>
        </p:spPr>
      </p:sp>
      <p:sp>
        <p:nvSpPr>
          <p:cNvPr id="9" name="Text 7"/>
          <p:cNvSpPr txBox="1"/>
          <p:nvPr/>
        </p:nvSpPr>
        <p:spPr>
          <a:xfrm>
            <a:off x="4846320" y="1243584"/>
            <a:ext cx="3749040" cy="256032"/>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Opt-in, explicit</a:t>
            </a:r>
            <a:endParaRPr lang="en-US" sz="1100" dirty="0"/>
          </a:p>
        </p:txBody>
      </p:sp>
      <p:sp>
        <p:nvSpPr>
          <p:cNvPr id="10" name="Text 8"/>
          <p:cNvSpPr txBox="1"/>
          <p:nvPr/>
        </p:nvSpPr>
        <p:spPr>
          <a:xfrm>
            <a:off x="4846320" y="1499616"/>
            <a:ext cx="3749040" cy="1188720"/>
          </a:xfrm>
          <a:prstGeom prst="rect">
            <a:avLst/>
          </a:prstGeom>
          <a:noFill/>
          <a:ln/>
        </p:spPr>
        <p:txBody>
          <a:bodyPr wrap="square" lIns="0" tIns="0" rIns="0" bIns="0" rtlCol="0" anchor="t"/>
          <a:lstStyle/>
          <a:p>
            <a:pPr indent="0" marL="0">
              <a:buNone/>
            </a:pPr>
            <a:r>
              <a:rPr lang="en-US" sz="950" dirty="0">
                <a:solidFill>
                  <a:srgbClr val="1B2A41"/>
                </a:solidFill>
                <a:latin typeface="Calibri" pitchFamily="34" charset="0"/>
                <a:ea typeface="Calibri" pitchFamily="34" charset="-122"/>
                <a:cs typeface="Calibri" pitchFamily="34" charset="-120"/>
              </a:rPr>
              <a:t>HM_ADJUDICATOR=claude ANTHROPIC_API_KEY=sk-... make up enables the real tier; HM_LIVE=1 make test-live is the opt-in test against the live API. Every prior phase runs against the deterministic fake.</a:t>
            </a:r>
            <a:endParaRPr lang="en-US" sz="950" dirty="0"/>
          </a:p>
        </p:txBody>
      </p:sp>
      <p:sp>
        <p:nvSpPr>
          <p:cNvPr id="11" name="Shape 9"/>
          <p:cNvSpPr/>
          <p:nvPr/>
        </p:nvSpPr>
        <p:spPr>
          <a:xfrm>
            <a:off x="457200" y="2880360"/>
            <a:ext cx="3931920" cy="1554480"/>
          </a:xfrm>
          <a:prstGeom prst="roundRect">
            <a:avLst>
              <a:gd name="adj" fmla="val 3529"/>
            </a:avLst>
          </a:prstGeom>
          <a:solidFill>
            <a:srgbClr val="F3F6FA"/>
          </a:solidFill>
          <a:ln w="9525">
            <a:solidFill>
              <a:srgbClr val="C9D3E0"/>
            </a:solidFill>
            <a:prstDash val="solid"/>
          </a:ln>
        </p:spPr>
      </p:sp>
      <p:sp>
        <p:nvSpPr>
          <p:cNvPr id="12" name="Text 10"/>
          <p:cNvSpPr txBox="1"/>
          <p:nvPr/>
        </p:nvSpPr>
        <p:spPr>
          <a:xfrm>
            <a:off x="548640" y="2935224"/>
            <a:ext cx="3749040" cy="256032"/>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Bounded cost</a:t>
            </a:r>
            <a:endParaRPr lang="en-US" sz="1100" dirty="0"/>
          </a:p>
        </p:txBody>
      </p:sp>
      <p:sp>
        <p:nvSpPr>
          <p:cNvPr id="13" name="Text 11"/>
          <p:cNvSpPr txBox="1"/>
          <p:nvPr/>
        </p:nvSpPr>
        <p:spPr>
          <a:xfrm>
            <a:off x="548640" y="3191256"/>
            <a:ext cx="3749040" cy="1188720"/>
          </a:xfrm>
          <a:prstGeom prst="rect">
            <a:avLst/>
          </a:prstGeom>
          <a:noFill/>
          <a:ln/>
        </p:spPr>
        <p:txBody>
          <a:bodyPr wrap="square" lIns="0" tIns="0" rIns="0" bIns="0" rtlCol="0" anchor="t"/>
          <a:lstStyle/>
          <a:p>
            <a:pPr indent="0" marL="0">
              <a:buNone/>
            </a:pPr>
            <a:r>
              <a:rPr lang="en-US" sz="950" dirty="0">
                <a:solidFill>
                  <a:srgbClr val="1B2A41"/>
                </a:solidFill>
                <a:latin typeface="Calibri" pitchFamily="34" charset="0"/>
                <a:ea typeface="Calibri" pitchFamily="34" charset="-122"/>
                <a:cs typeface="Calibri" pitchFamily="34" charset="-120"/>
              </a:rPr>
              <a:t>Escalation is one-way; results are cached by template fingerprint. The second file with a given layout is resolved from cache and costs nothing — watch HM_ADJUDICATOR=claude logs for call and token counts.</a:t>
            </a:r>
            <a:endParaRPr lang="en-US" sz="950" dirty="0"/>
          </a:p>
        </p:txBody>
      </p:sp>
      <p:sp>
        <p:nvSpPr>
          <p:cNvPr id="14" name="Shape 12"/>
          <p:cNvSpPr/>
          <p:nvPr/>
        </p:nvSpPr>
        <p:spPr>
          <a:xfrm>
            <a:off x="4754880" y="2880360"/>
            <a:ext cx="3931920" cy="1554480"/>
          </a:xfrm>
          <a:prstGeom prst="roundRect">
            <a:avLst>
              <a:gd name="adj" fmla="val 3529"/>
            </a:avLst>
          </a:prstGeom>
          <a:solidFill>
            <a:srgbClr val="F3F6FA"/>
          </a:solidFill>
          <a:ln w="9525">
            <a:solidFill>
              <a:srgbClr val="C9D3E0"/>
            </a:solidFill>
            <a:prstDash val="solid"/>
          </a:ln>
        </p:spPr>
      </p:sp>
      <p:sp>
        <p:nvSpPr>
          <p:cNvPr id="15" name="Text 13"/>
          <p:cNvSpPr txBox="1"/>
          <p:nvPr/>
        </p:nvSpPr>
        <p:spPr>
          <a:xfrm>
            <a:off x="4846320" y="2935224"/>
            <a:ext cx="3749040" cy="256032"/>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What is and is not measured</a:t>
            </a:r>
            <a:endParaRPr lang="en-US" sz="1100" dirty="0"/>
          </a:p>
        </p:txBody>
      </p:sp>
      <p:sp>
        <p:nvSpPr>
          <p:cNvPr id="16" name="Text 14"/>
          <p:cNvSpPr txBox="1"/>
          <p:nvPr/>
        </p:nvSpPr>
        <p:spPr>
          <a:xfrm>
            <a:off x="4846320" y="3191256"/>
            <a:ext cx="3749040" cy="1188720"/>
          </a:xfrm>
          <a:prstGeom prst="rect">
            <a:avLst/>
          </a:prstGeom>
          <a:noFill/>
          <a:ln/>
        </p:spPr>
        <p:txBody>
          <a:bodyPr wrap="square" lIns="0" tIns="0" rIns="0" bIns="0" rtlCol="0" anchor="t"/>
          <a:lstStyle/>
          <a:p>
            <a:pPr indent="0" marL="0">
              <a:buNone/>
            </a:pPr>
            <a:r>
              <a:rPr lang="en-US" sz="950" dirty="0">
                <a:solidFill>
                  <a:srgbClr val="1B2A41"/>
                </a:solidFill>
                <a:latin typeface="Calibri" pitchFamily="34" charset="0"/>
                <a:ea typeface="Calibri" pitchFamily="34" charset="-122"/>
                <a:cs typeface="Calibri" pitchFamily="34" charset="-120"/>
              </a:rPr>
              <a:t>Offline: which columns fall through to T3, and whether the stand-in and cache behave correctly (41 columns reached T3 here; 18 adjudication calls). Live-model mapping accuracy itself is pending — it needs the real key and is marked so in metrics/headline.json.</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5486400" cy="228600"/>
          </a:xfrm>
          <a:prstGeom prst="rect">
            <a:avLst/>
          </a:prstGeom>
          <a:noFill/>
          <a:ln/>
        </p:spPr>
        <p:txBody>
          <a:bodyPr wrap="square" lIns="0" tIns="0" rIns="0" bIns="0" rtlCol="0" anchor="ctr"/>
          <a:lstStyle/>
          <a:p>
            <a:pPr indent="0" marL="0">
              <a:buNone/>
            </a:pPr>
            <a:r>
              <a:rPr lang="en-US" sz="1000" b="1" spc="200" kern="0" dirty="0">
                <a:solidFill>
                  <a:srgbClr val="2EC4B6"/>
                </a:solidFill>
                <a:latin typeface="Calibri" pitchFamily="34" charset="0"/>
                <a:ea typeface="Calibri" pitchFamily="34" charset="-122"/>
                <a:cs typeface="Calibri" pitchFamily="34" charset="-120"/>
              </a:rPr>
              <a:t>DESIGN DECISIONS</a:t>
            </a:r>
            <a:endParaRPr lang="en-US" sz="1000" dirty="0"/>
          </a:p>
        </p:txBody>
      </p:sp>
      <p:sp>
        <p:nvSpPr>
          <p:cNvPr id="3" name="Text 1"/>
          <p:cNvSpPr txBox="1"/>
          <p:nvPr/>
        </p:nvSpPr>
        <p:spPr>
          <a:xfrm>
            <a:off x="457200" y="457200"/>
            <a:ext cx="8229600" cy="548640"/>
          </a:xfrm>
          <a:prstGeom prst="rect">
            <a:avLst/>
          </a:prstGeom>
          <a:noFill/>
          <a:ln/>
        </p:spPr>
        <p:txBody>
          <a:bodyPr wrap="square" lIns="0" tIns="0" rIns="0" bIns="0" rtlCol="0" anchor="ctr"/>
          <a:lstStyle/>
          <a:p>
            <a:pPr indent="0" marL="0">
              <a:buNone/>
            </a:pPr>
            <a:r>
              <a:rPr lang="en-US" sz="2600" b="1" dirty="0">
                <a:solidFill>
                  <a:srgbClr val="14213D"/>
                </a:solidFill>
                <a:latin typeface="Cambria" pitchFamily="34" charset="0"/>
                <a:ea typeface="Cambria" pitchFamily="34" charset="-122"/>
                <a:cs typeface="Cambria" pitchFamily="34" charset="-120"/>
              </a:rPr>
              <a:t>Design choices and why</a:t>
            </a:r>
            <a:endParaRPr lang="en-US" sz="2600" dirty="0"/>
          </a:p>
        </p:txBody>
      </p:sp>
      <p:sp>
        <p:nvSpPr>
          <p:cNvPr id="4" name="Text 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800" dirty="0">
                <a:solidFill>
                  <a:srgbClr val="6B7A90"/>
                </a:solidFill>
                <a:latin typeface="Calibri" pitchFamily="34" charset="0"/>
                <a:ea typeface="Calibri" pitchFamily="34" charset="-122"/>
                <a:cs typeface="Calibri" pitchFamily="34" charset="-120"/>
              </a:rPr>
              <a:t>Harbormaster · AI Systems Architecture Review · 11</a:t>
            </a:r>
            <a:endParaRPr lang="en-US" sz="8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2468880"/>
                <a:gridCol w="2286000"/>
                <a:gridCol w="3474720"/>
              </a:tblGrid>
              <a:tr h="0">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Decision</a:t>
                      </a:r>
                      <a:endParaRPr lang="en-US" sz="8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Alternatives considered</a:t>
                      </a:r>
                      <a:endParaRPr lang="en-US" sz="8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Why this one</a:t>
                      </a:r>
                      <a:endParaRPr lang="en-US" sz="8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solidFill>
                      <a:srgbClr val="14213D"/>
                    </a:solidFill>
                  </a:tcPr>
                </a:tc>
              </a:tr>
              <a:tr h="0">
                <a:tc>
                  <a:txBody>
                    <a:bodyPr/>
                    <a:lstStyle/>
                    <a:p>
                      <a:pPr indent="0" marL="0">
                        <a:buNone/>
                      </a:pPr>
                      <a:r>
                        <a:rPr lang="en-US" sz="850" dirty="0">
                          <a:solidFill>
                            <a:srgbClr val="1B2A41"/>
                          </a:solidFill>
                          <a:latin typeface="Calibri" pitchFamily="34" charset="0"/>
                          <a:ea typeface="Calibri" pitchFamily="34" charset="-122"/>
                          <a:cs typeface="Calibri" pitchFamily="34" charset="-120"/>
                        </a:rPr>
                        <a:t>Three-tier mapping, not LLM-first (ADR-004)</a:t>
                      </a:r>
                      <a:endParaRPr lang="en-US" sz="8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50" dirty="0">
                          <a:solidFill>
                            <a:srgbClr val="1B2A41"/>
                          </a:solidFill>
                          <a:latin typeface="Calibri" pitchFamily="34" charset="0"/>
                          <a:ea typeface="Calibri" pitchFamily="34" charset="-122"/>
                          <a:cs typeface="Calibri" pitchFamily="34" charset="-120"/>
                        </a:rPr>
                        <a:t>A model call per column</a:t>
                      </a:r>
                      <a:endParaRPr lang="en-US" sz="8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50" dirty="0">
                          <a:solidFill>
                            <a:srgbClr val="1B2A41"/>
                          </a:solidFill>
                          <a:latin typeface="Calibri" pitchFamily="34" charset="0"/>
                          <a:ea typeface="Calibri" pitchFamily="34" charset="-122"/>
                          <a:cs typeface="Calibri" pitchFamily="34" charset="-120"/>
                        </a:rPr>
                        <a:t>1,000 files/day × 10–40 columns makes per-column LLM calls slow, non-deterministic and unbounded in cost</a:t>
                      </a:r>
                      <a:endParaRPr lang="en-US" sz="8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r>
              <a:tr h="0">
                <a:tc>
                  <a:txBody>
                    <a:bodyPr/>
                    <a:lstStyle/>
                    <a:p>
                      <a:pPr indent="0" marL="0">
                        <a:buNone/>
                      </a:pPr>
                      <a:r>
                        <a:rPr lang="en-US" sz="850" dirty="0">
                          <a:solidFill>
                            <a:srgbClr val="1B2A41"/>
                          </a:solidFill>
                          <a:latin typeface="Calibri" pitchFamily="34" charset="0"/>
                          <a:ea typeface="Calibri" pitchFamily="34" charset="-122"/>
                          <a:cs typeface="Calibri" pitchFamily="34" charset="-120"/>
                        </a:rPr>
                        <a:t>Polyglot split: Go at the edges, Python in the middle (ADR-002)</a:t>
                      </a:r>
                      <a:endParaRPr lang="en-US" sz="8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50" dirty="0">
                          <a:solidFill>
                            <a:srgbClr val="1B2A41"/>
                          </a:solidFill>
                          <a:latin typeface="Calibri" pitchFamily="34" charset="0"/>
                          <a:ea typeface="Calibri" pitchFamily="34" charset="-122"/>
                          <a:cs typeface="Calibri" pitchFamily="34" charset="-120"/>
                        </a:rPr>
                        <a:t>Single-language stack</a:t>
                      </a:r>
                      <a:endParaRPr lang="en-US" sz="8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50" dirty="0">
                          <a:solidFill>
                            <a:srgbClr val="1B2A41"/>
                          </a:solidFill>
                          <a:latin typeface="Calibri" pitchFamily="34" charset="0"/>
                          <a:ea typeface="Calibri" pitchFamily="34" charset="-122"/>
                          <a:cs typeface="Calibri" pitchFamily="34" charset="-120"/>
                        </a:rPr>
                        <a:t>Portwatch/Berthmaster are I/O and state machines; Inspector is data shape and inference — each gets the right tool</a:t>
                      </a:r>
                      <a:endParaRPr lang="en-US" sz="8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r>
              <a:tr h="0">
                <a:tc>
                  <a:txBody>
                    <a:bodyPr/>
                    <a:lstStyle/>
                    <a:p>
                      <a:pPr indent="0" marL="0">
                        <a:buNone/>
                      </a:pPr>
                      <a:r>
                        <a:rPr lang="en-US" sz="850" dirty="0">
                          <a:solidFill>
                            <a:srgbClr val="1B2A41"/>
                          </a:solidFill>
                          <a:latin typeface="Calibri" pitchFamily="34" charset="0"/>
                          <a:ea typeface="Calibri" pitchFamily="34" charset="-122"/>
                          <a:cs typeface="Calibri" pitchFamily="34" charset="-120"/>
                        </a:rPr>
                        <a:t>Protobuf as the single source of truth (ADR-003)</a:t>
                      </a:r>
                      <a:endParaRPr lang="en-US" sz="8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50" dirty="0">
                          <a:solidFill>
                            <a:srgbClr val="1B2A41"/>
                          </a:solidFill>
                          <a:latin typeface="Calibri" pitchFamily="34" charset="0"/>
                          <a:ea typeface="Calibri" pitchFamily="34" charset="-122"/>
                          <a:cs typeface="Calibri" pitchFamily="34" charset="-120"/>
                        </a:rPr>
                        <a:t>Hand-written structs per language</a:t>
                      </a:r>
                      <a:endParaRPr lang="en-US" sz="8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50" dirty="0">
                          <a:solidFill>
                            <a:srgbClr val="1B2A41"/>
                          </a:solidFill>
                          <a:latin typeface="Calibri" pitchFamily="34" charset="0"/>
                          <a:ea typeface="Calibri" pitchFamily="34" charset="-122"/>
                          <a:cs typeface="Calibri" pitchFamily="34" charset="-120"/>
                        </a:rPr>
                        <a:t>Two languages on one topic will drift; proto-as-source turns that into a build failure, not a production incident</a:t>
                      </a:r>
                      <a:endParaRPr lang="en-US" sz="8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r>
              <a:tr h="0">
                <a:tc>
                  <a:txBody>
                    <a:bodyPr/>
                    <a:lstStyle/>
                    <a:p>
                      <a:pPr indent="0" marL="0">
                        <a:buNone/>
                      </a:pPr>
                      <a:r>
                        <a:rPr lang="en-US" sz="850" dirty="0">
                          <a:solidFill>
                            <a:srgbClr val="1B2A41"/>
                          </a:solidFill>
                          <a:latin typeface="Calibri" pitchFamily="34" charset="0"/>
                          <a:ea typeface="Calibri" pitchFamily="34" charset="-122"/>
                          <a:cs typeface="Calibri" pitchFamily="34" charset="-120"/>
                        </a:rPr>
                        <a:t>Poll the landing directory, not inotify (ADR-016)</a:t>
                      </a:r>
                      <a:endParaRPr lang="en-US" sz="8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50" dirty="0">
                          <a:solidFill>
                            <a:srgbClr val="1B2A41"/>
                          </a:solidFill>
                          <a:latin typeface="Calibri" pitchFamily="34" charset="0"/>
                          <a:ea typeface="Calibri" pitchFamily="34" charset="-122"/>
                          <a:cs typeface="Calibri" pitchFamily="34" charset="-120"/>
                        </a:rPr>
                        <a:t>fsnotify / inotify watcher</a:t>
                      </a:r>
                      <a:endParaRPr lang="en-US" sz="8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50" dirty="0">
                          <a:solidFill>
                            <a:srgbClr val="1B2A41"/>
                          </a:solidFill>
                          <a:latin typeface="Calibri" pitchFamily="34" charset="0"/>
                          <a:ea typeface="Calibri" pitchFamily="34" charset="-122"/>
                          <a:cs typeface="Calibri" pitchFamily="34" charset="-120"/>
                        </a:rPr>
                        <a:t>Landing dirs are NFS/SMB mounts; inotify silently misses remote-host writes exactly where it matters most</a:t>
                      </a:r>
                      <a:endParaRPr lang="en-US" sz="8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r>
              <a:tr h="0">
                <a:tc>
                  <a:txBody>
                    <a:bodyPr/>
                    <a:lstStyle/>
                    <a:p>
                      <a:pPr indent="0" marL="0">
                        <a:buNone/>
                      </a:pPr>
                      <a:r>
                        <a:rPr lang="en-US" sz="850" dirty="0">
                          <a:solidFill>
                            <a:srgbClr val="1B2A41"/>
                          </a:solidFill>
                          <a:latin typeface="Calibri" pitchFamily="34" charset="0"/>
                          <a:ea typeface="Calibri" pitchFamily="34" charset="-122"/>
                          <a:cs typeface="Calibri" pitchFamily="34" charset="-120"/>
                        </a:rPr>
                        <a:t>Server-rendered HTMX, not a React SPA (ADR-012)</a:t>
                      </a:r>
                      <a:endParaRPr lang="en-US" sz="8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50" dirty="0">
                          <a:solidFill>
                            <a:srgbClr val="1B2A41"/>
                          </a:solidFill>
                          <a:latin typeface="Calibri" pitchFamily="34" charset="0"/>
                          <a:ea typeface="Calibri" pitchFamily="34" charset="-122"/>
                          <a:cs typeface="Calibri" pitchFamily="34" charset="-120"/>
                        </a:rPr>
                        <a:t>React/TS/Vite front end</a:t>
                      </a:r>
                      <a:endParaRPr lang="en-US" sz="8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50" dirty="0">
                          <a:solidFill>
                            <a:srgbClr val="1B2A41"/>
                          </a:solidFill>
                          <a:latin typeface="Calibri" pitchFamily="34" charset="0"/>
                          <a:ea typeface="Calibri" pitchFamily="34" charset="-122"/>
                          <a:cs typeface="Calibri" pitchFamily="34" charset="-120"/>
                        </a:rPr>
                        <a:t>No Node, no bundler, no second dependency tree, for a live board plus a review form</a:t>
                      </a:r>
                      <a:endParaRPr lang="en-US" sz="8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r>
              <a:tr h="0">
                <a:tc>
                  <a:txBody>
                    <a:bodyPr/>
                    <a:lstStyle/>
                    <a:p>
                      <a:pPr indent="0" marL="0">
                        <a:buNone/>
                      </a:pPr>
                      <a:r>
                        <a:rPr lang="en-US" sz="850" dirty="0">
                          <a:solidFill>
                            <a:srgbClr val="1B2A41"/>
                          </a:solidFill>
                          <a:latin typeface="Calibri" pitchFamily="34" charset="0"/>
                          <a:ea typeface="Calibri" pitchFamily="34" charset="-122"/>
                          <a:cs typeface="Calibri" pitchFamily="34" charset="-120"/>
                        </a:rPr>
                        <a:t>fastembed (ONNX) over sentence-transformers (ADR-007)</a:t>
                      </a:r>
                      <a:endParaRPr lang="en-US" sz="8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50" dirty="0">
                          <a:solidFill>
                            <a:srgbClr val="1B2A41"/>
                          </a:solidFill>
                          <a:latin typeface="Calibri" pitchFamily="34" charset="0"/>
                          <a:ea typeface="Calibri" pitchFamily="34" charset="-122"/>
                          <a:cs typeface="Calibri" pitchFamily="34" charset="-120"/>
                        </a:rPr>
                        <a:t>sentence-transformers + PyTorch</a:t>
                      </a:r>
                      <a:endParaRPr lang="en-US" sz="8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50" dirty="0">
                          <a:solidFill>
                            <a:srgbClr val="1B2A41"/>
                          </a:solidFill>
                          <a:latin typeface="Calibri" pitchFamily="34" charset="0"/>
                          <a:ea typeface="Calibri" pitchFamily="34" charset="-122"/>
                          <a:cs typeface="Calibri" pitchFamily="34" charset="-120"/>
                        </a:rPr>
                        <a:t>~90 MB CPU-only image instead of ~2 GB; degrades to fuzzy-only if unavailable, and says so</a:t>
                      </a:r>
                      <a:endParaRPr lang="en-US" sz="8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r>
              <a:tr h="0">
                <a:tc>
                  <a:txBody>
                    <a:bodyPr/>
                    <a:lstStyle/>
                    <a:p>
                      <a:pPr indent="0" marL="0">
                        <a:buNone/>
                      </a:pPr>
                      <a:r>
                        <a:rPr lang="en-US" sz="850" dirty="0">
                          <a:solidFill>
                            <a:srgbClr val="1B2A41"/>
                          </a:solidFill>
                          <a:latin typeface="Calibri" pitchFamily="34" charset="0"/>
                          <a:ea typeface="Calibri" pitchFamily="34" charset="-122"/>
                          <a:cs typeface="Calibri" pitchFamily="34" charset="-120"/>
                        </a:rPr>
                        <a:t>Topics provisioned by infrastructure, not the app (ADR-020)</a:t>
                      </a:r>
                      <a:endParaRPr lang="en-US" sz="8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50" dirty="0">
                          <a:solidFill>
                            <a:srgbClr val="1B2A41"/>
                          </a:solidFill>
                          <a:latin typeface="Calibri" pitchFamily="34" charset="0"/>
                          <a:ea typeface="Calibri" pitchFamily="34" charset="-122"/>
                          <a:cs typeface="Calibri" pitchFamily="34" charset="-120"/>
                        </a:rPr>
                        <a:t>Broker auto-create topics</a:t>
                      </a:r>
                      <a:endParaRPr lang="en-US" sz="8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50" dirty="0">
                          <a:solidFill>
                            <a:srgbClr val="1B2A41"/>
                          </a:solidFill>
                          <a:latin typeface="Calibri" pitchFamily="34" charset="0"/>
                          <a:ea typeface="Calibri" pitchFamily="34" charset="-122"/>
                          <a:cs typeface="Calibri" pitchFamily="34" charset="-120"/>
                        </a:rPr>
                        <a:t>A typo in a topic constant now fails loudly instead of silently stranding messages in a new topic</a:t>
                      </a:r>
                      <a:endParaRPr lang="en-US" sz="8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5486400" cy="228600"/>
          </a:xfrm>
          <a:prstGeom prst="rect">
            <a:avLst/>
          </a:prstGeom>
          <a:noFill/>
          <a:ln/>
        </p:spPr>
        <p:txBody>
          <a:bodyPr wrap="square" lIns="0" tIns="0" rIns="0" bIns="0" rtlCol="0" anchor="ctr"/>
          <a:lstStyle/>
          <a:p>
            <a:pPr indent="0" marL="0">
              <a:buNone/>
            </a:pPr>
            <a:r>
              <a:rPr lang="en-US" sz="1000" b="1" spc="200" kern="0" dirty="0">
                <a:solidFill>
                  <a:srgbClr val="2EC4B6"/>
                </a:solidFill>
                <a:latin typeface="Calibri" pitchFamily="34" charset="0"/>
                <a:ea typeface="Calibri" pitchFamily="34" charset="-122"/>
                <a:cs typeface="Calibri" pitchFamily="34" charset="-120"/>
              </a:rPr>
              <a:t>PRODUCT</a:t>
            </a:r>
            <a:endParaRPr lang="en-US" sz="1000" dirty="0"/>
          </a:p>
        </p:txBody>
      </p:sp>
      <p:sp>
        <p:nvSpPr>
          <p:cNvPr id="3" name="Text 1"/>
          <p:cNvSpPr txBox="1"/>
          <p:nvPr/>
        </p:nvSpPr>
        <p:spPr>
          <a:xfrm>
            <a:off x="457200" y="457200"/>
            <a:ext cx="8229600" cy="548640"/>
          </a:xfrm>
          <a:prstGeom prst="rect">
            <a:avLst/>
          </a:prstGeom>
          <a:noFill/>
          <a:ln/>
        </p:spPr>
        <p:txBody>
          <a:bodyPr wrap="square" lIns="0" tIns="0" rIns="0" bIns="0" rtlCol="0" anchor="ctr"/>
          <a:lstStyle/>
          <a:p>
            <a:pPr indent="0" marL="0">
              <a:buNone/>
            </a:pPr>
            <a:r>
              <a:rPr lang="en-US" sz="2600" b="1" dirty="0">
                <a:solidFill>
                  <a:srgbClr val="14213D"/>
                </a:solidFill>
                <a:latin typeface="Cambria" pitchFamily="34" charset="0"/>
                <a:ea typeface="Cambria" pitchFamily="34" charset="-122"/>
                <a:cs typeface="Cambria" pitchFamily="34" charset="-120"/>
              </a:rPr>
              <a:t>Major features</a:t>
            </a:r>
            <a:endParaRPr lang="en-US" sz="2600" dirty="0"/>
          </a:p>
        </p:txBody>
      </p:sp>
      <p:sp>
        <p:nvSpPr>
          <p:cNvPr id="4" name="Text 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800" dirty="0">
                <a:solidFill>
                  <a:srgbClr val="6B7A90"/>
                </a:solidFill>
                <a:latin typeface="Calibri" pitchFamily="34" charset="0"/>
                <a:ea typeface="Calibri" pitchFamily="34" charset="-122"/>
                <a:cs typeface="Calibri" pitchFamily="34" charset="-120"/>
              </a:rPr>
              <a:t>Harbormaster · AI Systems Architecture Review · 12</a:t>
            </a:r>
            <a:endParaRPr lang="en-US" sz="800" dirty="0"/>
          </a:p>
        </p:txBody>
      </p:sp>
      <p:sp>
        <p:nvSpPr>
          <p:cNvPr id="5" name="Shape 3"/>
          <p:cNvSpPr/>
          <p:nvPr/>
        </p:nvSpPr>
        <p:spPr>
          <a:xfrm>
            <a:off x="457200" y="1188720"/>
            <a:ext cx="2651760" cy="1417320"/>
          </a:xfrm>
          <a:prstGeom prst="roundRect">
            <a:avLst>
              <a:gd name="adj" fmla="val 3871"/>
            </a:avLst>
          </a:prstGeom>
          <a:solidFill>
            <a:srgbClr val="F3F6FA"/>
          </a:solidFill>
          <a:ln w="9525">
            <a:solidFill>
              <a:srgbClr val="C9D3E0"/>
            </a:solidFill>
            <a:prstDash val="solid"/>
          </a:ln>
        </p:spPr>
      </p:sp>
      <p:sp>
        <p:nvSpPr>
          <p:cNvPr id="6" name="Text 4"/>
          <p:cNvSpPr txBox="1"/>
          <p:nvPr/>
        </p:nvSpPr>
        <p:spPr>
          <a:xfrm>
            <a:off x="548640" y="1243584"/>
            <a:ext cx="2468880" cy="256032"/>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The mapping ladder</a:t>
            </a:r>
            <a:endParaRPr lang="en-US" sz="1100" dirty="0"/>
          </a:p>
        </p:txBody>
      </p:sp>
      <p:sp>
        <p:nvSpPr>
          <p:cNvPr id="7" name="Text 5"/>
          <p:cNvSpPr txBox="1"/>
          <p:nvPr/>
        </p:nvSpPr>
        <p:spPr>
          <a:xfrm>
            <a:off x="548640" y="1499616"/>
            <a:ext cx="2468880" cy="1051560"/>
          </a:xfrm>
          <a:prstGeom prst="rect">
            <a:avLst/>
          </a:prstGeom>
          <a:noFill/>
          <a:ln/>
        </p:spPr>
        <p:txBody>
          <a:bodyPr wrap="square" lIns="0" tIns="0" rIns="0" bIns="0" rtlCol="0" anchor="t"/>
          <a:lstStyle/>
          <a:p>
            <a:pPr indent="0" marL="0">
              <a:buNone/>
            </a:pPr>
            <a:r>
              <a:rPr lang="en-US" sz="900" dirty="0">
                <a:solidFill>
                  <a:srgbClr val="1B2A41"/>
                </a:solidFill>
                <a:latin typeface="Calibri" pitchFamily="34" charset="0"/>
                <a:ea typeface="Calibri" pitchFamily="34" charset="-122"/>
                <a:cs typeface="Calibri" pitchFamily="34" charset="-120"/>
              </a:rPr>
              <a:t>Alias dictionary → fuzzy/embedding match → model adjudication for the residue, with provenance on every field and promotion into client config</a:t>
            </a:r>
            <a:endParaRPr lang="en-US" sz="900" dirty="0"/>
          </a:p>
        </p:txBody>
      </p:sp>
      <p:sp>
        <p:nvSpPr>
          <p:cNvPr id="8" name="Shape 6"/>
          <p:cNvSpPr/>
          <p:nvPr/>
        </p:nvSpPr>
        <p:spPr>
          <a:xfrm>
            <a:off x="3246120" y="1188720"/>
            <a:ext cx="2651760" cy="1417320"/>
          </a:xfrm>
          <a:prstGeom prst="roundRect">
            <a:avLst>
              <a:gd name="adj" fmla="val 3871"/>
            </a:avLst>
          </a:prstGeom>
          <a:solidFill>
            <a:srgbClr val="F3F6FA"/>
          </a:solidFill>
          <a:ln w="9525">
            <a:solidFill>
              <a:srgbClr val="C9D3E0"/>
            </a:solidFill>
            <a:prstDash val="solid"/>
          </a:ln>
        </p:spPr>
      </p:sp>
      <p:sp>
        <p:nvSpPr>
          <p:cNvPr id="9" name="Text 7"/>
          <p:cNvSpPr txBox="1"/>
          <p:nvPr/>
        </p:nvSpPr>
        <p:spPr>
          <a:xfrm>
            <a:off x="3337560" y="1243584"/>
            <a:ext cx="2468880" cy="256032"/>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Value-date resolution</a:t>
            </a:r>
            <a:endParaRPr lang="en-US" sz="1100" dirty="0"/>
          </a:p>
        </p:txBody>
      </p:sp>
      <p:sp>
        <p:nvSpPr>
          <p:cNvPr id="10" name="Text 8"/>
          <p:cNvSpPr txBox="1"/>
          <p:nvPr/>
        </p:nvSpPr>
        <p:spPr>
          <a:xfrm>
            <a:off x="3337560" y="1499616"/>
            <a:ext cx="2468880" cy="1051560"/>
          </a:xfrm>
          <a:prstGeom prst="rect">
            <a:avLst/>
          </a:prstGeom>
          <a:noFill/>
          <a:ln/>
        </p:spPr>
        <p:txBody>
          <a:bodyPr wrap="square" lIns="0" tIns="0" rIns="0" bIns="0" rtlCol="0" anchor="t"/>
          <a:lstStyle/>
          <a:p>
            <a:pPr indent="0" marL="0">
              <a:buNone/>
            </a:pPr>
            <a:r>
              <a:rPr lang="en-US" sz="900" dirty="0">
                <a:solidFill>
                  <a:srgbClr val="1B2A41"/>
                </a:solidFill>
                <a:latin typeface="Calibri" pitchFamily="34" charset="0"/>
                <a:ea typeface="Calibri" pitchFamily="34" charset="-122"/>
                <a:cs typeface="Calibri" pitchFamily="34" charset="-120"/>
              </a:rPr>
              <a:t>Three independent sources ranked by what they know, resolved against per-client business calendars; disagreements always flagged</a:t>
            </a:r>
            <a:endParaRPr lang="en-US" sz="900" dirty="0"/>
          </a:p>
        </p:txBody>
      </p:sp>
      <p:sp>
        <p:nvSpPr>
          <p:cNvPr id="11" name="Shape 9"/>
          <p:cNvSpPr/>
          <p:nvPr/>
        </p:nvSpPr>
        <p:spPr>
          <a:xfrm>
            <a:off x="6035040" y="1188720"/>
            <a:ext cx="2651760" cy="1417320"/>
          </a:xfrm>
          <a:prstGeom prst="roundRect">
            <a:avLst>
              <a:gd name="adj" fmla="val 3871"/>
            </a:avLst>
          </a:prstGeom>
          <a:solidFill>
            <a:srgbClr val="F3F6FA"/>
          </a:solidFill>
          <a:ln w="9525">
            <a:solidFill>
              <a:srgbClr val="C9D3E0"/>
            </a:solidFill>
            <a:prstDash val="solid"/>
          </a:ln>
        </p:spPr>
      </p:sp>
      <p:sp>
        <p:nvSpPr>
          <p:cNvPr id="12" name="Text 10"/>
          <p:cNvSpPr txBox="1"/>
          <p:nvPr/>
        </p:nvSpPr>
        <p:spPr>
          <a:xfrm>
            <a:off x="6126480" y="1243584"/>
            <a:ext cx="2468880" cy="256032"/>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Quarantine &amp; four-eyes review</a:t>
            </a:r>
            <a:endParaRPr lang="en-US" sz="1100" dirty="0"/>
          </a:p>
        </p:txBody>
      </p:sp>
      <p:sp>
        <p:nvSpPr>
          <p:cNvPr id="13" name="Text 11"/>
          <p:cNvSpPr txBox="1"/>
          <p:nvPr/>
        </p:nvSpPr>
        <p:spPr>
          <a:xfrm>
            <a:off x="6126480" y="1499616"/>
            <a:ext cx="2468880" cy="1051560"/>
          </a:xfrm>
          <a:prstGeom prst="rect">
            <a:avLst/>
          </a:prstGeom>
          <a:noFill/>
          <a:ln/>
        </p:spPr>
        <p:txBody>
          <a:bodyPr wrap="square" lIns="0" tIns="0" rIns="0" bIns="0" rtlCol="0" anchor="t"/>
          <a:lstStyle/>
          <a:p>
            <a:pPr indent="0" marL="0">
              <a:buNone/>
            </a:pPr>
            <a:r>
              <a:rPr lang="en-US" sz="900" dirty="0">
                <a:solidFill>
                  <a:srgbClr val="1B2A41"/>
                </a:solidFill>
                <a:latin typeface="Calibri" pitchFamily="34" charset="0"/>
                <a:ea typeface="Calibri" pitchFamily="34" charset="-122"/>
                <a:cs typeface="Calibri" pitchFamily="34" charset="-120"/>
              </a:rPr>
              <a:t>Composite confidence routes to dispatch, quarantine or reject; no quarantined arrival ships without a recorded human decision</a:t>
            </a:r>
            <a:endParaRPr lang="en-US" sz="900" dirty="0"/>
          </a:p>
        </p:txBody>
      </p:sp>
      <p:sp>
        <p:nvSpPr>
          <p:cNvPr id="14" name="Shape 12"/>
          <p:cNvSpPr/>
          <p:nvPr/>
        </p:nvSpPr>
        <p:spPr>
          <a:xfrm>
            <a:off x="457200" y="2788920"/>
            <a:ext cx="2651760" cy="1417320"/>
          </a:xfrm>
          <a:prstGeom prst="roundRect">
            <a:avLst>
              <a:gd name="adj" fmla="val 3871"/>
            </a:avLst>
          </a:prstGeom>
          <a:solidFill>
            <a:srgbClr val="F3F6FA"/>
          </a:solidFill>
          <a:ln w="9525">
            <a:solidFill>
              <a:srgbClr val="C9D3E0"/>
            </a:solidFill>
            <a:prstDash val="solid"/>
          </a:ln>
        </p:spPr>
      </p:sp>
      <p:sp>
        <p:nvSpPr>
          <p:cNvPr id="15" name="Text 13"/>
          <p:cNvSpPr txBox="1"/>
          <p:nvPr/>
        </p:nvSpPr>
        <p:spPr>
          <a:xfrm>
            <a:off x="548640" y="2843784"/>
            <a:ext cx="2468880" cy="256032"/>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Hash-chained audit</a:t>
            </a:r>
            <a:endParaRPr lang="en-US" sz="1100" dirty="0"/>
          </a:p>
        </p:txBody>
      </p:sp>
      <p:sp>
        <p:nvSpPr>
          <p:cNvPr id="16" name="Text 14"/>
          <p:cNvSpPr txBox="1"/>
          <p:nvPr/>
        </p:nvSpPr>
        <p:spPr>
          <a:xfrm>
            <a:off x="548640" y="3099816"/>
            <a:ext cx="2468880" cy="1051560"/>
          </a:xfrm>
          <a:prstGeom prst="rect">
            <a:avLst/>
          </a:prstGeom>
          <a:noFill/>
          <a:ln/>
        </p:spPr>
        <p:txBody>
          <a:bodyPr wrap="square" lIns="0" tIns="0" rIns="0" bIns="0" rtlCol="0" anchor="t"/>
          <a:lstStyle/>
          <a:p>
            <a:pPr indent="0" marL="0">
              <a:buNone/>
            </a:pPr>
            <a:r>
              <a:rPr lang="en-US" sz="900" dirty="0">
                <a:solidFill>
                  <a:srgbClr val="1B2A41"/>
                </a:solidFill>
                <a:latin typeface="Calibri" pitchFamily="34" charset="0"/>
                <a:ea typeface="Calibri" pitchFamily="34" charset="-122"/>
                <a:cs typeface="Calibri" pitchFamily="34" charset="-120"/>
              </a:rPr>
              <a:t>Every classification and dispatch decision appends to a tamper-evident chain; a verifier walks it and reports the first break</a:t>
            </a:r>
            <a:endParaRPr lang="en-US" sz="900" dirty="0"/>
          </a:p>
        </p:txBody>
      </p:sp>
      <p:sp>
        <p:nvSpPr>
          <p:cNvPr id="17" name="Shape 15"/>
          <p:cNvSpPr/>
          <p:nvPr/>
        </p:nvSpPr>
        <p:spPr>
          <a:xfrm>
            <a:off x="3246120" y="2788920"/>
            <a:ext cx="2651760" cy="1417320"/>
          </a:xfrm>
          <a:prstGeom prst="roundRect">
            <a:avLst>
              <a:gd name="adj" fmla="val 3871"/>
            </a:avLst>
          </a:prstGeom>
          <a:solidFill>
            <a:srgbClr val="F3F6FA"/>
          </a:solidFill>
          <a:ln w="9525">
            <a:solidFill>
              <a:srgbClr val="C9D3E0"/>
            </a:solidFill>
            <a:prstDash val="solid"/>
          </a:ln>
        </p:spPr>
      </p:sp>
      <p:sp>
        <p:nvSpPr>
          <p:cNvPr id="18" name="Text 16"/>
          <p:cNvSpPr txBox="1"/>
          <p:nvPr/>
        </p:nvSpPr>
        <p:spPr>
          <a:xfrm>
            <a:off x="3337560" y="2843784"/>
            <a:ext cx="2468880" cy="256032"/>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Slot lifecycle &amp; supersession</a:t>
            </a:r>
            <a:endParaRPr lang="en-US" sz="1100" dirty="0"/>
          </a:p>
        </p:txBody>
      </p:sp>
      <p:sp>
        <p:nvSpPr>
          <p:cNvPr id="19" name="Text 17"/>
          <p:cNvSpPr txBox="1"/>
          <p:nvPr/>
        </p:nvSpPr>
        <p:spPr>
          <a:xfrm>
            <a:off x="3337560" y="3099816"/>
            <a:ext cx="2468880" cy="1051560"/>
          </a:xfrm>
          <a:prstGeom prst="rect">
            <a:avLst/>
          </a:prstGeom>
          <a:noFill/>
          <a:ln/>
        </p:spPr>
        <p:txBody>
          <a:bodyPr wrap="square" lIns="0" tIns="0" rIns="0" bIns="0" rtlCol="0" anchor="t"/>
          <a:lstStyle/>
          <a:p>
            <a:pPr indent="0" marL="0">
              <a:buNone/>
            </a:pPr>
            <a:r>
              <a:rPr lang="en-US" sz="900" dirty="0">
                <a:solidFill>
                  <a:srgbClr val="1B2A41"/>
                </a:solidFill>
                <a:latin typeface="Calibri" pitchFamily="34" charset="0"/>
                <a:ea typeface="Calibri" pitchFamily="34" charset="-122"/>
                <a:cs typeface="Calibri" pitchFamily="34" charset="-120"/>
              </a:rPr>
              <a:t>Expectation state machine per client/domain/value-date, a T±2 late window, and ordered void-then-replace on correction</a:t>
            </a:r>
            <a:endParaRPr lang="en-US" sz="900" dirty="0"/>
          </a:p>
        </p:txBody>
      </p:sp>
      <p:sp>
        <p:nvSpPr>
          <p:cNvPr id="20" name="Shape 18"/>
          <p:cNvSpPr/>
          <p:nvPr/>
        </p:nvSpPr>
        <p:spPr>
          <a:xfrm>
            <a:off x="6035040" y="2788920"/>
            <a:ext cx="2651760" cy="1417320"/>
          </a:xfrm>
          <a:prstGeom prst="roundRect">
            <a:avLst>
              <a:gd name="adj" fmla="val 3871"/>
            </a:avLst>
          </a:prstGeom>
          <a:solidFill>
            <a:srgbClr val="F3F6FA"/>
          </a:solidFill>
          <a:ln w="9525">
            <a:solidFill>
              <a:srgbClr val="C9D3E0"/>
            </a:solidFill>
            <a:prstDash val="solid"/>
          </a:ln>
        </p:spPr>
      </p:sp>
      <p:sp>
        <p:nvSpPr>
          <p:cNvPr id="21" name="Text 19"/>
          <p:cNvSpPr txBox="1"/>
          <p:nvPr/>
        </p:nvSpPr>
        <p:spPr>
          <a:xfrm>
            <a:off x="6126480" y="2843784"/>
            <a:ext cx="2468880" cy="256032"/>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Operations console</a:t>
            </a:r>
            <a:endParaRPr lang="en-US" sz="1100" dirty="0"/>
          </a:p>
        </p:txBody>
      </p:sp>
      <p:sp>
        <p:nvSpPr>
          <p:cNvPr id="22" name="Text 20"/>
          <p:cNvSpPr txBox="1"/>
          <p:nvPr/>
        </p:nvSpPr>
        <p:spPr>
          <a:xfrm>
            <a:off x="6126480" y="3099816"/>
            <a:ext cx="2468880" cy="1051560"/>
          </a:xfrm>
          <a:prstGeom prst="rect">
            <a:avLst/>
          </a:prstGeom>
          <a:noFill/>
          <a:ln/>
        </p:spPr>
        <p:txBody>
          <a:bodyPr wrap="square" lIns="0" tIns="0" rIns="0" bIns="0" rtlCol="0" anchor="t"/>
          <a:lstStyle/>
          <a:p>
            <a:pPr indent="0" marL="0">
              <a:buNone/>
            </a:pPr>
            <a:r>
              <a:rPr lang="en-US" sz="900" dirty="0">
                <a:solidFill>
                  <a:srgbClr val="1B2A41"/>
                </a:solidFill>
                <a:latin typeface="Calibri" pitchFamily="34" charset="0"/>
                <a:ea typeface="Calibri" pitchFamily="34" charset="-122"/>
                <a:cs typeface="Calibri" pitchFamily="34" charset="-120"/>
              </a:rPr>
              <a:t>Embedded Go templates + HTMX over Postgres read models, projected from the topics; /api/ops for whoever is on call</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5486400" cy="228600"/>
          </a:xfrm>
          <a:prstGeom prst="rect">
            <a:avLst/>
          </a:prstGeom>
          <a:noFill/>
          <a:ln/>
        </p:spPr>
        <p:txBody>
          <a:bodyPr wrap="square" lIns="0" tIns="0" rIns="0" bIns="0" rtlCol="0" anchor="ctr"/>
          <a:lstStyle/>
          <a:p>
            <a:pPr indent="0" marL="0">
              <a:buNone/>
            </a:pPr>
            <a:r>
              <a:rPr lang="en-US" sz="1000" b="1" spc="200" kern="0" dirty="0">
                <a:solidFill>
                  <a:srgbClr val="2EC4B6"/>
                </a:solidFill>
                <a:latin typeface="Calibri" pitchFamily="34" charset="0"/>
                <a:ea typeface="Calibri" pitchFamily="34" charset="-122"/>
                <a:cs typeface="Calibri" pitchFamily="34" charset="-120"/>
              </a:rPr>
              <a:t>SCREENSHOTS · TERMINAL (THIS RUN)</a:t>
            </a:r>
            <a:endParaRPr lang="en-US" sz="1000" dirty="0"/>
          </a:p>
        </p:txBody>
      </p:sp>
      <p:sp>
        <p:nvSpPr>
          <p:cNvPr id="3" name="Text 1"/>
          <p:cNvSpPr txBox="1"/>
          <p:nvPr/>
        </p:nvSpPr>
        <p:spPr>
          <a:xfrm>
            <a:off x="457200" y="457200"/>
            <a:ext cx="8229600" cy="548640"/>
          </a:xfrm>
          <a:prstGeom prst="rect">
            <a:avLst/>
          </a:prstGeom>
          <a:noFill/>
          <a:ln/>
        </p:spPr>
        <p:txBody>
          <a:bodyPr wrap="square" lIns="0" tIns="0" rIns="0" bIns="0" rtlCol="0" anchor="ctr"/>
          <a:lstStyle/>
          <a:p>
            <a:pPr indent="0" marL="0">
              <a:buNone/>
            </a:pPr>
            <a:r>
              <a:rPr lang="en-US" sz="2600" b="1" dirty="0">
                <a:solidFill>
                  <a:srgbClr val="14213D"/>
                </a:solidFill>
                <a:latin typeface="Cambria" pitchFamily="34" charset="0"/>
                <a:ea typeface="Cambria" pitchFamily="34" charset="-122"/>
                <a:cs typeface="Cambria" pitchFamily="34" charset="-120"/>
              </a:rPr>
              <a:t>The offline gate, green</a:t>
            </a:r>
            <a:endParaRPr lang="en-US" sz="2600" dirty="0"/>
          </a:p>
        </p:txBody>
      </p:sp>
      <p:sp>
        <p:nvSpPr>
          <p:cNvPr id="4" name="Text 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800" dirty="0">
                <a:solidFill>
                  <a:srgbClr val="6B7A90"/>
                </a:solidFill>
                <a:latin typeface="Calibri" pitchFamily="34" charset="0"/>
                <a:ea typeface="Calibri" pitchFamily="34" charset="-122"/>
                <a:cs typeface="Calibri" pitchFamily="34" charset="-120"/>
              </a:rPr>
              <a:t>Harbormaster · AI Systems Architecture Review · 13</a:t>
            </a:r>
            <a:endParaRPr lang="en-US" sz="800" dirty="0"/>
          </a:p>
        </p:txBody>
      </p:sp>
      <p:pic>
        <p:nvPicPr>
          <p:cNvPr id="5" name="Image 0" descr="C:/Code-Central/harbormaster/docs/assets/01-gate-green.png">    </p:cNvPr>
          <p:cNvPicPr>
            <a:picLocks noChangeAspect="1"/>
          </p:cNvPicPr>
          <p:nvPr/>
        </p:nvPicPr>
        <p:blipFill>
          <a:blip r:embed="rId1"/>
          <a:stretch>
            <a:fillRect/>
          </a:stretch>
        </p:blipFill>
        <p:spPr>
          <a:xfrm>
            <a:off x="2709752" y="1143000"/>
            <a:ext cx="3724496" cy="3246120"/>
          </a:xfrm>
          <a:prstGeom prst="rect">
            <a:avLst/>
          </a:prstGeom>
        </p:spPr>
      </p:pic>
      <p:sp>
        <p:nvSpPr>
          <p:cNvPr id="6" name="Text 3"/>
          <p:cNvSpPr txBox="1"/>
          <p:nvPr/>
        </p:nvSpPr>
        <p:spPr>
          <a:xfrm>
            <a:off x="457200" y="4480560"/>
            <a:ext cx="8229600" cy="274320"/>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go vet, ruff, mypy --strict, go test, and both pytest suites run in this task: 347 passed, 0 failed, 52 skipped (need a live Postgres). proto-check needs protoc/buf, absent on this host (pre-existing, not fixed here).</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5486400" cy="228600"/>
          </a:xfrm>
          <a:prstGeom prst="rect">
            <a:avLst/>
          </a:prstGeom>
          <a:noFill/>
          <a:ln/>
        </p:spPr>
        <p:txBody>
          <a:bodyPr wrap="square" lIns="0" tIns="0" rIns="0" bIns="0" rtlCol="0" anchor="ctr"/>
          <a:lstStyle/>
          <a:p>
            <a:pPr indent="0" marL="0">
              <a:buNone/>
            </a:pPr>
            <a:r>
              <a:rPr lang="en-US" sz="1000" b="1" spc="200" kern="0" dirty="0">
                <a:solidFill>
                  <a:srgbClr val="2EC4B6"/>
                </a:solidFill>
                <a:latin typeface="Calibri" pitchFamily="34" charset="0"/>
                <a:ea typeface="Calibri" pitchFamily="34" charset="-122"/>
                <a:cs typeface="Calibri" pitchFamily="34" charset="-120"/>
              </a:rPr>
              <a:t>SCREENSHOTS · TERMINAL (THIS RUN)</a:t>
            </a:r>
            <a:endParaRPr lang="en-US" sz="1000" dirty="0"/>
          </a:p>
        </p:txBody>
      </p:sp>
      <p:sp>
        <p:nvSpPr>
          <p:cNvPr id="3" name="Text 1"/>
          <p:cNvSpPr txBox="1"/>
          <p:nvPr/>
        </p:nvSpPr>
        <p:spPr>
          <a:xfrm>
            <a:off x="457200" y="457200"/>
            <a:ext cx="8229600" cy="548640"/>
          </a:xfrm>
          <a:prstGeom prst="rect">
            <a:avLst/>
          </a:prstGeom>
          <a:noFill/>
          <a:ln/>
        </p:spPr>
        <p:txBody>
          <a:bodyPr wrap="square" lIns="0" tIns="0" rIns="0" bIns="0" rtlCol="0" anchor="ctr"/>
          <a:lstStyle/>
          <a:p>
            <a:pPr indent="0" marL="0">
              <a:buNone/>
            </a:pPr>
            <a:r>
              <a:rPr lang="en-US" sz="2600" b="1" dirty="0">
                <a:solidFill>
                  <a:srgbClr val="14213D"/>
                </a:solidFill>
                <a:latin typeface="Cambria" pitchFamily="34" charset="0"/>
                <a:ea typeface="Cambria" pitchFamily="34" charset="-122"/>
                <a:cs typeface="Cambria" pitchFamily="34" charset="-120"/>
              </a:rPr>
              <a:t>The bench reproduces every published number</a:t>
            </a:r>
            <a:endParaRPr lang="en-US" sz="2600" dirty="0"/>
          </a:p>
        </p:txBody>
      </p:sp>
      <p:sp>
        <p:nvSpPr>
          <p:cNvPr id="4" name="Text 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800" dirty="0">
                <a:solidFill>
                  <a:srgbClr val="6B7A90"/>
                </a:solidFill>
                <a:latin typeface="Calibri" pitchFamily="34" charset="0"/>
                <a:ea typeface="Calibri" pitchFamily="34" charset="-122"/>
                <a:cs typeface="Calibri" pitchFamily="34" charset="-120"/>
              </a:rPr>
              <a:t>Harbormaster · AI Systems Architecture Review · 14</a:t>
            </a:r>
            <a:endParaRPr lang="en-US" sz="800" dirty="0"/>
          </a:p>
        </p:txBody>
      </p:sp>
      <p:pic>
        <p:nvPicPr>
          <p:cNvPr id="5" name="Image 0" descr="C:/Code-Central/harbormaster/docs/assets/02-bench-run.png">    </p:cNvPr>
          <p:cNvPicPr>
            <a:picLocks noChangeAspect="1"/>
          </p:cNvPicPr>
          <p:nvPr/>
        </p:nvPicPr>
        <p:blipFill>
          <a:blip r:embed="rId1"/>
          <a:stretch>
            <a:fillRect/>
          </a:stretch>
        </p:blipFill>
        <p:spPr>
          <a:xfrm>
            <a:off x="457200" y="1143000"/>
            <a:ext cx="8229600" cy="2807254"/>
          </a:xfrm>
          <a:prstGeom prst="rect">
            <a:avLst/>
          </a:prstGeom>
        </p:spPr>
      </p:pic>
      <p:sp>
        <p:nvSpPr>
          <p:cNvPr id="6" name="Text 3"/>
          <p:cNvSpPr txBox="1"/>
          <p:nvPr/>
        </p:nvSpPr>
        <p:spPr>
          <a:xfrm>
            <a:off x="457200" y="4206240"/>
            <a:ext cx="8229600" cy="274320"/>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python bench/onboard.py, run in this task, wrote metrics/headline.json byte-for-byte identical to the committed file — the README's 97.7% / 80.8% / 100.0% / 66.7% figures are reproducible, not asserted.</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5486400" cy="228600"/>
          </a:xfrm>
          <a:prstGeom prst="rect">
            <a:avLst/>
          </a:prstGeom>
          <a:noFill/>
          <a:ln/>
        </p:spPr>
        <p:txBody>
          <a:bodyPr wrap="square" lIns="0" tIns="0" rIns="0" bIns="0" rtlCol="0" anchor="ctr"/>
          <a:lstStyle/>
          <a:p>
            <a:pPr indent="0" marL="0">
              <a:buNone/>
            </a:pPr>
            <a:r>
              <a:rPr lang="en-US" sz="1000" b="1" spc="200" kern="0" dirty="0">
                <a:solidFill>
                  <a:srgbClr val="2EC4B6"/>
                </a:solidFill>
                <a:latin typeface="Calibri" pitchFamily="34" charset="0"/>
                <a:ea typeface="Calibri" pitchFamily="34" charset="-122"/>
                <a:cs typeface="Calibri" pitchFamily="34" charset="-120"/>
              </a:rPr>
              <a:t>SCREENSHOTS · TERMINAL (THIS RUN)</a:t>
            </a:r>
            <a:endParaRPr lang="en-US" sz="1000" dirty="0"/>
          </a:p>
        </p:txBody>
      </p:sp>
      <p:sp>
        <p:nvSpPr>
          <p:cNvPr id="3" name="Text 1"/>
          <p:cNvSpPr txBox="1"/>
          <p:nvPr/>
        </p:nvSpPr>
        <p:spPr>
          <a:xfrm>
            <a:off x="457200" y="457200"/>
            <a:ext cx="8229600" cy="548640"/>
          </a:xfrm>
          <a:prstGeom prst="rect">
            <a:avLst/>
          </a:prstGeom>
          <a:noFill/>
          <a:ln/>
        </p:spPr>
        <p:txBody>
          <a:bodyPr wrap="square" lIns="0" tIns="0" rIns="0" bIns="0" rtlCol="0" anchor="ctr"/>
          <a:lstStyle/>
          <a:p>
            <a:pPr indent="0" marL="0">
              <a:buNone/>
            </a:pPr>
            <a:r>
              <a:rPr lang="en-US" sz="2600" b="1" dirty="0">
                <a:solidFill>
                  <a:srgbClr val="14213D"/>
                </a:solidFill>
                <a:latin typeface="Cambria" pitchFamily="34" charset="0"/>
                <a:ea typeface="Cambria" pitchFamily="34" charset="-122"/>
                <a:cs typeface="Cambria" pitchFamily="34" charset="-120"/>
              </a:rPr>
              <a:t>The mapping ladder deciding, and quarantine holding</a:t>
            </a:r>
            <a:endParaRPr lang="en-US" sz="2600" dirty="0"/>
          </a:p>
        </p:txBody>
      </p:sp>
      <p:sp>
        <p:nvSpPr>
          <p:cNvPr id="4" name="Text 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800" dirty="0">
                <a:solidFill>
                  <a:srgbClr val="6B7A90"/>
                </a:solidFill>
                <a:latin typeface="Calibri" pitchFamily="34" charset="0"/>
                <a:ea typeface="Calibri" pitchFamily="34" charset="-122"/>
                <a:cs typeface="Calibri" pitchFamily="34" charset="-120"/>
              </a:rPr>
              <a:t>Harbormaster · AI Systems Architecture Review · 15</a:t>
            </a:r>
            <a:endParaRPr lang="en-US" sz="800" dirty="0"/>
          </a:p>
        </p:txBody>
      </p:sp>
      <p:pic>
        <p:nvPicPr>
          <p:cNvPr id="5" name="Image 0" descr="C:/Code-Central/harbormaster/docs/assets/03-mapping-ladder.png">    </p:cNvPr>
          <p:cNvPicPr>
            <a:picLocks noChangeAspect="1"/>
          </p:cNvPicPr>
          <p:nvPr/>
        </p:nvPicPr>
        <p:blipFill>
          <a:blip r:embed="rId1"/>
          <a:stretch>
            <a:fillRect/>
          </a:stretch>
        </p:blipFill>
        <p:spPr>
          <a:xfrm>
            <a:off x="2430912" y="1097280"/>
            <a:ext cx="4282175" cy="3383280"/>
          </a:xfrm>
          <a:prstGeom prst="rect">
            <a:avLst/>
          </a:prstGeom>
        </p:spPr>
      </p:pic>
      <p:sp>
        <p:nvSpPr>
          <p:cNvPr id="6" name="Text 3"/>
          <p:cNvSpPr txBox="1"/>
          <p:nvPr/>
        </p:nvSpPr>
        <p:spPr>
          <a:xfrm>
            <a:off x="457200" y="4526280"/>
            <a:ext cx="8229600" cy="274320"/>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A small script run against the real Inspector for this task: four price columns disambiguated by structure, and the one deliberately unattributable fixture held in the four-eyes queue with its exact reasons.</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5486400" cy="228600"/>
          </a:xfrm>
          <a:prstGeom prst="rect">
            <a:avLst/>
          </a:prstGeom>
          <a:noFill/>
          <a:ln/>
        </p:spPr>
        <p:txBody>
          <a:bodyPr wrap="square" lIns="0" tIns="0" rIns="0" bIns="0" rtlCol="0" anchor="ctr"/>
          <a:lstStyle/>
          <a:p>
            <a:pPr indent="0" marL="0">
              <a:buNone/>
            </a:pPr>
            <a:r>
              <a:rPr lang="en-US" sz="1000" b="1" spc="200" kern="0" dirty="0">
                <a:solidFill>
                  <a:srgbClr val="2EC4B6"/>
                </a:solidFill>
                <a:latin typeface="Calibri" pitchFamily="34" charset="0"/>
                <a:ea typeface="Calibri" pitchFamily="34" charset="-122"/>
                <a:cs typeface="Calibri" pitchFamily="34" charset="-120"/>
              </a:rPr>
              <a:t>SCREENSHOTS · GENERATED REPORT</a:t>
            </a:r>
            <a:endParaRPr lang="en-US" sz="1000" dirty="0"/>
          </a:p>
        </p:txBody>
      </p:sp>
      <p:sp>
        <p:nvSpPr>
          <p:cNvPr id="3" name="Text 1"/>
          <p:cNvSpPr txBox="1"/>
          <p:nvPr/>
        </p:nvSpPr>
        <p:spPr>
          <a:xfrm>
            <a:off x="457200" y="457200"/>
            <a:ext cx="8229600" cy="548640"/>
          </a:xfrm>
          <a:prstGeom prst="rect">
            <a:avLst/>
          </a:prstGeom>
          <a:noFill/>
          <a:ln/>
        </p:spPr>
        <p:txBody>
          <a:bodyPr wrap="square" lIns="0" tIns="0" rIns="0" bIns="0" rtlCol="0" anchor="ctr"/>
          <a:lstStyle/>
          <a:p>
            <a:pPr indent="0" marL="0">
              <a:buNone/>
            </a:pPr>
            <a:r>
              <a:rPr lang="en-US" sz="2600" b="1" dirty="0">
                <a:solidFill>
                  <a:srgbClr val="14213D"/>
                </a:solidFill>
                <a:latin typeface="Cambria" pitchFamily="34" charset="0"/>
                <a:ea typeface="Cambria" pitchFamily="34" charset="-122"/>
                <a:cs typeface="Cambria" pitchFamily="34" charset="-120"/>
              </a:rPr>
              <a:t>The generated metrics card</a:t>
            </a:r>
            <a:endParaRPr lang="en-US" sz="2600" dirty="0"/>
          </a:p>
        </p:txBody>
      </p:sp>
      <p:sp>
        <p:nvSpPr>
          <p:cNvPr id="4" name="Text 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800" dirty="0">
                <a:solidFill>
                  <a:srgbClr val="6B7A90"/>
                </a:solidFill>
                <a:latin typeface="Calibri" pitchFamily="34" charset="0"/>
                <a:ea typeface="Calibri" pitchFamily="34" charset="-122"/>
                <a:cs typeface="Calibri" pitchFamily="34" charset="-120"/>
              </a:rPr>
              <a:t>Harbormaster · AI Systems Architecture Review · 16</a:t>
            </a:r>
            <a:endParaRPr lang="en-US" sz="800" dirty="0"/>
          </a:p>
        </p:txBody>
      </p:sp>
      <p:pic>
        <p:nvPicPr>
          <p:cNvPr id="5" name="Image 0" descr="C:/Code-Central/harbormaster/docs/assets/04-metrics-card.png">    </p:cNvPr>
          <p:cNvPicPr>
            <a:picLocks noChangeAspect="1"/>
          </p:cNvPicPr>
          <p:nvPr/>
        </p:nvPicPr>
        <p:blipFill>
          <a:blip r:embed="rId1"/>
          <a:stretch>
            <a:fillRect/>
          </a:stretch>
        </p:blipFill>
        <p:spPr>
          <a:xfrm>
            <a:off x="1996751" y="1188720"/>
            <a:ext cx="5150498" cy="3154680"/>
          </a:xfrm>
          <a:prstGeom prst="rect">
            <a:avLst/>
          </a:prstGeom>
        </p:spPr>
      </p:pic>
      <p:sp>
        <p:nvSpPr>
          <p:cNvPr id="6" name="Text 3"/>
          <p:cNvSpPr txBox="1"/>
          <p:nvPr/>
        </p:nvSpPr>
        <p:spPr>
          <a:xfrm>
            <a:off x="457200" y="4480560"/>
            <a:ext cx="8229600" cy="274320"/>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metrics/render.py renders this card from metrics/headline.json into docs/assets/metrics.svg and the README results block, so the deck, the README and the bench output cannot drift apart.</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5486400" cy="228600"/>
          </a:xfrm>
          <a:prstGeom prst="rect">
            <a:avLst/>
          </a:prstGeom>
          <a:noFill/>
          <a:ln/>
        </p:spPr>
        <p:txBody>
          <a:bodyPr wrap="square" lIns="0" tIns="0" rIns="0" bIns="0" rtlCol="0" anchor="ctr"/>
          <a:lstStyle/>
          <a:p>
            <a:pPr indent="0" marL="0">
              <a:buNone/>
            </a:pPr>
            <a:r>
              <a:rPr lang="en-US" sz="1000" b="1" spc="200" kern="0" dirty="0">
                <a:solidFill>
                  <a:srgbClr val="2EC4B6"/>
                </a:solidFill>
                <a:latin typeface="Calibri" pitchFamily="34" charset="0"/>
                <a:ea typeface="Calibri" pitchFamily="34" charset="-122"/>
                <a:cs typeface="Calibri" pitchFamily="34" charset="-120"/>
              </a:rPr>
              <a:t>ENTERPRISE READINESS · CONTROLS</a:t>
            </a:r>
            <a:endParaRPr lang="en-US" sz="1000" dirty="0"/>
          </a:p>
        </p:txBody>
      </p:sp>
      <p:sp>
        <p:nvSpPr>
          <p:cNvPr id="3" name="Text 1"/>
          <p:cNvSpPr txBox="1"/>
          <p:nvPr/>
        </p:nvSpPr>
        <p:spPr>
          <a:xfrm>
            <a:off x="457200" y="457200"/>
            <a:ext cx="8229600" cy="548640"/>
          </a:xfrm>
          <a:prstGeom prst="rect">
            <a:avLst/>
          </a:prstGeom>
          <a:noFill/>
          <a:ln/>
        </p:spPr>
        <p:txBody>
          <a:bodyPr wrap="square" lIns="0" tIns="0" rIns="0" bIns="0" rtlCol="0" anchor="ctr"/>
          <a:lstStyle/>
          <a:p>
            <a:pPr indent="0" marL="0">
              <a:buNone/>
            </a:pPr>
            <a:r>
              <a:rPr lang="en-US" sz="2600" b="1" dirty="0">
                <a:solidFill>
                  <a:srgbClr val="14213D"/>
                </a:solidFill>
                <a:latin typeface="Cambria" pitchFamily="34" charset="0"/>
                <a:ea typeface="Cambria" pitchFamily="34" charset="-122"/>
                <a:cs typeface="Cambria" pitchFamily="34" charset="-120"/>
              </a:rPr>
              <a:t>Security and compliance controls</a:t>
            </a:r>
            <a:endParaRPr lang="en-US" sz="2600" dirty="0"/>
          </a:p>
        </p:txBody>
      </p:sp>
      <p:sp>
        <p:nvSpPr>
          <p:cNvPr id="4" name="Text 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800" dirty="0">
                <a:solidFill>
                  <a:srgbClr val="6B7A90"/>
                </a:solidFill>
                <a:latin typeface="Calibri" pitchFamily="34" charset="0"/>
                <a:ea typeface="Calibri" pitchFamily="34" charset="-122"/>
                <a:cs typeface="Calibri" pitchFamily="34" charset="-120"/>
              </a:rPr>
              <a:t>Harbormaster · AI Systems Architecture Review · 17</a:t>
            </a:r>
            <a:endParaRPr lang="en-US" sz="8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371600"/>
                <a:gridCol w="1920240"/>
                <a:gridCol w="3108960"/>
                <a:gridCol w="1828800"/>
              </a:tblGrid>
              <a:tr h="0">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Boundary</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Threat</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Control in the code</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Evidence</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solidFill>
                      <a:srgbClr val="14213D"/>
                    </a:solidFill>
                  </a:tcPr>
                </a:tc>
              </a:tr>
              <a:tr h="0">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B1 landing directory</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malformed/oversized files, format confusion</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content-based sniffing, not extension; streaming hash; per-format parsers behind one interface</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arrival + parser tests</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r>
              <a:tr h="0">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B2 model tier (Claude)</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key leakage; unbounded cost; wrong mapping accepted</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key from env only; one-way escalation; cache by template; structured-output validated against canonical schema</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T3/resolver tests, ADR-004</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r>
              <a:tr h="0">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B3 operations console</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no authentication in the prototype</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explicitly out of scope by requirements §7; designed to sit behind the institution's SSO</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ship report §5, item 7</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r>
              <a:tr h="0">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B4 audit log</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tampering, deletion, silent edit</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SHA-256 hash chain per arrival; a verifier walks every chain and reports the first break; fails closed</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internal/audit tests, bench tamper check</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r>
              <a:tr h="0">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B5 logs and UI</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account numbers or client identifiers leaking</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numbers masked to last-4 by default in a serialisation hook; names stay visible for operability (ADR-011)</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masking + parity tests, Go &amp; Python</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r>
            </a:tbl>
          </a:graphicData>
        </a:graphic>
      </p:graphicFrame>
      <p:sp>
        <p:nvSpPr>
          <p:cNvPr id="6" name="Text 3"/>
          <p:cNvSpPr txBox="1"/>
          <p:nvPr/>
        </p:nvSpPr>
        <p:spPr>
          <a:xfrm>
            <a:off x="457200" y="4160520"/>
            <a:ext cx="8229600" cy="411480"/>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Residual risks, written down rather than hidden: no console authentication (by design, pre-SSO), no leader election on the overdue sweep, throughput designed for but not load-tested.</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5486400" cy="228600"/>
          </a:xfrm>
          <a:prstGeom prst="rect">
            <a:avLst/>
          </a:prstGeom>
          <a:noFill/>
          <a:ln/>
        </p:spPr>
        <p:txBody>
          <a:bodyPr wrap="square" lIns="0" tIns="0" rIns="0" bIns="0" rtlCol="0" anchor="ctr"/>
          <a:lstStyle/>
          <a:p>
            <a:pPr indent="0" marL="0">
              <a:buNone/>
            </a:pPr>
            <a:r>
              <a:rPr lang="en-US" sz="1000" b="1" spc="200" kern="0" dirty="0">
                <a:solidFill>
                  <a:srgbClr val="2EC4B6"/>
                </a:solidFill>
                <a:latin typeface="Calibri" pitchFamily="34" charset="0"/>
                <a:ea typeface="Calibri" pitchFamily="34" charset="-122"/>
                <a:cs typeface="Calibri" pitchFamily="34" charset="-120"/>
              </a:rPr>
              <a:t>ENTERPRISE READINESS · PROCESS</a:t>
            </a:r>
            <a:endParaRPr lang="en-US" sz="1000" dirty="0"/>
          </a:p>
        </p:txBody>
      </p:sp>
      <p:sp>
        <p:nvSpPr>
          <p:cNvPr id="3" name="Text 1"/>
          <p:cNvSpPr txBox="1"/>
          <p:nvPr/>
        </p:nvSpPr>
        <p:spPr>
          <a:xfrm>
            <a:off x="457200" y="457200"/>
            <a:ext cx="8229600" cy="548640"/>
          </a:xfrm>
          <a:prstGeom prst="rect">
            <a:avLst/>
          </a:prstGeom>
          <a:noFill/>
          <a:ln/>
        </p:spPr>
        <p:txBody>
          <a:bodyPr wrap="square" lIns="0" tIns="0" rIns="0" bIns="0" rtlCol="0" anchor="ctr"/>
          <a:lstStyle/>
          <a:p>
            <a:pPr indent="0" marL="0">
              <a:buNone/>
            </a:pPr>
            <a:r>
              <a:rPr lang="en-US" sz="2600" b="1" dirty="0">
                <a:solidFill>
                  <a:srgbClr val="14213D"/>
                </a:solidFill>
                <a:latin typeface="Cambria" pitchFamily="34" charset="0"/>
                <a:ea typeface="Cambria" pitchFamily="34" charset="-122"/>
                <a:cs typeface="Cambria" pitchFamily="34" charset="-120"/>
              </a:rPr>
              <a:t>How it was built: a gated, evidence-producing lifecycle</a:t>
            </a:r>
            <a:endParaRPr lang="en-US" sz="2600" dirty="0"/>
          </a:p>
        </p:txBody>
      </p:sp>
      <p:sp>
        <p:nvSpPr>
          <p:cNvPr id="4" name="Text 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800" dirty="0">
                <a:solidFill>
                  <a:srgbClr val="6B7A90"/>
                </a:solidFill>
                <a:latin typeface="Calibri" pitchFamily="34" charset="0"/>
                <a:ea typeface="Calibri" pitchFamily="34" charset="-122"/>
                <a:cs typeface="Calibri" pitchFamily="34" charset="-120"/>
              </a:rPr>
              <a:t>Harbormaster · AI Systems Architecture Review · 18</a:t>
            </a:r>
            <a:endParaRPr lang="en-US" sz="800" dirty="0"/>
          </a:p>
        </p:txBody>
      </p:sp>
      <p:sp>
        <p:nvSpPr>
          <p:cNvPr id="5" name="Shape 3"/>
          <p:cNvSpPr/>
          <p:nvPr/>
        </p:nvSpPr>
        <p:spPr>
          <a:xfrm>
            <a:off x="457200" y="1234440"/>
            <a:ext cx="713232" cy="566928"/>
          </a:xfrm>
          <a:prstGeom prst="roundRect">
            <a:avLst>
              <a:gd name="adj" fmla="val 8065"/>
            </a:avLst>
          </a:prstGeom>
          <a:solidFill>
            <a:srgbClr val="1C2B4F"/>
          </a:solidFill>
          <a:ln w="12700">
            <a:solidFill>
              <a:srgbClr val="1C2B4F"/>
            </a:solidFill>
            <a:prstDash val="solid"/>
          </a:ln>
        </p:spPr>
      </p:sp>
      <p:sp>
        <p:nvSpPr>
          <p:cNvPr id="6" name="Text 4"/>
          <p:cNvSpPr txBox="1"/>
          <p:nvPr/>
        </p:nvSpPr>
        <p:spPr>
          <a:xfrm>
            <a:off x="475488" y="1252728"/>
            <a:ext cx="676656" cy="530352"/>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G brief</a:t>
            </a:r>
            <a:endParaRPr lang="en-US" sz="700" dirty="0"/>
          </a:p>
        </p:txBody>
      </p:sp>
      <p:sp>
        <p:nvSpPr>
          <p:cNvPr id="7" name="Shape 5"/>
          <p:cNvSpPr/>
          <p:nvPr/>
        </p:nvSpPr>
        <p:spPr>
          <a:xfrm>
            <a:off x="1229868" y="1234440"/>
            <a:ext cx="713232" cy="566928"/>
          </a:xfrm>
          <a:prstGeom prst="roundRect">
            <a:avLst>
              <a:gd name="adj" fmla="val 8065"/>
            </a:avLst>
          </a:prstGeom>
          <a:solidFill>
            <a:srgbClr val="1C2B4F"/>
          </a:solidFill>
          <a:ln w="12700">
            <a:solidFill>
              <a:srgbClr val="1C2B4F"/>
            </a:solidFill>
            <a:prstDash val="solid"/>
          </a:ln>
        </p:spPr>
      </p:sp>
      <p:sp>
        <p:nvSpPr>
          <p:cNvPr id="8" name="Text 6"/>
          <p:cNvSpPr txBox="1"/>
          <p:nvPr/>
        </p:nvSpPr>
        <p:spPr>
          <a:xfrm>
            <a:off x="1248156" y="1252728"/>
            <a:ext cx="676656" cy="530352"/>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M0 skeleton</a:t>
            </a:r>
            <a:endParaRPr lang="en-US" sz="700" dirty="0"/>
          </a:p>
        </p:txBody>
      </p:sp>
      <p:sp>
        <p:nvSpPr>
          <p:cNvPr id="9" name="Shape 7"/>
          <p:cNvSpPr/>
          <p:nvPr/>
        </p:nvSpPr>
        <p:spPr>
          <a:xfrm>
            <a:off x="2002536" y="1234440"/>
            <a:ext cx="713232" cy="566928"/>
          </a:xfrm>
          <a:prstGeom prst="roundRect">
            <a:avLst>
              <a:gd name="adj" fmla="val 8065"/>
            </a:avLst>
          </a:prstGeom>
          <a:solidFill>
            <a:srgbClr val="1C2B4F"/>
          </a:solidFill>
          <a:ln w="12700">
            <a:solidFill>
              <a:srgbClr val="1C2B4F"/>
            </a:solidFill>
            <a:prstDash val="solid"/>
          </a:ln>
        </p:spPr>
      </p:sp>
      <p:sp>
        <p:nvSpPr>
          <p:cNvPr id="10" name="Text 8"/>
          <p:cNvSpPr txBox="1"/>
          <p:nvPr/>
        </p:nvSpPr>
        <p:spPr>
          <a:xfrm>
            <a:off x="2020824" y="1252728"/>
            <a:ext cx="676656" cy="530352"/>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M1 ingest</a:t>
            </a:r>
            <a:endParaRPr lang="en-US" sz="700" dirty="0"/>
          </a:p>
        </p:txBody>
      </p:sp>
      <p:sp>
        <p:nvSpPr>
          <p:cNvPr id="11" name="Shape 9"/>
          <p:cNvSpPr/>
          <p:nvPr/>
        </p:nvSpPr>
        <p:spPr>
          <a:xfrm>
            <a:off x="2775204" y="1234440"/>
            <a:ext cx="713232" cy="566928"/>
          </a:xfrm>
          <a:prstGeom prst="roundRect">
            <a:avLst>
              <a:gd name="adj" fmla="val 8065"/>
            </a:avLst>
          </a:prstGeom>
          <a:solidFill>
            <a:srgbClr val="1C2B4F"/>
          </a:solidFill>
          <a:ln w="12700">
            <a:solidFill>
              <a:srgbClr val="1C2B4F"/>
            </a:solidFill>
            <a:prstDash val="solid"/>
          </a:ln>
        </p:spPr>
      </p:sp>
      <p:sp>
        <p:nvSpPr>
          <p:cNvPr id="12" name="Text 10"/>
          <p:cNvSpPr txBox="1"/>
          <p:nvPr/>
        </p:nvSpPr>
        <p:spPr>
          <a:xfrm>
            <a:off x="2793492" y="1252728"/>
            <a:ext cx="676656" cy="530352"/>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M2 parsers</a:t>
            </a:r>
            <a:endParaRPr lang="en-US" sz="700" dirty="0"/>
          </a:p>
        </p:txBody>
      </p:sp>
      <p:sp>
        <p:nvSpPr>
          <p:cNvPr id="13" name="Shape 11"/>
          <p:cNvSpPr/>
          <p:nvPr/>
        </p:nvSpPr>
        <p:spPr>
          <a:xfrm>
            <a:off x="3547872" y="1234440"/>
            <a:ext cx="713232" cy="566928"/>
          </a:xfrm>
          <a:prstGeom prst="roundRect">
            <a:avLst>
              <a:gd name="adj" fmla="val 8065"/>
            </a:avLst>
          </a:prstGeom>
          <a:solidFill>
            <a:srgbClr val="1C2B4F"/>
          </a:solidFill>
          <a:ln w="12700">
            <a:solidFill>
              <a:srgbClr val="1C2B4F"/>
            </a:solidFill>
            <a:prstDash val="solid"/>
          </a:ln>
        </p:spPr>
      </p:sp>
      <p:sp>
        <p:nvSpPr>
          <p:cNvPr id="14" name="Text 12"/>
          <p:cNvSpPr txBox="1"/>
          <p:nvPr/>
        </p:nvSpPr>
        <p:spPr>
          <a:xfrm>
            <a:off x="3566160" y="1252728"/>
            <a:ext cx="676656" cy="530352"/>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M3 intel.</a:t>
            </a:r>
            <a:endParaRPr lang="en-US" sz="700" dirty="0"/>
          </a:p>
        </p:txBody>
      </p:sp>
      <p:sp>
        <p:nvSpPr>
          <p:cNvPr id="15" name="Shape 13"/>
          <p:cNvSpPr/>
          <p:nvPr/>
        </p:nvSpPr>
        <p:spPr>
          <a:xfrm>
            <a:off x="4320540" y="1234440"/>
            <a:ext cx="713232" cy="566928"/>
          </a:xfrm>
          <a:prstGeom prst="roundRect">
            <a:avLst>
              <a:gd name="adj" fmla="val 8065"/>
            </a:avLst>
          </a:prstGeom>
          <a:solidFill>
            <a:srgbClr val="1C2B4F"/>
          </a:solidFill>
          <a:ln w="12700">
            <a:solidFill>
              <a:srgbClr val="1C2B4F"/>
            </a:solidFill>
            <a:prstDash val="solid"/>
          </a:ln>
        </p:spPr>
      </p:sp>
      <p:sp>
        <p:nvSpPr>
          <p:cNvPr id="16" name="Text 14"/>
          <p:cNvSpPr txBox="1"/>
          <p:nvPr/>
        </p:nvSpPr>
        <p:spPr>
          <a:xfrm>
            <a:off x="4338828" y="1252728"/>
            <a:ext cx="676656" cy="530352"/>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M4 slots</a:t>
            </a:r>
            <a:endParaRPr lang="en-US" sz="700" dirty="0"/>
          </a:p>
        </p:txBody>
      </p:sp>
      <p:sp>
        <p:nvSpPr>
          <p:cNvPr id="17" name="Shape 15"/>
          <p:cNvSpPr/>
          <p:nvPr/>
        </p:nvSpPr>
        <p:spPr>
          <a:xfrm>
            <a:off x="5093208" y="1234440"/>
            <a:ext cx="713232" cy="566928"/>
          </a:xfrm>
          <a:prstGeom prst="roundRect">
            <a:avLst>
              <a:gd name="adj" fmla="val 8065"/>
            </a:avLst>
          </a:prstGeom>
          <a:solidFill>
            <a:srgbClr val="1C2B4F"/>
          </a:solidFill>
          <a:ln w="12700">
            <a:solidFill>
              <a:srgbClr val="1C2B4F"/>
            </a:solidFill>
            <a:prstDash val="solid"/>
          </a:ln>
        </p:spPr>
      </p:sp>
      <p:sp>
        <p:nvSpPr>
          <p:cNvPr id="18" name="Text 16"/>
          <p:cNvSpPr txBox="1"/>
          <p:nvPr/>
        </p:nvSpPr>
        <p:spPr>
          <a:xfrm>
            <a:off x="5111496" y="1252728"/>
            <a:ext cx="676656" cy="530352"/>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M5 audit</a:t>
            </a:r>
            <a:endParaRPr lang="en-US" sz="700" dirty="0"/>
          </a:p>
        </p:txBody>
      </p:sp>
      <p:sp>
        <p:nvSpPr>
          <p:cNvPr id="19" name="Shape 17"/>
          <p:cNvSpPr/>
          <p:nvPr/>
        </p:nvSpPr>
        <p:spPr>
          <a:xfrm>
            <a:off x="5865876" y="1234440"/>
            <a:ext cx="713232" cy="566928"/>
          </a:xfrm>
          <a:prstGeom prst="roundRect">
            <a:avLst>
              <a:gd name="adj" fmla="val 8065"/>
            </a:avLst>
          </a:prstGeom>
          <a:solidFill>
            <a:srgbClr val="1C2B4F"/>
          </a:solidFill>
          <a:ln w="12700">
            <a:solidFill>
              <a:srgbClr val="1C2B4F"/>
            </a:solidFill>
            <a:prstDash val="solid"/>
          </a:ln>
        </p:spPr>
      </p:sp>
      <p:sp>
        <p:nvSpPr>
          <p:cNvPr id="20" name="Text 18"/>
          <p:cNvSpPr txBox="1"/>
          <p:nvPr/>
        </p:nvSpPr>
        <p:spPr>
          <a:xfrm>
            <a:off x="5884164" y="1252728"/>
            <a:ext cx="676656" cy="530352"/>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M6 UI</a:t>
            </a:r>
            <a:endParaRPr lang="en-US" sz="700" dirty="0"/>
          </a:p>
        </p:txBody>
      </p:sp>
      <p:sp>
        <p:nvSpPr>
          <p:cNvPr id="21" name="Shape 19"/>
          <p:cNvSpPr/>
          <p:nvPr/>
        </p:nvSpPr>
        <p:spPr>
          <a:xfrm>
            <a:off x="6638544" y="1234440"/>
            <a:ext cx="713232" cy="566928"/>
          </a:xfrm>
          <a:prstGeom prst="roundRect">
            <a:avLst>
              <a:gd name="adj" fmla="val 8065"/>
            </a:avLst>
          </a:prstGeom>
          <a:solidFill>
            <a:srgbClr val="1C2B4F"/>
          </a:solidFill>
          <a:ln w="12700">
            <a:solidFill>
              <a:srgbClr val="1C2B4F"/>
            </a:solidFill>
            <a:prstDash val="solid"/>
          </a:ln>
        </p:spPr>
      </p:sp>
      <p:sp>
        <p:nvSpPr>
          <p:cNvPr id="22" name="Text 20"/>
          <p:cNvSpPr txBox="1"/>
          <p:nvPr/>
        </p:nvSpPr>
        <p:spPr>
          <a:xfrm>
            <a:off x="6656832" y="1252728"/>
            <a:ext cx="676656" cy="530352"/>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M7 corpus</a:t>
            </a:r>
            <a:endParaRPr lang="en-US" sz="700" dirty="0"/>
          </a:p>
        </p:txBody>
      </p:sp>
      <p:sp>
        <p:nvSpPr>
          <p:cNvPr id="23" name="Shape 21"/>
          <p:cNvSpPr/>
          <p:nvPr/>
        </p:nvSpPr>
        <p:spPr>
          <a:xfrm>
            <a:off x="7411212" y="1234440"/>
            <a:ext cx="713232" cy="566928"/>
          </a:xfrm>
          <a:prstGeom prst="roundRect">
            <a:avLst>
              <a:gd name="adj" fmla="val 8065"/>
            </a:avLst>
          </a:prstGeom>
          <a:solidFill>
            <a:srgbClr val="1E5C57"/>
          </a:solidFill>
          <a:ln w="12700">
            <a:solidFill>
              <a:srgbClr val="1E5C57"/>
            </a:solidFill>
            <a:prstDash val="solid"/>
          </a:ln>
        </p:spPr>
      </p:sp>
      <p:sp>
        <p:nvSpPr>
          <p:cNvPr id="24" name="Text 22"/>
          <p:cNvSpPr txBox="1"/>
          <p:nvPr/>
        </p:nvSpPr>
        <p:spPr>
          <a:xfrm>
            <a:off x="7429500" y="1252728"/>
            <a:ext cx="676656" cy="530352"/>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M8 model</a:t>
            </a:r>
            <a:endParaRPr lang="en-US" sz="700" dirty="0"/>
          </a:p>
        </p:txBody>
      </p:sp>
      <p:sp>
        <p:nvSpPr>
          <p:cNvPr id="25" name="Shape 23"/>
          <p:cNvSpPr/>
          <p:nvPr/>
        </p:nvSpPr>
        <p:spPr>
          <a:xfrm>
            <a:off x="8183880" y="1234440"/>
            <a:ext cx="713232" cy="566928"/>
          </a:xfrm>
          <a:prstGeom prst="roundRect">
            <a:avLst>
              <a:gd name="adj" fmla="val 8065"/>
            </a:avLst>
          </a:prstGeom>
          <a:solidFill>
            <a:srgbClr val="1E5C57"/>
          </a:solidFill>
          <a:ln w="12700">
            <a:solidFill>
              <a:srgbClr val="1E5C57"/>
            </a:solidFill>
            <a:prstDash val="solid"/>
          </a:ln>
        </p:spPr>
      </p:sp>
      <p:sp>
        <p:nvSpPr>
          <p:cNvPr id="26" name="Text 24"/>
          <p:cNvSpPr txBox="1"/>
          <p:nvPr/>
        </p:nvSpPr>
        <p:spPr>
          <a:xfrm>
            <a:off x="8202168" y="1252728"/>
            <a:ext cx="676656" cy="530352"/>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M9 ship</a:t>
            </a:r>
            <a:endParaRPr lang="en-US" sz="700" dirty="0"/>
          </a:p>
        </p:txBody>
      </p:sp>
      <p:sp>
        <p:nvSpPr>
          <p:cNvPr id="27" name="Shape 25"/>
          <p:cNvSpPr/>
          <p:nvPr/>
        </p:nvSpPr>
        <p:spPr>
          <a:xfrm>
            <a:off x="457200" y="2011680"/>
            <a:ext cx="1965960" cy="1143000"/>
          </a:xfrm>
          <a:prstGeom prst="roundRect">
            <a:avLst>
              <a:gd name="adj" fmla="val 4800"/>
            </a:avLst>
          </a:prstGeom>
          <a:solidFill>
            <a:srgbClr val="F3F6FA"/>
          </a:solidFill>
          <a:ln w="9525">
            <a:solidFill>
              <a:srgbClr val="C9D3E0"/>
            </a:solidFill>
            <a:prstDash val="solid"/>
          </a:ln>
        </p:spPr>
      </p:sp>
      <p:sp>
        <p:nvSpPr>
          <p:cNvPr id="28" name="Text 26"/>
          <p:cNvSpPr txBox="1"/>
          <p:nvPr/>
        </p:nvSpPr>
        <p:spPr>
          <a:xfrm>
            <a:off x="566928" y="2057400"/>
            <a:ext cx="1737360" cy="457200"/>
          </a:xfrm>
          <a:prstGeom prst="rect">
            <a:avLst/>
          </a:prstGeom>
          <a:noFill/>
          <a:ln/>
        </p:spPr>
        <p:txBody>
          <a:bodyPr wrap="square" lIns="0" tIns="0" rIns="0" bIns="0" rtlCol="0" anchor="ctr"/>
          <a:lstStyle/>
          <a:p>
            <a:pPr indent="0" marL="0">
              <a:buNone/>
            </a:pPr>
            <a:r>
              <a:rPr lang="en-US" sz="2800" b="1" dirty="0">
                <a:solidFill>
                  <a:srgbClr val="F2B134"/>
                </a:solidFill>
                <a:latin typeface="Cambria" pitchFamily="34" charset="0"/>
                <a:ea typeface="Cambria" pitchFamily="34" charset="-122"/>
                <a:cs typeface="Cambria" pitchFamily="34" charset="-120"/>
              </a:rPr>
              <a:t>50</a:t>
            </a:r>
            <a:endParaRPr lang="en-US" sz="2800" dirty="0"/>
          </a:p>
        </p:txBody>
      </p:sp>
      <p:sp>
        <p:nvSpPr>
          <p:cNvPr id="29" name="Text 27"/>
          <p:cNvSpPr txBox="1"/>
          <p:nvPr/>
        </p:nvSpPr>
        <p:spPr>
          <a:xfrm>
            <a:off x="566928" y="2514600"/>
            <a:ext cx="1737360" cy="594360"/>
          </a:xfrm>
          <a:prstGeom prst="rect">
            <a:avLst/>
          </a:prstGeom>
          <a:noFill/>
          <a:ln/>
        </p:spPr>
        <p:txBody>
          <a:bodyPr wrap="square" lIns="0" tIns="0" rIns="0" bIns="0" rtlCol="0" anchor="t"/>
          <a:lstStyle/>
          <a:p>
            <a:pPr indent="0" marL="0">
              <a:buNone/>
            </a:pPr>
            <a:r>
              <a:rPr lang="en-US" sz="850" dirty="0">
                <a:solidFill>
                  <a:srgbClr val="1B2A41"/>
                </a:solidFill>
                <a:latin typeface="Calibri" pitchFamily="34" charset="0"/>
                <a:ea typeface="Calibri" pitchFamily="34" charset="-122"/>
                <a:cs typeface="Calibri" pitchFamily="34" charset="-120"/>
              </a:rPr>
              <a:t>task packs, each with scope, acceptance criteria and a validation command</a:t>
            </a:r>
            <a:endParaRPr lang="en-US" sz="850" dirty="0"/>
          </a:p>
        </p:txBody>
      </p:sp>
      <p:sp>
        <p:nvSpPr>
          <p:cNvPr id="30" name="Shape 28"/>
          <p:cNvSpPr/>
          <p:nvPr/>
        </p:nvSpPr>
        <p:spPr>
          <a:xfrm>
            <a:off x="2560320" y="2011680"/>
            <a:ext cx="1965960" cy="1143000"/>
          </a:xfrm>
          <a:prstGeom prst="roundRect">
            <a:avLst>
              <a:gd name="adj" fmla="val 4800"/>
            </a:avLst>
          </a:prstGeom>
          <a:solidFill>
            <a:srgbClr val="F3F6FA"/>
          </a:solidFill>
          <a:ln w="9525">
            <a:solidFill>
              <a:srgbClr val="C9D3E0"/>
            </a:solidFill>
            <a:prstDash val="solid"/>
          </a:ln>
        </p:spPr>
      </p:sp>
      <p:sp>
        <p:nvSpPr>
          <p:cNvPr id="31" name="Text 29"/>
          <p:cNvSpPr txBox="1"/>
          <p:nvPr/>
        </p:nvSpPr>
        <p:spPr>
          <a:xfrm>
            <a:off x="2670048" y="2057400"/>
            <a:ext cx="1737360" cy="457200"/>
          </a:xfrm>
          <a:prstGeom prst="rect">
            <a:avLst/>
          </a:prstGeom>
          <a:noFill/>
          <a:ln/>
        </p:spPr>
        <p:txBody>
          <a:bodyPr wrap="square" lIns="0" tIns="0" rIns="0" bIns="0" rtlCol="0" anchor="ctr"/>
          <a:lstStyle/>
          <a:p>
            <a:pPr indent="0" marL="0">
              <a:buNone/>
            </a:pPr>
            <a:r>
              <a:rPr lang="en-US" sz="2800" b="1" dirty="0">
                <a:solidFill>
                  <a:srgbClr val="F2B134"/>
                </a:solidFill>
                <a:latin typeface="Cambria" pitchFamily="34" charset="0"/>
                <a:ea typeface="Cambria" pitchFamily="34" charset="-122"/>
                <a:cs typeface="Cambria" pitchFamily="34" charset="-120"/>
              </a:rPr>
              <a:t>20</a:t>
            </a:r>
            <a:endParaRPr lang="en-US" sz="2800" dirty="0"/>
          </a:p>
        </p:txBody>
      </p:sp>
      <p:sp>
        <p:nvSpPr>
          <p:cNvPr id="32" name="Text 30"/>
          <p:cNvSpPr txBox="1"/>
          <p:nvPr/>
        </p:nvSpPr>
        <p:spPr>
          <a:xfrm>
            <a:off x="2670048" y="2514600"/>
            <a:ext cx="1737360" cy="594360"/>
          </a:xfrm>
          <a:prstGeom prst="rect">
            <a:avLst/>
          </a:prstGeom>
          <a:noFill/>
          <a:ln/>
        </p:spPr>
        <p:txBody>
          <a:bodyPr wrap="square" lIns="0" tIns="0" rIns="0" bIns="0" rtlCol="0" anchor="t"/>
          <a:lstStyle/>
          <a:p>
            <a:pPr indent="0" marL="0">
              <a:buNone/>
            </a:pPr>
            <a:r>
              <a:rPr lang="en-US" sz="850" dirty="0">
                <a:solidFill>
                  <a:srgbClr val="1B2A41"/>
                </a:solidFill>
                <a:latin typeface="Calibri" pitchFamily="34" charset="0"/>
                <a:ea typeface="Calibri" pitchFamily="34" charset="-122"/>
                <a:cs typeface="Calibri" pitchFamily="34" charset="-120"/>
              </a:rPr>
              <a:t>architecture decisions, each with context, consequences and cost</a:t>
            </a:r>
            <a:endParaRPr lang="en-US" sz="850" dirty="0"/>
          </a:p>
        </p:txBody>
      </p:sp>
      <p:sp>
        <p:nvSpPr>
          <p:cNvPr id="33" name="Shape 31"/>
          <p:cNvSpPr/>
          <p:nvPr/>
        </p:nvSpPr>
        <p:spPr>
          <a:xfrm>
            <a:off x="4663440" y="2011680"/>
            <a:ext cx="1965960" cy="1143000"/>
          </a:xfrm>
          <a:prstGeom prst="roundRect">
            <a:avLst>
              <a:gd name="adj" fmla="val 4800"/>
            </a:avLst>
          </a:prstGeom>
          <a:solidFill>
            <a:srgbClr val="F3F6FA"/>
          </a:solidFill>
          <a:ln w="9525">
            <a:solidFill>
              <a:srgbClr val="C9D3E0"/>
            </a:solidFill>
            <a:prstDash val="solid"/>
          </a:ln>
        </p:spPr>
      </p:sp>
      <p:sp>
        <p:nvSpPr>
          <p:cNvPr id="34" name="Text 32"/>
          <p:cNvSpPr txBox="1"/>
          <p:nvPr/>
        </p:nvSpPr>
        <p:spPr>
          <a:xfrm>
            <a:off x="4773168" y="2057400"/>
            <a:ext cx="1737360" cy="457200"/>
          </a:xfrm>
          <a:prstGeom prst="rect">
            <a:avLst/>
          </a:prstGeom>
          <a:noFill/>
          <a:ln/>
        </p:spPr>
        <p:txBody>
          <a:bodyPr wrap="square" lIns="0" tIns="0" rIns="0" bIns="0" rtlCol="0" anchor="ctr"/>
          <a:lstStyle/>
          <a:p>
            <a:pPr indent="0" marL="0">
              <a:buNone/>
            </a:pPr>
            <a:r>
              <a:rPr lang="en-US" sz="2800" b="1" dirty="0">
                <a:solidFill>
                  <a:srgbClr val="F2B134"/>
                </a:solidFill>
                <a:latin typeface="Cambria" pitchFamily="34" charset="0"/>
                <a:ea typeface="Cambria" pitchFamily="34" charset="-122"/>
                <a:cs typeface="Cambria" pitchFamily="34" charset="-120"/>
              </a:rPr>
              <a:t>12</a:t>
            </a:r>
            <a:endParaRPr lang="en-US" sz="2800" dirty="0"/>
          </a:p>
        </p:txBody>
      </p:sp>
      <p:sp>
        <p:nvSpPr>
          <p:cNvPr id="35" name="Text 33"/>
          <p:cNvSpPr txBox="1"/>
          <p:nvPr/>
        </p:nvSpPr>
        <p:spPr>
          <a:xfrm>
            <a:off x="4773168" y="2514600"/>
            <a:ext cx="1737360" cy="594360"/>
          </a:xfrm>
          <a:prstGeom prst="rect">
            <a:avLst/>
          </a:prstGeom>
          <a:noFill/>
          <a:ln/>
        </p:spPr>
        <p:txBody>
          <a:bodyPr wrap="square" lIns="0" tIns="0" rIns="0" bIns="0" rtlCol="0" anchor="t"/>
          <a:lstStyle/>
          <a:p>
            <a:pPr indent="0" marL="0">
              <a:buNone/>
            </a:pPr>
            <a:r>
              <a:rPr lang="en-US" sz="850" dirty="0">
                <a:solidFill>
                  <a:srgbClr val="1B2A41"/>
                </a:solidFill>
                <a:latin typeface="Calibri" pitchFamily="34" charset="0"/>
                <a:ea typeface="Calibri" pitchFamily="34" charset="-122"/>
                <a:cs typeface="Calibri" pitchFamily="34" charset="-120"/>
              </a:rPr>
              <a:t>named adversarial fixtures, each with its own scenario test</a:t>
            </a:r>
            <a:endParaRPr lang="en-US" sz="850" dirty="0"/>
          </a:p>
        </p:txBody>
      </p:sp>
      <p:sp>
        <p:nvSpPr>
          <p:cNvPr id="36" name="Shape 34"/>
          <p:cNvSpPr/>
          <p:nvPr/>
        </p:nvSpPr>
        <p:spPr>
          <a:xfrm>
            <a:off x="6766560" y="2011680"/>
            <a:ext cx="1965960" cy="1143000"/>
          </a:xfrm>
          <a:prstGeom prst="roundRect">
            <a:avLst>
              <a:gd name="adj" fmla="val 4800"/>
            </a:avLst>
          </a:prstGeom>
          <a:solidFill>
            <a:srgbClr val="F3F6FA"/>
          </a:solidFill>
          <a:ln w="9525">
            <a:solidFill>
              <a:srgbClr val="C9D3E0"/>
            </a:solidFill>
            <a:prstDash val="solid"/>
          </a:ln>
        </p:spPr>
      </p:sp>
      <p:sp>
        <p:nvSpPr>
          <p:cNvPr id="37" name="Text 35"/>
          <p:cNvSpPr txBox="1"/>
          <p:nvPr/>
        </p:nvSpPr>
        <p:spPr>
          <a:xfrm>
            <a:off x="6876288" y="2057400"/>
            <a:ext cx="1737360" cy="457200"/>
          </a:xfrm>
          <a:prstGeom prst="rect">
            <a:avLst/>
          </a:prstGeom>
          <a:noFill/>
          <a:ln/>
        </p:spPr>
        <p:txBody>
          <a:bodyPr wrap="square" lIns="0" tIns="0" rIns="0" bIns="0" rtlCol="0" anchor="ctr"/>
          <a:lstStyle/>
          <a:p>
            <a:pPr indent="0" marL="0">
              <a:buNone/>
            </a:pPr>
            <a:r>
              <a:rPr lang="en-US" sz="2800" b="1" dirty="0">
                <a:solidFill>
                  <a:srgbClr val="F2B134"/>
                </a:solidFill>
                <a:latin typeface="Cambria" pitchFamily="34" charset="0"/>
                <a:ea typeface="Cambria" pitchFamily="34" charset="-122"/>
                <a:cs typeface="Cambria" pitchFamily="34" charset="-120"/>
              </a:rPr>
              <a:t>347</a:t>
            </a:r>
            <a:endParaRPr lang="en-US" sz="2800" dirty="0"/>
          </a:p>
        </p:txBody>
      </p:sp>
      <p:sp>
        <p:nvSpPr>
          <p:cNvPr id="38" name="Text 36"/>
          <p:cNvSpPr txBox="1"/>
          <p:nvPr/>
        </p:nvSpPr>
        <p:spPr>
          <a:xfrm>
            <a:off x="6876288" y="2514600"/>
            <a:ext cx="1737360" cy="594360"/>
          </a:xfrm>
          <a:prstGeom prst="rect">
            <a:avLst/>
          </a:prstGeom>
          <a:noFill/>
          <a:ln/>
        </p:spPr>
        <p:txBody>
          <a:bodyPr wrap="square" lIns="0" tIns="0" rIns="0" bIns="0" rtlCol="0" anchor="t"/>
          <a:lstStyle/>
          <a:p>
            <a:pPr indent="0" marL="0">
              <a:buNone/>
            </a:pPr>
            <a:r>
              <a:rPr lang="en-US" sz="850" dirty="0">
                <a:solidFill>
                  <a:srgbClr val="1B2A41"/>
                </a:solidFill>
                <a:latin typeface="Calibri" pitchFamily="34" charset="0"/>
                <a:ea typeface="Calibri" pitchFamily="34" charset="-122"/>
                <a:cs typeface="Calibri" pitchFamily="34" charset="-120"/>
              </a:rPr>
              <a:t>tests passing offline in this run: 0 failed, 52 skipped pending a live Postgres</a:t>
            </a:r>
            <a:endParaRPr lang="en-US" sz="850" dirty="0"/>
          </a:p>
        </p:txBody>
      </p:sp>
      <p:sp>
        <p:nvSpPr>
          <p:cNvPr id="39" name="Shape 37"/>
          <p:cNvSpPr/>
          <p:nvPr/>
        </p:nvSpPr>
        <p:spPr>
          <a:xfrm>
            <a:off x="457200" y="3337560"/>
            <a:ext cx="4023360" cy="1143000"/>
          </a:xfrm>
          <a:prstGeom prst="roundRect">
            <a:avLst>
              <a:gd name="adj" fmla="val 4800"/>
            </a:avLst>
          </a:prstGeom>
          <a:solidFill>
            <a:srgbClr val="F3F6FA"/>
          </a:solidFill>
          <a:ln w="9525">
            <a:solidFill>
              <a:srgbClr val="C9D3E0"/>
            </a:solidFill>
            <a:prstDash val="solid"/>
          </a:ln>
        </p:spPr>
      </p:sp>
      <p:sp>
        <p:nvSpPr>
          <p:cNvPr id="40" name="Text 38"/>
          <p:cNvSpPr txBox="1"/>
          <p:nvPr/>
        </p:nvSpPr>
        <p:spPr>
          <a:xfrm>
            <a:off x="548640" y="3392424"/>
            <a:ext cx="3840480" cy="256032"/>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Split by what the build host can run</a:t>
            </a:r>
            <a:endParaRPr lang="en-US" sz="1100" dirty="0"/>
          </a:p>
        </p:txBody>
      </p:sp>
      <p:sp>
        <p:nvSpPr>
          <p:cNvPr id="41" name="Text 39"/>
          <p:cNvSpPr txBox="1"/>
          <p:nvPr/>
        </p:nvSpPr>
        <p:spPr>
          <a:xfrm>
            <a:off x="548640" y="3648456"/>
            <a:ext cx="3840480" cy="777240"/>
          </a:xfrm>
          <a:prstGeom prst="rect">
            <a:avLst/>
          </a:prstGeom>
          <a:noFill/>
          <a:ln/>
        </p:spPr>
        <p:txBody>
          <a:bodyPr wrap="square" lIns="0" tIns="0" rIns="0" bIns="0" rtlCol="0" anchor="t"/>
          <a:lstStyle/>
          <a:p>
            <a:pPr indent="0" marL="0">
              <a:buNone/>
            </a:pPr>
            <a:r>
              <a:rPr lang="en-US" sz="900" dirty="0">
                <a:solidFill>
                  <a:srgbClr val="1B2A41"/>
                </a:solidFill>
                <a:latin typeface="Calibri" pitchFamily="34" charset="0"/>
                <a:ea typeface="Calibri" pitchFamily="34" charset="-122"/>
                <a:cs typeface="Calibri" pitchFamily="34" charset="-120"/>
              </a:rPr>
              <a:t>Every task is marked validated-here or validate-on-host (ADR-018). Docker (Compose, Redpanda, the six-service stack) is absent from the build environment, so end-to-end and live-model gates are authored to spec and run on a host with Docker.</a:t>
            </a:r>
            <a:endParaRPr lang="en-US" sz="900" dirty="0"/>
          </a:p>
        </p:txBody>
      </p:sp>
      <p:sp>
        <p:nvSpPr>
          <p:cNvPr id="42" name="Shape 40"/>
          <p:cNvSpPr/>
          <p:nvPr/>
        </p:nvSpPr>
        <p:spPr>
          <a:xfrm>
            <a:off x="4663440" y="3337560"/>
            <a:ext cx="4023360" cy="1143000"/>
          </a:xfrm>
          <a:prstGeom prst="roundRect">
            <a:avLst>
              <a:gd name="adj" fmla="val 4800"/>
            </a:avLst>
          </a:prstGeom>
          <a:solidFill>
            <a:srgbClr val="F3F6FA"/>
          </a:solidFill>
          <a:ln w="9525">
            <a:solidFill>
              <a:srgbClr val="C9D3E0"/>
            </a:solidFill>
            <a:prstDash val="solid"/>
          </a:ln>
        </p:spPr>
      </p:sp>
      <p:sp>
        <p:nvSpPr>
          <p:cNvPr id="43" name="Text 41"/>
          <p:cNvSpPr txBox="1"/>
          <p:nvPr/>
        </p:nvSpPr>
        <p:spPr>
          <a:xfrm>
            <a:off x="4754880" y="3392424"/>
            <a:ext cx="3840480" cy="256032"/>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One command validates the rest</a:t>
            </a:r>
            <a:endParaRPr lang="en-US" sz="1100" dirty="0"/>
          </a:p>
        </p:txBody>
      </p:sp>
      <p:sp>
        <p:nvSpPr>
          <p:cNvPr id="44" name="Text 42"/>
          <p:cNvSpPr txBox="1"/>
          <p:nvPr/>
        </p:nvSpPr>
        <p:spPr>
          <a:xfrm>
            <a:off x="4754880" y="3648456"/>
            <a:ext cx="3840480" cy="777240"/>
          </a:xfrm>
          <a:prstGeom prst="rect">
            <a:avLst/>
          </a:prstGeom>
          <a:noFill/>
          <a:ln/>
        </p:spPr>
        <p:txBody>
          <a:bodyPr wrap="square" lIns="0" tIns="0" rIns="0" bIns="0" rtlCol="0" anchor="t"/>
          <a:lstStyle/>
          <a:p>
            <a:pPr indent="0" marL="0">
              <a:buNone/>
            </a:pPr>
            <a:r>
              <a:rPr lang="en-US" sz="900" dirty="0">
                <a:solidFill>
                  <a:srgbClr val="1B2A41"/>
                </a:solidFill>
                <a:latin typeface="Calibri" pitchFamily="34" charset="0"/>
                <a:ea typeface="Calibri" pitchFamily="34" charset="-122"/>
                <a:cs typeface="Calibri" pitchFamily="34" charset="-120"/>
              </a:rPr>
              <a:t>gofmt · go vet · golangci-lint · ruff · mypy --strict · buf lint + codegen staleness · a cross-language contract test · every unit, property and scenario test. CI runs the same make check target verbatim.</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5486400" cy="228600"/>
          </a:xfrm>
          <a:prstGeom prst="rect">
            <a:avLst/>
          </a:prstGeom>
          <a:noFill/>
          <a:ln/>
        </p:spPr>
        <p:txBody>
          <a:bodyPr wrap="square" lIns="0" tIns="0" rIns="0" bIns="0" rtlCol="0" anchor="ctr"/>
          <a:lstStyle/>
          <a:p>
            <a:pPr indent="0" marL="0">
              <a:buNone/>
            </a:pPr>
            <a:r>
              <a:rPr lang="en-US" sz="1000" b="1" spc="200" kern="0" dirty="0">
                <a:solidFill>
                  <a:srgbClr val="2EC4B6"/>
                </a:solidFill>
                <a:latin typeface="Calibri" pitchFamily="34" charset="0"/>
                <a:ea typeface="Calibri" pitchFamily="34" charset="-122"/>
                <a:cs typeface="Calibri" pitchFamily="34" charset="-120"/>
              </a:rPr>
              <a:t>ENTERPRISE READINESS · MEASUREMENT</a:t>
            </a:r>
            <a:endParaRPr lang="en-US" sz="1000" dirty="0"/>
          </a:p>
        </p:txBody>
      </p:sp>
      <p:sp>
        <p:nvSpPr>
          <p:cNvPr id="3" name="Text 1"/>
          <p:cNvSpPr txBox="1"/>
          <p:nvPr/>
        </p:nvSpPr>
        <p:spPr>
          <a:xfrm>
            <a:off x="457200" y="457200"/>
            <a:ext cx="8229600" cy="548640"/>
          </a:xfrm>
          <a:prstGeom prst="rect">
            <a:avLst/>
          </a:prstGeom>
          <a:noFill/>
          <a:ln/>
        </p:spPr>
        <p:txBody>
          <a:bodyPr wrap="square" lIns="0" tIns="0" rIns="0" bIns="0" rtlCol="0" anchor="ctr"/>
          <a:lstStyle/>
          <a:p>
            <a:pPr indent="0" marL="0">
              <a:buNone/>
            </a:pPr>
            <a:r>
              <a:rPr lang="en-US" sz="2600" b="1" dirty="0">
                <a:solidFill>
                  <a:srgbClr val="14213D"/>
                </a:solidFill>
                <a:latin typeface="Cambria" pitchFamily="34" charset="0"/>
                <a:ea typeface="Cambria" pitchFamily="34" charset="-122"/>
                <a:cs typeface="Cambria" pitchFamily="34" charset="-120"/>
              </a:rPr>
              <a:t>Quality metrics from the bench and the gate</a:t>
            </a:r>
            <a:endParaRPr lang="en-US" sz="2600" dirty="0"/>
          </a:p>
        </p:txBody>
      </p:sp>
      <p:sp>
        <p:nvSpPr>
          <p:cNvPr id="4" name="Text 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800" dirty="0">
                <a:solidFill>
                  <a:srgbClr val="6B7A90"/>
                </a:solidFill>
                <a:latin typeface="Calibri" pitchFamily="34" charset="0"/>
                <a:ea typeface="Calibri" pitchFamily="34" charset="-122"/>
                <a:cs typeface="Calibri" pitchFamily="34" charset="-120"/>
              </a:rPr>
              <a:t>Harbormaster · AI Systems Architecture Review · 19</a:t>
            </a:r>
            <a:endParaRPr lang="en-US" sz="800" dirty="0"/>
          </a:p>
        </p:txBody>
      </p:sp>
      <p:graphicFrame>
        <p:nvGraphicFramePr>
          <p:cNvPr id="5" name="Chart 0" descr=""/>
          <p:cNvGraphicFramePr/>
          <p:nvPr/>
        </p:nvGraphicFramePr>
        <p:xfrm>
          <a:off x="457200" y="1188720"/>
          <a:ext cx="4754880" cy="3200400"/>
        </p:xfrm>
        <a:graphic xmlns:a="http://schemas.openxmlformats.org/drawingml/2006/main">
          <a:graphicData uri="http://schemas.openxmlformats.org/drawingml/2006/chart">
            <c:chart xmlns:c="http://schemas.openxmlformats.org/drawingml/2006/chart" r:id="rId1"/>
          </a:graphicData>
        </a:graphic>
      </p:graphicFrame>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394960" y="1188720"/>
          <a:ext cx="3291840" cy="914400"/>
        </p:xfrm>
        <a:graphic>
          <a:graphicData uri="http://schemas.openxmlformats.org/drawingml/2006/table">
            <a:tbl>
              <a:tblPr/>
              <a:tblGrid>
                <a:gridCol w="1371600"/>
                <a:gridCol w="1188720"/>
                <a:gridCol w="731520"/>
              </a:tblGrid>
              <a:tr h="0">
                <a:tc>
                  <a:txBody>
                    <a:bodyPr/>
                    <a:lstStyle/>
                    <a:p>
                      <a:pPr indent="0" marL="0">
                        <a:buNone/>
                      </a:pPr>
                      <a:r>
                        <a:rPr lang="en-US" sz="750" b="1" dirty="0">
                          <a:solidFill>
                            <a:srgbClr val="FFFFFF"/>
                          </a:solidFill>
                          <a:latin typeface="Calibri" pitchFamily="34" charset="0"/>
                          <a:ea typeface="Calibri" pitchFamily="34" charset="-122"/>
                          <a:cs typeface="Calibri" pitchFamily="34" charset="-120"/>
                        </a:rPr>
                        <a:t>KPI</a:t>
                      </a:r>
                      <a:endParaRPr lang="en-US" sz="7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750" b="1" dirty="0">
                          <a:solidFill>
                            <a:srgbClr val="FFFFFF"/>
                          </a:solidFill>
                          <a:latin typeface="Calibri" pitchFamily="34" charset="0"/>
                          <a:ea typeface="Calibri" pitchFamily="34" charset="-122"/>
                          <a:cs typeface="Calibri" pitchFamily="34" charset="-120"/>
                        </a:rPr>
                        <a:t>Value</a:t>
                      </a:r>
                      <a:endParaRPr lang="en-US" sz="7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750" b="1" dirty="0">
                          <a:solidFill>
                            <a:srgbClr val="FFFFFF"/>
                          </a:solidFill>
                          <a:latin typeface="Calibri" pitchFamily="34" charset="0"/>
                          <a:ea typeface="Calibri" pitchFamily="34" charset="-122"/>
                          <a:cs typeface="Calibri" pitchFamily="34" charset="-120"/>
                        </a:rPr>
                        <a:t>Target</a:t>
                      </a:r>
                      <a:endParaRPr lang="en-US" sz="7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solidFill>
                      <a:srgbClr val="14213D"/>
                    </a:solidFill>
                  </a:tcPr>
                </a:tc>
              </a:tr>
              <a:tr h="0">
                <a:tc>
                  <a:txBody>
                    <a:bodyPr/>
                    <a:lstStyle/>
                    <a:p>
                      <a:pPr indent="0" marL="0">
                        <a:buNone/>
                      </a:pPr>
                      <a:r>
                        <a:rPr lang="en-US" sz="750" dirty="0">
                          <a:solidFill>
                            <a:srgbClr val="1B2A41"/>
                          </a:solidFill>
                          <a:latin typeface="Calibri" pitchFamily="34" charset="0"/>
                          <a:ea typeface="Calibri" pitchFamily="34" charset="-122"/>
                          <a:cs typeface="Calibri" pitchFamily="34" charset="-120"/>
                        </a:rPr>
                        <a:t>Field-mapping accuracy</a:t>
                      </a:r>
                      <a:endParaRPr lang="en-US" sz="7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750" dirty="0">
                          <a:solidFill>
                            <a:srgbClr val="1B2A41"/>
                          </a:solidFill>
                          <a:latin typeface="Calibri" pitchFamily="34" charset="0"/>
                          <a:ea typeface="Calibri" pitchFamily="34" charset="-122"/>
                          <a:cs typeface="Calibri" pitchFamily="34" charset="-120"/>
                        </a:rPr>
                        <a:t>97.7% (209/214, 19 files)</a:t>
                      </a:r>
                      <a:endParaRPr lang="en-US" sz="7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750" dirty="0">
                          <a:solidFill>
                            <a:srgbClr val="1B2A41"/>
                          </a:solidFill>
                          <a:latin typeface="Calibri" pitchFamily="34" charset="0"/>
                          <a:ea typeface="Calibri" pitchFamily="34" charset="-122"/>
                          <a:cs typeface="Calibri" pitchFamily="34" charset="-120"/>
                        </a:rPr>
                        <a:t>headline</a:t>
                      </a:r>
                      <a:endParaRPr lang="en-US" sz="7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r>
              <a:tr h="0">
                <a:tc>
                  <a:txBody>
                    <a:bodyPr/>
                    <a:lstStyle/>
                    <a:p>
                      <a:pPr indent="0" marL="0">
                        <a:buNone/>
                      </a:pPr>
                      <a:r>
                        <a:rPr lang="en-US" sz="750" dirty="0">
                          <a:solidFill>
                            <a:srgbClr val="1B2A41"/>
                          </a:solidFill>
                          <a:latin typeface="Calibri" pitchFamily="34" charset="0"/>
                          <a:ea typeface="Calibri" pitchFamily="34" charset="-122"/>
                          <a:cs typeface="Calibri" pitchFamily="34" charset="-120"/>
                        </a:rPr>
                        <a:t>Resolved without a model</a:t>
                      </a:r>
                      <a:endParaRPr lang="en-US" sz="7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750" dirty="0">
                          <a:solidFill>
                            <a:srgbClr val="1B2A41"/>
                          </a:solidFill>
                          <a:latin typeface="Calibri" pitchFamily="34" charset="0"/>
                          <a:ea typeface="Calibri" pitchFamily="34" charset="-122"/>
                          <a:cs typeface="Calibri" pitchFamily="34" charset="-120"/>
                        </a:rPr>
                        <a:t>80.8% (173/214)</a:t>
                      </a:r>
                      <a:endParaRPr lang="en-US" sz="7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750" dirty="0">
                          <a:solidFill>
                            <a:srgbClr val="1B2A41"/>
                          </a:solidFill>
                          <a:latin typeface="Calibri" pitchFamily="34" charset="0"/>
                          <a:ea typeface="Calibri" pitchFamily="34" charset="-122"/>
                          <a:cs typeface="Calibri" pitchFamily="34" charset="-120"/>
                        </a:rPr>
                        <a:t>headline</a:t>
                      </a:r>
                      <a:endParaRPr lang="en-US" sz="7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r>
              <a:tr h="0">
                <a:tc>
                  <a:txBody>
                    <a:bodyPr/>
                    <a:lstStyle/>
                    <a:p>
                      <a:pPr indent="0" marL="0">
                        <a:buNone/>
                      </a:pPr>
                      <a:r>
                        <a:rPr lang="en-US" sz="750" dirty="0">
                          <a:solidFill>
                            <a:srgbClr val="1B2A41"/>
                          </a:solidFill>
                          <a:latin typeface="Calibri" pitchFamily="34" charset="0"/>
                          <a:ea typeface="Calibri" pitchFamily="34" charset="-122"/>
                          <a:cs typeface="Calibri" pitchFamily="34" charset="-120"/>
                        </a:rPr>
                        <a:t>Columns escalated to Tier 3</a:t>
                      </a:r>
                      <a:endParaRPr lang="en-US" sz="7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750" dirty="0">
                          <a:solidFill>
                            <a:srgbClr val="1B2A41"/>
                          </a:solidFill>
                          <a:latin typeface="Calibri" pitchFamily="34" charset="0"/>
                          <a:ea typeface="Calibri" pitchFamily="34" charset="-122"/>
                          <a:cs typeface="Calibri" pitchFamily="34" charset="-120"/>
                        </a:rPr>
                        <a:t>41 (18 calls)</a:t>
                      </a:r>
                      <a:endParaRPr lang="en-US" sz="7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750" dirty="0">
                          <a:solidFill>
                            <a:srgbClr val="1B2A41"/>
                          </a:solidFill>
                          <a:latin typeface="Calibri" pitchFamily="34" charset="0"/>
                          <a:ea typeface="Calibri" pitchFamily="34" charset="-122"/>
                          <a:cs typeface="Calibri" pitchFamily="34" charset="-120"/>
                        </a:rPr>
                        <a:t>≤2% warm (NFR-8)</a:t>
                      </a:r>
                      <a:endParaRPr lang="en-US" sz="7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r>
              <a:tr h="0">
                <a:tc>
                  <a:txBody>
                    <a:bodyPr/>
                    <a:lstStyle/>
                    <a:p>
                      <a:pPr indent="0" marL="0">
                        <a:buNone/>
                      </a:pPr>
                      <a:r>
                        <a:rPr lang="en-US" sz="750" dirty="0">
                          <a:solidFill>
                            <a:srgbClr val="1B2A41"/>
                          </a:solidFill>
                          <a:latin typeface="Calibri" pitchFamily="34" charset="0"/>
                          <a:ea typeface="Calibri" pitchFamily="34" charset="-122"/>
                          <a:cs typeface="Calibri" pitchFamily="34" charset="-120"/>
                        </a:rPr>
                        <a:t>Quarantine precision / recall</a:t>
                      </a:r>
                      <a:endParaRPr lang="en-US" sz="7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750" dirty="0">
                          <a:solidFill>
                            <a:srgbClr val="1B2A41"/>
                          </a:solidFill>
                          <a:latin typeface="Calibri" pitchFamily="34" charset="0"/>
                          <a:ea typeface="Calibri" pitchFamily="34" charset="-122"/>
                          <a:cs typeface="Calibri" pitchFamily="34" charset="-120"/>
                        </a:rPr>
                        <a:t>100.0% / 66.7%</a:t>
                      </a:r>
                      <a:endParaRPr lang="en-US" sz="7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750" dirty="0">
                          <a:solidFill>
                            <a:srgbClr val="1B2A41"/>
                          </a:solidFill>
                          <a:latin typeface="Calibri" pitchFamily="34" charset="0"/>
                          <a:ea typeface="Calibri" pitchFamily="34" charset="-122"/>
                          <a:cs typeface="Calibri" pitchFamily="34" charset="-120"/>
                        </a:rPr>
                        <a:t>honest miss</a:t>
                      </a:r>
                      <a:endParaRPr lang="en-US" sz="7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r>
              <a:tr h="0">
                <a:tc>
                  <a:txBody>
                    <a:bodyPr/>
                    <a:lstStyle/>
                    <a:p>
                      <a:pPr indent="0" marL="0">
                        <a:buNone/>
                      </a:pPr>
                      <a:r>
                        <a:rPr lang="en-US" sz="750" dirty="0">
                          <a:solidFill>
                            <a:srgbClr val="1B2A41"/>
                          </a:solidFill>
                          <a:latin typeface="Calibri" pitchFamily="34" charset="0"/>
                          <a:ea typeface="Calibri" pitchFamily="34" charset="-122"/>
                          <a:cs typeface="Calibri" pitchFamily="34" charset="-120"/>
                        </a:rPr>
                        <a:t>Hash-chain tamper check</a:t>
                      </a:r>
                      <a:endParaRPr lang="en-US" sz="7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750" dirty="0">
                          <a:solidFill>
                            <a:srgbClr val="1B2A41"/>
                          </a:solidFill>
                          <a:latin typeface="Calibri" pitchFamily="34" charset="0"/>
                          <a:ea typeface="Calibri" pitchFamily="34" charset="-122"/>
                          <a:cs typeface="Calibri" pitchFamily="34" charset="-120"/>
                        </a:rPr>
                        <a:t>detected, fail-closed</a:t>
                      </a:r>
                      <a:endParaRPr lang="en-US" sz="7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750" dirty="0">
                          <a:solidFill>
                            <a:srgbClr val="1B2A41"/>
                          </a:solidFill>
                          <a:latin typeface="Calibri" pitchFamily="34" charset="0"/>
                          <a:ea typeface="Calibri" pitchFamily="34" charset="-122"/>
                          <a:cs typeface="Calibri" pitchFamily="34" charset="-120"/>
                        </a:rPr>
                        <a:t>must fail closed</a:t>
                      </a:r>
                      <a:endParaRPr lang="en-US" sz="7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r>
              <a:tr h="0">
                <a:tc>
                  <a:txBody>
                    <a:bodyPr/>
                    <a:lstStyle/>
                    <a:p>
                      <a:pPr indent="0" marL="0">
                        <a:buNone/>
                      </a:pPr>
                      <a:r>
                        <a:rPr lang="en-US" sz="750" dirty="0">
                          <a:solidFill>
                            <a:srgbClr val="1B2A41"/>
                          </a:solidFill>
                          <a:latin typeface="Calibri" pitchFamily="34" charset="0"/>
                          <a:ea typeface="Calibri" pitchFamily="34" charset="-122"/>
                          <a:cs typeface="Calibri" pitchFamily="34" charset="-120"/>
                        </a:rPr>
                        <a:t>Tests today (this run)</a:t>
                      </a:r>
                      <a:endParaRPr lang="en-US" sz="7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750" dirty="0">
                          <a:solidFill>
                            <a:srgbClr val="1B2A41"/>
                          </a:solidFill>
                          <a:latin typeface="Calibri" pitchFamily="34" charset="0"/>
                          <a:ea typeface="Calibri" pitchFamily="34" charset="-122"/>
                          <a:cs typeface="Calibri" pitchFamily="34" charset="-120"/>
                        </a:rPr>
                        <a:t>347 passed, 47 skipped without Postgres, 0 failed</a:t>
                      </a:r>
                      <a:endParaRPr lang="en-US" sz="7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750" dirty="0">
                          <a:solidFill>
                            <a:srgbClr val="1B2A41"/>
                          </a:solidFill>
                          <a:latin typeface="Calibri" pitchFamily="34" charset="0"/>
                          <a:ea typeface="Calibri" pitchFamily="34" charset="-122"/>
                          <a:cs typeface="Calibri" pitchFamily="34" charset="-120"/>
                        </a:rPr>
                        <a:t>offline, no net</a:t>
                      </a:r>
                      <a:endParaRPr lang="en-US" sz="7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r>
              <a:tr h="0">
                <a:tc>
                  <a:txBody>
                    <a:bodyPr/>
                    <a:lstStyle/>
                    <a:p>
                      <a:pPr indent="0" marL="0">
                        <a:buNone/>
                      </a:pPr>
                      <a:r>
                        <a:rPr lang="en-US" sz="750" dirty="0">
                          <a:solidFill>
                            <a:srgbClr val="1B2A41"/>
                          </a:solidFill>
                          <a:latin typeface="Calibri" pitchFamily="34" charset="0"/>
                          <a:ea typeface="Calibri" pitchFamily="34" charset="-122"/>
                          <a:cs typeface="Calibri" pitchFamily="34" charset="-120"/>
                        </a:rPr>
                        <a:t>make check (minus proto-check)</a:t>
                      </a:r>
                      <a:endParaRPr lang="en-US" sz="7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750" dirty="0">
                          <a:solidFill>
                            <a:srgbClr val="1B2A41"/>
                          </a:solidFill>
                          <a:latin typeface="Calibri" pitchFamily="34" charset="0"/>
                          <a:ea typeface="Calibri" pitchFamily="34" charset="-122"/>
                          <a:cs typeface="Calibri" pitchFamily="34" charset="-120"/>
                        </a:rPr>
                        <a:t>green in this run</a:t>
                      </a:r>
                      <a:endParaRPr lang="en-US" sz="7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750" dirty="0">
                          <a:solidFill>
                            <a:srgbClr val="1B2A41"/>
                          </a:solidFill>
                          <a:latin typeface="Calibri" pitchFamily="34" charset="0"/>
                          <a:ea typeface="Calibri" pitchFamily="34" charset="-122"/>
                          <a:cs typeface="Calibri" pitchFamily="34" charset="-120"/>
                        </a:rPr>
                        <a:t>green offline</a:t>
                      </a:r>
                      <a:endParaRPr lang="en-US" sz="75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r>
            </a:tbl>
          </a:graphicData>
        </a:graphic>
      </p:graphicFrame>
      <p:sp>
        <p:nvSpPr>
          <p:cNvPr id="7" name="Text 3"/>
          <p:cNvSpPr txBox="1"/>
          <p:nvPr/>
        </p:nvSpPr>
        <p:spPr>
          <a:xfrm>
            <a:off x="457200" y="4480560"/>
            <a:ext cx="8229600" cy="320040"/>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Quarantine recall (66.7%) is shown as measured, not smoothed: one of three files that should have been held slipped through in this corpus — see Quirks. Tier-3 escalation count is against a deterministic stand-in, not a live model.</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5486400" cy="228600"/>
          </a:xfrm>
          <a:prstGeom prst="rect">
            <a:avLst/>
          </a:prstGeom>
          <a:noFill/>
          <a:ln/>
        </p:spPr>
        <p:txBody>
          <a:bodyPr wrap="square" lIns="0" tIns="0" rIns="0" bIns="0" rtlCol="0" anchor="ctr"/>
          <a:lstStyle/>
          <a:p>
            <a:pPr indent="0" marL="0">
              <a:buNone/>
            </a:pPr>
            <a:r>
              <a:rPr lang="en-US" sz="1000" b="1" spc="200" kern="0" dirty="0">
                <a:solidFill>
                  <a:srgbClr val="2EC4B6"/>
                </a:solidFill>
                <a:latin typeface="Calibri" pitchFamily="34" charset="0"/>
                <a:ea typeface="Calibri" pitchFamily="34" charset="-122"/>
                <a:cs typeface="Calibri" pitchFamily="34" charset="-120"/>
              </a:rPr>
              <a:t>HONESTY</a:t>
            </a:r>
            <a:endParaRPr lang="en-US" sz="1000" dirty="0"/>
          </a:p>
        </p:txBody>
      </p:sp>
      <p:sp>
        <p:nvSpPr>
          <p:cNvPr id="3" name="Text 1"/>
          <p:cNvSpPr txBox="1"/>
          <p:nvPr/>
        </p:nvSpPr>
        <p:spPr>
          <a:xfrm>
            <a:off x="457200" y="457200"/>
            <a:ext cx="8229600" cy="548640"/>
          </a:xfrm>
          <a:prstGeom prst="rect">
            <a:avLst/>
          </a:prstGeom>
          <a:noFill/>
          <a:ln/>
        </p:spPr>
        <p:txBody>
          <a:bodyPr wrap="square" lIns="0" tIns="0" rIns="0" bIns="0" rtlCol="0" anchor="ctr"/>
          <a:lstStyle/>
          <a:p>
            <a:pPr indent="0" marL="0">
              <a:buNone/>
            </a:pPr>
            <a:r>
              <a:rPr lang="en-US" sz="2600" b="1" dirty="0">
                <a:solidFill>
                  <a:srgbClr val="14213D"/>
                </a:solidFill>
                <a:latin typeface="Cambria" pitchFamily="34" charset="0"/>
                <a:ea typeface="Cambria" pitchFamily="34" charset="-122"/>
                <a:cs typeface="Cambria" pitchFamily="34" charset="-120"/>
              </a:rPr>
              <a:t>Quirks and known limitations (stated, not hidden)</a:t>
            </a:r>
            <a:endParaRPr lang="en-US" sz="2600" dirty="0"/>
          </a:p>
        </p:txBody>
      </p:sp>
      <p:sp>
        <p:nvSpPr>
          <p:cNvPr id="4" name="Text 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800" dirty="0">
                <a:solidFill>
                  <a:srgbClr val="6B7A90"/>
                </a:solidFill>
                <a:latin typeface="Calibri" pitchFamily="34" charset="0"/>
                <a:ea typeface="Calibri" pitchFamily="34" charset="-122"/>
                <a:cs typeface="Calibri" pitchFamily="34" charset="-120"/>
              </a:rPr>
              <a:t>Harbormaster · AI Systems Architecture Review · 20</a:t>
            </a:r>
            <a:endParaRPr lang="en-US" sz="800" dirty="0"/>
          </a:p>
        </p:txBody>
      </p:sp>
      <p:sp>
        <p:nvSpPr>
          <p:cNvPr id="5" name="Shape 3"/>
          <p:cNvSpPr/>
          <p:nvPr/>
        </p:nvSpPr>
        <p:spPr>
          <a:xfrm>
            <a:off x="457200" y="1188720"/>
            <a:ext cx="4069080" cy="749808"/>
          </a:xfrm>
          <a:prstGeom prst="roundRect">
            <a:avLst>
              <a:gd name="adj" fmla="val 7317"/>
            </a:avLst>
          </a:prstGeom>
          <a:solidFill>
            <a:srgbClr val="F3F6FA"/>
          </a:solidFill>
          <a:ln w="9525">
            <a:solidFill>
              <a:srgbClr val="C9D3E0"/>
            </a:solidFill>
            <a:prstDash val="solid"/>
          </a:ln>
        </p:spPr>
      </p:sp>
      <p:sp>
        <p:nvSpPr>
          <p:cNvPr id="6" name="Text 4"/>
          <p:cNvSpPr txBox="1"/>
          <p:nvPr/>
        </p:nvSpPr>
        <p:spPr>
          <a:xfrm>
            <a:off x="548640" y="1243584"/>
            <a:ext cx="3886200" cy="256032"/>
          </a:xfrm>
          <a:prstGeom prst="rect">
            <a:avLst/>
          </a:prstGeom>
          <a:noFill/>
          <a:ln/>
        </p:spPr>
        <p:txBody>
          <a:bodyPr wrap="square" lIns="0" tIns="0" rIns="0" bIns="0" rtlCol="0" anchor="ctr"/>
          <a:lstStyle/>
          <a:p>
            <a:pPr indent="0" marL="0">
              <a:buNone/>
            </a:pPr>
            <a:r>
              <a:rPr lang="en-US" sz="950" b="1" dirty="0">
                <a:solidFill>
                  <a:srgbClr val="14213D"/>
                </a:solidFill>
                <a:latin typeface="Calibri" pitchFamily="34" charset="0"/>
                <a:ea typeface="Calibri" pitchFamily="34" charset="-122"/>
                <a:cs typeface="Calibri" pitchFamily="34" charset="-120"/>
              </a:rPr>
              <a:t>Quarantine recall is 66.7%, not 100%</a:t>
            </a:r>
            <a:endParaRPr lang="en-US" sz="950" dirty="0"/>
          </a:p>
        </p:txBody>
      </p:sp>
      <p:sp>
        <p:nvSpPr>
          <p:cNvPr id="7" name="Text 5"/>
          <p:cNvSpPr txBox="1"/>
          <p:nvPr/>
        </p:nvSpPr>
        <p:spPr>
          <a:xfrm>
            <a:off x="548640" y="1499616"/>
            <a:ext cx="3886200" cy="384048"/>
          </a:xfrm>
          <a:prstGeom prst="rect">
            <a:avLst/>
          </a:prstGeom>
          <a:noFill/>
          <a:ln/>
        </p:spPr>
        <p:txBody>
          <a:bodyPr wrap="square" lIns="0" tIns="0" rIns="0" bIns="0" rtlCol="0" anchor="t"/>
          <a:lstStyle/>
          <a:p>
            <a:pPr indent="0" marL="0">
              <a:buNone/>
            </a:pPr>
            <a:r>
              <a:rPr lang="en-US" sz="780" dirty="0">
                <a:solidFill>
                  <a:srgbClr val="1B2A41"/>
                </a:solidFill>
                <a:latin typeface="Calibri" pitchFamily="34" charset="0"/>
                <a:ea typeface="Calibri" pitchFamily="34" charset="-122"/>
                <a:cs typeface="Calibri" pitchFamily="34" charset="-120"/>
              </a:rPr>
              <a:t>1 of 3 files that should have been held was not, in the fixed reference corpus. Precision is 100% (nothing held needlessly) but recall is the honest miss; mitigation is a lower quarantine threshold or an added evidence source, not yet done.</a:t>
            </a:r>
            <a:endParaRPr lang="en-US" sz="780" dirty="0"/>
          </a:p>
        </p:txBody>
      </p:sp>
      <p:sp>
        <p:nvSpPr>
          <p:cNvPr id="8" name="Shape 6"/>
          <p:cNvSpPr/>
          <p:nvPr/>
        </p:nvSpPr>
        <p:spPr>
          <a:xfrm>
            <a:off x="4663440" y="1188720"/>
            <a:ext cx="4069080" cy="749808"/>
          </a:xfrm>
          <a:prstGeom prst="roundRect">
            <a:avLst>
              <a:gd name="adj" fmla="val 7317"/>
            </a:avLst>
          </a:prstGeom>
          <a:solidFill>
            <a:srgbClr val="F3F6FA"/>
          </a:solidFill>
          <a:ln w="9525">
            <a:solidFill>
              <a:srgbClr val="C9D3E0"/>
            </a:solidFill>
            <a:prstDash val="solid"/>
          </a:ln>
        </p:spPr>
      </p:sp>
      <p:sp>
        <p:nvSpPr>
          <p:cNvPr id="9" name="Text 7"/>
          <p:cNvSpPr txBox="1"/>
          <p:nvPr/>
        </p:nvSpPr>
        <p:spPr>
          <a:xfrm>
            <a:off x="4754880" y="1243584"/>
            <a:ext cx="3886200" cy="256032"/>
          </a:xfrm>
          <a:prstGeom prst="rect">
            <a:avLst/>
          </a:prstGeom>
          <a:noFill/>
          <a:ln/>
        </p:spPr>
        <p:txBody>
          <a:bodyPr wrap="square" lIns="0" tIns="0" rIns="0" bIns="0" rtlCol="0" anchor="ctr"/>
          <a:lstStyle/>
          <a:p>
            <a:pPr indent="0" marL="0">
              <a:buNone/>
            </a:pPr>
            <a:r>
              <a:rPr lang="en-US" sz="950" b="1" dirty="0">
                <a:solidFill>
                  <a:srgbClr val="14213D"/>
                </a:solidFill>
                <a:latin typeface="Calibri" pitchFamily="34" charset="0"/>
                <a:ea typeface="Calibri" pitchFamily="34" charset="-122"/>
                <a:cs typeface="Calibri" pitchFamily="34" charset="-120"/>
              </a:rPr>
              <a:t>Tier 2 embeddings are optional and untested against a real model here</a:t>
            </a:r>
            <a:endParaRPr lang="en-US" sz="950" dirty="0"/>
          </a:p>
        </p:txBody>
      </p:sp>
      <p:sp>
        <p:nvSpPr>
          <p:cNvPr id="10" name="Text 8"/>
          <p:cNvSpPr txBox="1"/>
          <p:nvPr/>
        </p:nvSpPr>
        <p:spPr>
          <a:xfrm>
            <a:off x="4754880" y="1499616"/>
            <a:ext cx="3886200" cy="384048"/>
          </a:xfrm>
          <a:prstGeom prst="rect">
            <a:avLst/>
          </a:prstGeom>
          <a:noFill/>
          <a:ln/>
        </p:spPr>
        <p:txBody>
          <a:bodyPr wrap="square" lIns="0" tIns="0" rIns="0" bIns="0" rtlCol="0" anchor="t"/>
          <a:lstStyle/>
          <a:p>
            <a:pPr indent="0" marL="0">
              <a:buNone/>
            </a:pPr>
            <a:r>
              <a:rPr lang="en-US" sz="780" dirty="0">
                <a:solidFill>
                  <a:srgbClr val="1B2A41"/>
                </a:solidFill>
                <a:latin typeface="Calibri" pitchFamily="34" charset="0"/>
                <a:ea typeface="Calibri" pitchFamily="34" charset="-122"/>
                <a:cs typeface="Calibri" pitchFamily="34" charset="-120"/>
              </a:rPr>
              <a:t>fastembed is not installed in this environment, so the suite exercises the fuzzy-only degraded path; the degradation is recorded in the evidence string, never silent.</a:t>
            </a:r>
            <a:endParaRPr lang="en-US" sz="780" dirty="0"/>
          </a:p>
        </p:txBody>
      </p:sp>
      <p:sp>
        <p:nvSpPr>
          <p:cNvPr id="11" name="Shape 9"/>
          <p:cNvSpPr/>
          <p:nvPr/>
        </p:nvSpPr>
        <p:spPr>
          <a:xfrm>
            <a:off x="457200" y="2011680"/>
            <a:ext cx="4069080" cy="749808"/>
          </a:xfrm>
          <a:prstGeom prst="roundRect">
            <a:avLst>
              <a:gd name="adj" fmla="val 7317"/>
            </a:avLst>
          </a:prstGeom>
          <a:solidFill>
            <a:srgbClr val="F3F6FA"/>
          </a:solidFill>
          <a:ln w="9525">
            <a:solidFill>
              <a:srgbClr val="C9D3E0"/>
            </a:solidFill>
            <a:prstDash val="solid"/>
          </a:ln>
        </p:spPr>
      </p:sp>
      <p:sp>
        <p:nvSpPr>
          <p:cNvPr id="12" name="Text 10"/>
          <p:cNvSpPr txBox="1"/>
          <p:nvPr/>
        </p:nvSpPr>
        <p:spPr>
          <a:xfrm>
            <a:off x="548640" y="2066544"/>
            <a:ext cx="3886200" cy="256032"/>
          </a:xfrm>
          <a:prstGeom prst="rect">
            <a:avLst/>
          </a:prstGeom>
          <a:noFill/>
          <a:ln/>
        </p:spPr>
        <p:txBody>
          <a:bodyPr wrap="square" lIns="0" tIns="0" rIns="0" bIns="0" rtlCol="0" anchor="ctr"/>
          <a:lstStyle/>
          <a:p>
            <a:pPr indent="0" marL="0">
              <a:buNone/>
            </a:pPr>
            <a:r>
              <a:rPr lang="en-US" sz="950" b="1" dirty="0">
                <a:solidFill>
                  <a:srgbClr val="14213D"/>
                </a:solidFill>
                <a:latin typeface="Calibri" pitchFamily="34" charset="0"/>
                <a:ea typeface="Calibri" pitchFamily="34" charset="-122"/>
                <a:cs typeface="Calibri" pitchFamily="34" charset="-120"/>
              </a:rPr>
              <a:t>Live model accuracy is not measured offline</a:t>
            </a:r>
            <a:endParaRPr lang="en-US" sz="950" dirty="0"/>
          </a:p>
        </p:txBody>
      </p:sp>
      <p:sp>
        <p:nvSpPr>
          <p:cNvPr id="13" name="Text 11"/>
          <p:cNvSpPr txBox="1"/>
          <p:nvPr/>
        </p:nvSpPr>
        <p:spPr>
          <a:xfrm>
            <a:off x="548640" y="2322576"/>
            <a:ext cx="3886200" cy="384048"/>
          </a:xfrm>
          <a:prstGeom prst="rect">
            <a:avLst/>
          </a:prstGeom>
          <a:noFill/>
          <a:ln/>
        </p:spPr>
        <p:txBody>
          <a:bodyPr wrap="square" lIns="0" tIns="0" rIns="0" bIns="0" rtlCol="0" anchor="t"/>
          <a:lstStyle/>
          <a:p>
            <a:pPr indent="0" marL="0">
              <a:buNone/>
            </a:pPr>
            <a:r>
              <a:rPr lang="en-US" sz="780" dirty="0">
                <a:solidFill>
                  <a:srgbClr val="1B2A41"/>
                </a:solidFill>
                <a:latin typeface="Calibri" pitchFamily="34" charset="0"/>
                <a:ea typeface="Calibri" pitchFamily="34" charset="-122"/>
                <a:cs typeface="Calibri" pitchFamily="34" charset="-120"/>
              </a:rPr>
              <a:t>The Tier 3 numbers above are against the deterministic stand-in. HM_LIVE=1 make test-live against the real Claude API is written but not run in this environment.</a:t>
            </a:r>
            <a:endParaRPr lang="en-US" sz="780" dirty="0"/>
          </a:p>
        </p:txBody>
      </p:sp>
      <p:sp>
        <p:nvSpPr>
          <p:cNvPr id="14" name="Shape 12"/>
          <p:cNvSpPr/>
          <p:nvPr/>
        </p:nvSpPr>
        <p:spPr>
          <a:xfrm>
            <a:off x="4663440" y="2011680"/>
            <a:ext cx="4069080" cy="749808"/>
          </a:xfrm>
          <a:prstGeom prst="roundRect">
            <a:avLst>
              <a:gd name="adj" fmla="val 7317"/>
            </a:avLst>
          </a:prstGeom>
          <a:solidFill>
            <a:srgbClr val="F3F6FA"/>
          </a:solidFill>
          <a:ln w="9525">
            <a:solidFill>
              <a:srgbClr val="C9D3E0"/>
            </a:solidFill>
            <a:prstDash val="solid"/>
          </a:ln>
        </p:spPr>
      </p:sp>
      <p:sp>
        <p:nvSpPr>
          <p:cNvPr id="15" name="Text 13"/>
          <p:cNvSpPr txBox="1"/>
          <p:nvPr/>
        </p:nvSpPr>
        <p:spPr>
          <a:xfrm>
            <a:off x="4754880" y="2066544"/>
            <a:ext cx="3886200" cy="256032"/>
          </a:xfrm>
          <a:prstGeom prst="rect">
            <a:avLst/>
          </a:prstGeom>
          <a:noFill/>
          <a:ln/>
        </p:spPr>
        <p:txBody>
          <a:bodyPr wrap="square" lIns="0" tIns="0" rIns="0" bIns="0" rtlCol="0" anchor="ctr"/>
          <a:lstStyle/>
          <a:p>
            <a:pPr indent="0" marL="0">
              <a:buNone/>
            </a:pPr>
            <a:r>
              <a:rPr lang="en-US" sz="950" b="1" dirty="0">
                <a:solidFill>
                  <a:srgbClr val="14213D"/>
                </a:solidFill>
                <a:latin typeface="Calibri" pitchFamily="34" charset="0"/>
                <a:ea typeface="Calibri" pitchFamily="34" charset="-122"/>
                <a:cs typeface="Calibri" pitchFamily="34" charset="-120"/>
              </a:rPr>
              <a:t>Docker-dependent gates are host-validated, not run here</a:t>
            </a:r>
            <a:endParaRPr lang="en-US" sz="950" dirty="0"/>
          </a:p>
        </p:txBody>
      </p:sp>
      <p:sp>
        <p:nvSpPr>
          <p:cNvPr id="16" name="Text 14"/>
          <p:cNvSpPr txBox="1"/>
          <p:nvPr/>
        </p:nvSpPr>
        <p:spPr>
          <a:xfrm>
            <a:off x="4754880" y="2322576"/>
            <a:ext cx="3886200" cy="384048"/>
          </a:xfrm>
          <a:prstGeom prst="rect">
            <a:avLst/>
          </a:prstGeom>
          <a:noFill/>
          <a:ln/>
        </p:spPr>
        <p:txBody>
          <a:bodyPr wrap="square" lIns="0" tIns="0" rIns="0" bIns="0" rtlCol="0" anchor="t"/>
          <a:lstStyle/>
          <a:p>
            <a:pPr indent="0" marL="0">
              <a:buNone/>
            </a:pPr>
            <a:r>
              <a:rPr lang="en-US" sz="780" dirty="0">
                <a:solidFill>
                  <a:srgbClr val="1B2A41"/>
                </a:solidFill>
                <a:latin typeface="Calibri" pitchFamily="34" charset="0"/>
                <a:ea typeface="Calibri" pitchFamily="34" charset="-122"/>
                <a:cs typeface="Calibri" pitchFamily="34" charset="-120"/>
              </a:rPr>
              <a:t>make up, make test-e2e, make demo and make verify-audit need Redpanda/Postgres/the six-service stack; ADR-018 marks every such task validate-on-host rather than claiming it done.</a:t>
            </a:r>
            <a:endParaRPr lang="en-US" sz="780" dirty="0"/>
          </a:p>
        </p:txBody>
      </p:sp>
      <p:sp>
        <p:nvSpPr>
          <p:cNvPr id="17" name="Shape 15"/>
          <p:cNvSpPr/>
          <p:nvPr/>
        </p:nvSpPr>
        <p:spPr>
          <a:xfrm>
            <a:off x="457200" y="2834640"/>
            <a:ext cx="4069080" cy="749808"/>
          </a:xfrm>
          <a:prstGeom prst="roundRect">
            <a:avLst>
              <a:gd name="adj" fmla="val 7317"/>
            </a:avLst>
          </a:prstGeom>
          <a:solidFill>
            <a:srgbClr val="F3F6FA"/>
          </a:solidFill>
          <a:ln w="9525">
            <a:solidFill>
              <a:srgbClr val="C9D3E0"/>
            </a:solidFill>
            <a:prstDash val="solid"/>
          </a:ln>
        </p:spPr>
      </p:sp>
      <p:sp>
        <p:nvSpPr>
          <p:cNvPr id="18" name="Text 16"/>
          <p:cNvSpPr txBox="1"/>
          <p:nvPr/>
        </p:nvSpPr>
        <p:spPr>
          <a:xfrm>
            <a:off x="548640" y="2889504"/>
            <a:ext cx="3886200" cy="256032"/>
          </a:xfrm>
          <a:prstGeom prst="rect">
            <a:avLst/>
          </a:prstGeom>
          <a:noFill/>
          <a:ln/>
        </p:spPr>
        <p:txBody>
          <a:bodyPr wrap="square" lIns="0" tIns="0" rIns="0" bIns="0" rtlCol="0" anchor="ctr"/>
          <a:lstStyle/>
          <a:p>
            <a:pPr indent="0" marL="0">
              <a:buNone/>
            </a:pPr>
            <a:r>
              <a:rPr lang="en-US" sz="950" b="1" dirty="0">
                <a:solidFill>
                  <a:srgbClr val="14213D"/>
                </a:solidFill>
                <a:latin typeface="Calibri" pitchFamily="34" charset="0"/>
                <a:ea typeface="Calibri" pitchFamily="34" charset="-122"/>
                <a:cs typeface="Calibri" pitchFamily="34" charset="-120"/>
              </a:rPr>
              <a:t>No authentication on the operations console</a:t>
            </a:r>
            <a:endParaRPr lang="en-US" sz="950" dirty="0"/>
          </a:p>
        </p:txBody>
      </p:sp>
      <p:sp>
        <p:nvSpPr>
          <p:cNvPr id="19" name="Text 17"/>
          <p:cNvSpPr txBox="1"/>
          <p:nvPr/>
        </p:nvSpPr>
        <p:spPr>
          <a:xfrm>
            <a:off x="548640" y="3145536"/>
            <a:ext cx="3886200" cy="384048"/>
          </a:xfrm>
          <a:prstGeom prst="rect">
            <a:avLst/>
          </a:prstGeom>
          <a:noFill/>
          <a:ln/>
        </p:spPr>
        <p:txBody>
          <a:bodyPr wrap="square" lIns="0" tIns="0" rIns="0" bIns="0" rtlCol="0" anchor="t"/>
          <a:lstStyle/>
          <a:p>
            <a:pPr indent="0" marL="0">
              <a:buNone/>
            </a:pPr>
            <a:r>
              <a:rPr lang="en-US" sz="780" dirty="0">
                <a:solidFill>
                  <a:srgbClr val="1B2A41"/>
                </a:solidFill>
                <a:latin typeface="Calibri" pitchFamily="34" charset="0"/>
                <a:ea typeface="Calibri" pitchFamily="34" charset="-122"/>
                <a:cs typeface="Calibri" pitchFamily="34" charset="-120"/>
              </a:rPr>
              <a:t>Out of scope by requirements §7; intended to sit behind the institution's existing SSO for a pilot.</a:t>
            </a:r>
            <a:endParaRPr lang="en-US" sz="780" dirty="0"/>
          </a:p>
        </p:txBody>
      </p:sp>
      <p:sp>
        <p:nvSpPr>
          <p:cNvPr id="20" name="Shape 18"/>
          <p:cNvSpPr/>
          <p:nvPr/>
        </p:nvSpPr>
        <p:spPr>
          <a:xfrm>
            <a:off x="4663440" y="2834640"/>
            <a:ext cx="4069080" cy="749808"/>
          </a:xfrm>
          <a:prstGeom prst="roundRect">
            <a:avLst>
              <a:gd name="adj" fmla="val 7317"/>
            </a:avLst>
          </a:prstGeom>
          <a:solidFill>
            <a:srgbClr val="F3F6FA"/>
          </a:solidFill>
          <a:ln w="9525">
            <a:solidFill>
              <a:srgbClr val="C9D3E0"/>
            </a:solidFill>
            <a:prstDash val="solid"/>
          </a:ln>
        </p:spPr>
      </p:sp>
      <p:sp>
        <p:nvSpPr>
          <p:cNvPr id="21" name="Text 19"/>
          <p:cNvSpPr txBox="1"/>
          <p:nvPr/>
        </p:nvSpPr>
        <p:spPr>
          <a:xfrm>
            <a:off x="4754880" y="2889504"/>
            <a:ext cx="3886200" cy="256032"/>
          </a:xfrm>
          <a:prstGeom prst="rect">
            <a:avLst/>
          </a:prstGeom>
          <a:noFill/>
          <a:ln/>
        </p:spPr>
        <p:txBody>
          <a:bodyPr wrap="square" lIns="0" tIns="0" rIns="0" bIns="0" rtlCol="0" anchor="ctr"/>
          <a:lstStyle/>
          <a:p>
            <a:pPr indent="0" marL="0">
              <a:buNone/>
            </a:pPr>
            <a:r>
              <a:rPr lang="en-US" sz="950" b="1" dirty="0">
                <a:solidFill>
                  <a:srgbClr val="14213D"/>
                </a:solidFill>
                <a:latin typeface="Calibri" pitchFamily="34" charset="0"/>
                <a:ea typeface="Calibri" pitchFamily="34" charset="-122"/>
                <a:cs typeface="Calibri" pitchFamily="34" charset="-120"/>
              </a:rPr>
              <a:t>The overdue sweep is not leader-elected</a:t>
            </a:r>
            <a:endParaRPr lang="en-US" sz="950" dirty="0"/>
          </a:p>
        </p:txBody>
      </p:sp>
      <p:sp>
        <p:nvSpPr>
          <p:cNvPr id="22" name="Text 20"/>
          <p:cNvSpPr txBox="1"/>
          <p:nvPr/>
        </p:nvSpPr>
        <p:spPr>
          <a:xfrm>
            <a:off x="4754880" y="3145536"/>
            <a:ext cx="3886200" cy="384048"/>
          </a:xfrm>
          <a:prstGeom prst="rect">
            <a:avLst/>
          </a:prstGeom>
          <a:noFill/>
          <a:ln/>
        </p:spPr>
        <p:txBody>
          <a:bodyPr wrap="square" lIns="0" tIns="0" rIns="0" bIns="0" rtlCol="0" anchor="t"/>
          <a:lstStyle/>
          <a:p>
            <a:pPr indent="0" marL="0">
              <a:buNone/>
            </a:pPr>
            <a:r>
              <a:rPr lang="en-US" sz="780" dirty="0">
                <a:solidFill>
                  <a:srgbClr val="1B2A41"/>
                </a:solidFill>
                <a:latin typeface="Calibri" pitchFamily="34" charset="0"/>
                <a:ea typeface="Calibri" pitchFamily="34" charset="-122"/>
                <a:cs typeface="Calibri" pitchFamily="34" charset="-120"/>
              </a:rPr>
              <a:t>Running more than one Berthmaster instance would run the sweep more than once per interval. Slot state itself is safe across instances.</a:t>
            </a:r>
            <a:endParaRPr lang="en-US" sz="780" dirty="0"/>
          </a:p>
        </p:txBody>
      </p:sp>
      <p:sp>
        <p:nvSpPr>
          <p:cNvPr id="23" name="Shape 21"/>
          <p:cNvSpPr/>
          <p:nvPr/>
        </p:nvSpPr>
        <p:spPr>
          <a:xfrm>
            <a:off x="457200" y="3657600"/>
            <a:ext cx="4069080" cy="749808"/>
          </a:xfrm>
          <a:prstGeom prst="roundRect">
            <a:avLst>
              <a:gd name="adj" fmla="val 7317"/>
            </a:avLst>
          </a:prstGeom>
          <a:solidFill>
            <a:srgbClr val="F3F6FA"/>
          </a:solidFill>
          <a:ln w="9525">
            <a:solidFill>
              <a:srgbClr val="C9D3E0"/>
            </a:solidFill>
            <a:prstDash val="solid"/>
          </a:ln>
        </p:spPr>
      </p:sp>
      <p:sp>
        <p:nvSpPr>
          <p:cNvPr id="24" name="Text 22"/>
          <p:cNvSpPr txBox="1"/>
          <p:nvPr/>
        </p:nvSpPr>
        <p:spPr>
          <a:xfrm>
            <a:off x="548640" y="3712464"/>
            <a:ext cx="3886200" cy="256032"/>
          </a:xfrm>
          <a:prstGeom prst="rect">
            <a:avLst/>
          </a:prstGeom>
          <a:noFill/>
          <a:ln/>
        </p:spPr>
        <p:txBody>
          <a:bodyPr wrap="square" lIns="0" tIns="0" rIns="0" bIns="0" rtlCol="0" anchor="ctr"/>
          <a:lstStyle/>
          <a:p>
            <a:pPr indent="0" marL="0">
              <a:buNone/>
            </a:pPr>
            <a:r>
              <a:rPr lang="en-US" sz="950" b="1" dirty="0">
                <a:solidFill>
                  <a:srgbClr val="14213D"/>
                </a:solidFill>
                <a:latin typeface="Calibri" pitchFamily="34" charset="0"/>
                <a:ea typeface="Calibri" pitchFamily="34" charset="-122"/>
                <a:cs typeface="Calibri" pitchFamily="34" charset="-120"/>
              </a:rPr>
              <a:t>Throughput and p95 latency (NFR-2) are designed for, not measured</a:t>
            </a:r>
            <a:endParaRPr lang="en-US" sz="950" dirty="0"/>
          </a:p>
        </p:txBody>
      </p:sp>
      <p:sp>
        <p:nvSpPr>
          <p:cNvPr id="25" name="Text 23"/>
          <p:cNvSpPr txBox="1"/>
          <p:nvPr/>
        </p:nvSpPr>
        <p:spPr>
          <a:xfrm>
            <a:off x="548640" y="3968496"/>
            <a:ext cx="3886200" cy="384048"/>
          </a:xfrm>
          <a:prstGeom prst="rect">
            <a:avLst/>
          </a:prstGeom>
          <a:noFill/>
          <a:ln/>
        </p:spPr>
        <p:txBody>
          <a:bodyPr wrap="square" lIns="0" tIns="0" rIns="0" bIns="0" rtlCol="0" anchor="t"/>
          <a:lstStyle/>
          <a:p>
            <a:pPr indent="0" marL="0">
              <a:buNone/>
            </a:pPr>
            <a:r>
              <a:rPr lang="en-US" sz="780" dirty="0">
                <a:solidFill>
                  <a:srgbClr val="1B2A41"/>
                </a:solidFill>
                <a:latin typeface="Calibri" pitchFamily="34" charset="0"/>
                <a:ea typeface="Calibri" pitchFamily="34" charset="-122"/>
                <a:cs typeface="Calibri" pitchFamily="34" charset="-120"/>
              </a:rPr>
              <a:t>The 1,000 arrivals/day envelope has no load test behind it in this environment.</a:t>
            </a:r>
            <a:endParaRPr lang="en-US" sz="780" dirty="0"/>
          </a:p>
        </p:txBody>
      </p:sp>
      <p:sp>
        <p:nvSpPr>
          <p:cNvPr id="26" name="Shape 24"/>
          <p:cNvSpPr/>
          <p:nvPr/>
        </p:nvSpPr>
        <p:spPr>
          <a:xfrm>
            <a:off x="4663440" y="3657600"/>
            <a:ext cx="4069080" cy="749808"/>
          </a:xfrm>
          <a:prstGeom prst="roundRect">
            <a:avLst>
              <a:gd name="adj" fmla="val 7317"/>
            </a:avLst>
          </a:prstGeom>
          <a:solidFill>
            <a:srgbClr val="F3F6FA"/>
          </a:solidFill>
          <a:ln w="9525">
            <a:solidFill>
              <a:srgbClr val="C9D3E0"/>
            </a:solidFill>
            <a:prstDash val="solid"/>
          </a:ln>
        </p:spPr>
      </p:sp>
      <p:sp>
        <p:nvSpPr>
          <p:cNvPr id="27" name="Text 25"/>
          <p:cNvSpPr txBox="1"/>
          <p:nvPr/>
        </p:nvSpPr>
        <p:spPr>
          <a:xfrm>
            <a:off x="4754880" y="3712464"/>
            <a:ext cx="3886200" cy="256032"/>
          </a:xfrm>
          <a:prstGeom prst="rect">
            <a:avLst/>
          </a:prstGeom>
          <a:noFill/>
          <a:ln/>
        </p:spPr>
        <p:txBody>
          <a:bodyPr wrap="square" lIns="0" tIns="0" rIns="0" bIns="0" rtlCol="0" anchor="ctr"/>
          <a:lstStyle/>
          <a:p>
            <a:pPr indent="0" marL="0">
              <a:buNone/>
            </a:pPr>
            <a:r>
              <a:rPr lang="en-US" sz="950" b="1" dirty="0">
                <a:solidFill>
                  <a:srgbClr val="14213D"/>
                </a:solidFill>
                <a:latin typeface="Calibri" pitchFamily="34" charset="0"/>
                <a:ea typeface="Calibri" pitchFamily="34" charset="-122"/>
                <a:cs typeface="Calibri" pitchFamily="34" charset="-120"/>
              </a:rPr>
              <a:t>golangci-lint and protoc/buf are not installed on this host</a:t>
            </a:r>
            <a:endParaRPr lang="en-US" sz="950" dirty="0"/>
          </a:p>
        </p:txBody>
      </p:sp>
      <p:sp>
        <p:nvSpPr>
          <p:cNvPr id="28" name="Text 26"/>
          <p:cNvSpPr txBox="1"/>
          <p:nvPr/>
        </p:nvSpPr>
        <p:spPr>
          <a:xfrm>
            <a:off x="4754880" y="3968496"/>
            <a:ext cx="3886200" cy="384048"/>
          </a:xfrm>
          <a:prstGeom prst="rect">
            <a:avLst/>
          </a:prstGeom>
          <a:noFill/>
          <a:ln/>
        </p:spPr>
        <p:txBody>
          <a:bodyPr wrap="square" lIns="0" tIns="0" rIns="0" bIns="0" rtlCol="0" anchor="t"/>
          <a:lstStyle/>
          <a:p>
            <a:pPr indent="0" marL="0">
              <a:buNone/>
            </a:pPr>
            <a:r>
              <a:rPr lang="en-US" sz="780" dirty="0">
                <a:solidFill>
                  <a:srgbClr val="1B2A41"/>
                </a:solidFill>
                <a:latin typeface="Calibri" pitchFamily="34" charset="0"/>
                <a:ea typeface="Calibri" pitchFamily="34" charset="-122"/>
                <a:cs typeface="Calibri" pitchFamily="34" charset="-120"/>
              </a:rPr>
              <a:t>go vet substituted for lint; proto-check could not run. Pre-existing gaps in this environment, not fixed as part of this task.</a:t>
            </a:r>
            <a:endParaRPr lang="en-US" sz="78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5486400" cy="228600"/>
          </a:xfrm>
          <a:prstGeom prst="rect">
            <a:avLst/>
          </a:prstGeom>
          <a:noFill/>
          <a:ln/>
        </p:spPr>
        <p:txBody>
          <a:bodyPr wrap="square" lIns="0" tIns="0" rIns="0" bIns="0" rtlCol="0" anchor="ctr"/>
          <a:lstStyle/>
          <a:p>
            <a:pPr indent="0" marL="0">
              <a:buNone/>
            </a:pPr>
            <a:r>
              <a:rPr lang="en-US" sz="1000" b="1" spc="200" kern="0" dirty="0">
                <a:solidFill>
                  <a:srgbClr val="2EC4B6"/>
                </a:solidFill>
                <a:latin typeface="Calibri" pitchFamily="34" charset="0"/>
                <a:ea typeface="Calibri" pitchFamily="34" charset="-122"/>
                <a:cs typeface="Calibri" pitchFamily="34" charset="-120"/>
              </a:rPr>
              <a:t>ENTERPRISE READINESS · OPERATIONS</a:t>
            </a:r>
            <a:endParaRPr lang="en-US" sz="1000" dirty="0"/>
          </a:p>
        </p:txBody>
      </p:sp>
      <p:sp>
        <p:nvSpPr>
          <p:cNvPr id="3" name="Text 1"/>
          <p:cNvSpPr txBox="1"/>
          <p:nvPr/>
        </p:nvSpPr>
        <p:spPr>
          <a:xfrm>
            <a:off x="457200" y="457200"/>
            <a:ext cx="8229600" cy="548640"/>
          </a:xfrm>
          <a:prstGeom prst="rect">
            <a:avLst/>
          </a:prstGeom>
          <a:noFill/>
          <a:ln/>
        </p:spPr>
        <p:txBody>
          <a:bodyPr wrap="square" lIns="0" tIns="0" rIns="0" bIns="0" rtlCol="0" anchor="ctr"/>
          <a:lstStyle/>
          <a:p>
            <a:pPr indent="0" marL="0">
              <a:buNone/>
            </a:pPr>
            <a:r>
              <a:rPr lang="en-US" sz="2600" b="1" dirty="0">
                <a:solidFill>
                  <a:srgbClr val="14213D"/>
                </a:solidFill>
                <a:latin typeface="Cambria" pitchFamily="34" charset="0"/>
                <a:ea typeface="Cambria" pitchFamily="34" charset="-122"/>
                <a:cs typeface="Cambria" pitchFamily="34" charset="-120"/>
              </a:rPr>
              <a:t>Cost, performance and operability</a:t>
            </a:r>
            <a:endParaRPr lang="en-US" sz="2600" dirty="0"/>
          </a:p>
        </p:txBody>
      </p:sp>
      <p:sp>
        <p:nvSpPr>
          <p:cNvPr id="4" name="Text 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800" dirty="0">
                <a:solidFill>
                  <a:srgbClr val="6B7A90"/>
                </a:solidFill>
                <a:latin typeface="Calibri" pitchFamily="34" charset="0"/>
                <a:ea typeface="Calibri" pitchFamily="34" charset="-122"/>
                <a:cs typeface="Calibri" pitchFamily="34" charset="-120"/>
              </a:rPr>
              <a:t>Harbormaster · AI Systems Architecture Review · 21</a:t>
            </a:r>
            <a:endParaRPr lang="en-US" sz="800" dirty="0"/>
          </a:p>
        </p:txBody>
      </p:sp>
      <p:sp>
        <p:nvSpPr>
          <p:cNvPr id="5" name="Shape 3"/>
          <p:cNvSpPr/>
          <p:nvPr/>
        </p:nvSpPr>
        <p:spPr>
          <a:xfrm>
            <a:off x="457200" y="1188720"/>
            <a:ext cx="1965960" cy="1234440"/>
          </a:xfrm>
          <a:prstGeom prst="roundRect">
            <a:avLst>
              <a:gd name="adj" fmla="val 4444"/>
            </a:avLst>
          </a:prstGeom>
          <a:solidFill>
            <a:srgbClr val="F3F6FA"/>
          </a:solidFill>
          <a:ln w="9525">
            <a:solidFill>
              <a:srgbClr val="C9D3E0"/>
            </a:solidFill>
            <a:prstDash val="solid"/>
          </a:ln>
        </p:spPr>
      </p:sp>
      <p:sp>
        <p:nvSpPr>
          <p:cNvPr id="6" name="Text 4"/>
          <p:cNvSpPr txBox="1"/>
          <p:nvPr/>
        </p:nvSpPr>
        <p:spPr>
          <a:xfrm>
            <a:off x="566928" y="1234440"/>
            <a:ext cx="1737360" cy="457200"/>
          </a:xfrm>
          <a:prstGeom prst="rect">
            <a:avLst/>
          </a:prstGeom>
          <a:noFill/>
          <a:ln/>
        </p:spPr>
        <p:txBody>
          <a:bodyPr wrap="square" lIns="0" tIns="0" rIns="0" bIns="0" rtlCol="0" anchor="ctr"/>
          <a:lstStyle/>
          <a:p>
            <a:pPr indent="0" marL="0">
              <a:buNone/>
            </a:pPr>
            <a:r>
              <a:rPr lang="en-US" sz="2200" b="1" dirty="0">
                <a:solidFill>
                  <a:srgbClr val="F2B134"/>
                </a:solidFill>
                <a:latin typeface="Cambria" pitchFamily="34" charset="0"/>
                <a:ea typeface="Cambria" pitchFamily="34" charset="-122"/>
                <a:cs typeface="Cambria" pitchFamily="34" charset="-120"/>
              </a:rPr>
              <a:t>µs / ms / s+$</a:t>
            </a:r>
            <a:endParaRPr lang="en-US" sz="2200" dirty="0"/>
          </a:p>
        </p:txBody>
      </p:sp>
      <p:sp>
        <p:nvSpPr>
          <p:cNvPr id="7" name="Text 5"/>
          <p:cNvSpPr txBox="1"/>
          <p:nvPr/>
        </p:nvSpPr>
        <p:spPr>
          <a:xfrm>
            <a:off x="566928" y="1709928"/>
            <a:ext cx="1737360" cy="685800"/>
          </a:xfrm>
          <a:prstGeom prst="rect">
            <a:avLst/>
          </a:prstGeom>
          <a:noFill/>
          <a:ln/>
        </p:spPr>
        <p:txBody>
          <a:bodyPr wrap="square" lIns="0" tIns="0" rIns="0" bIns="0" rtlCol="0" anchor="t"/>
          <a:lstStyle/>
          <a:p>
            <a:pPr indent="0" marL="0">
              <a:buNone/>
            </a:pPr>
            <a:r>
              <a:rPr lang="en-US" sz="850" dirty="0">
                <a:solidFill>
                  <a:srgbClr val="1B2A41"/>
                </a:solidFill>
                <a:latin typeface="Calibri" pitchFamily="34" charset="0"/>
                <a:ea typeface="Calibri" pitchFamily="34" charset="-122"/>
                <a:cs typeface="Calibri" pitchFamily="34" charset="-120"/>
              </a:rPr>
              <a:t>the three tiers' cost, in order — most columns resolve for free</a:t>
            </a:r>
            <a:endParaRPr lang="en-US" sz="850" dirty="0"/>
          </a:p>
        </p:txBody>
      </p:sp>
      <p:sp>
        <p:nvSpPr>
          <p:cNvPr id="8" name="Shape 6"/>
          <p:cNvSpPr/>
          <p:nvPr/>
        </p:nvSpPr>
        <p:spPr>
          <a:xfrm>
            <a:off x="2560320" y="1188720"/>
            <a:ext cx="1965960" cy="1234440"/>
          </a:xfrm>
          <a:prstGeom prst="roundRect">
            <a:avLst>
              <a:gd name="adj" fmla="val 4444"/>
            </a:avLst>
          </a:prstGeom>
          <a:solidFill>
            <a:srgbClr val="F3F6FA"/>
          </a:solidFill>
          <a:ln w="9525">
            <a:solidFill>
              <a:srgbClr val="C9D3E0"/>
            </a:solidFill>
            <a:prstDash val="solid"/>
          </a:ln>
        </p:spPr>
      </p:sp>
      <p:sp>
        <p:nvSpPr>
          <p:cNvPr id="9" name="Text 7"/>
          <p:cNvSpPr txBox="1"/>
          <p:nvPr/>
        </p:nvSpPr>
        <p:spPr>
          <a:xfrm>
            <a:off x="2670048" y="1234440"/>
            <a:ext cx="1737360" cy="457200"/>
          </a:xfrm>
          <a:prstGeom prst="rect">
            <a:avLst/>
          </a:prstGeom>
          <a:noFill/>
          <a:ln/>
        </p:spPr>
        <p:txBody>
          <a:bodyPr wrap="square" lIns="0" tIns="0" rIns="0" bIns="0" rtlCol="0" anchor="ctr"/>
          <a:lstStyle/>
          <a:p>
            <a:pPr indent="0" marL="0">
              <a:buNone/>
            </a:pPr>
            <a:r>
              <a:rPr lang="en-US" sz="2200" b="1" dirty="0">
                <a:solidFill>
                  <a:srgbClr val="F2B134"/>
                </a:solidFill>
                <a:latin typeface="Cambria" pitchFamily="34" charset="0"/>
                <a:ea typeface="Cambria" pitchFamily="34" charset="-122"/>
                <a:cs typeface="Cambria" pitchFamily="34" charset="-120"/>
              </a:rPr>
              <a:t>0 keys</a:t>
            </a:r>
            <a:endParaRPr lang="en-US" sz="2200" dirty="0"/>
          </a:p>
        </p:txBody>
      </p:sp>
      <p:sp>
        <p:nvSpPr>
          <p:cNvPr id="10" name="Text 8"/>
          <p:cNvSpPr txBox="1"/>
          <p:nvPr/>
        </p:nvSpPr>
        <p:spPr>
          <a:xfrm>
            <a:off x="2670048" y="1709928"/>
            <a:ext cx="1737360" cy="685800"/>
          </a:xfrm>
          <a:prstGeom prst="rect">
            <a:avLst/>
          </a:prstGeom>
          <a:noFill/>
          <a:ln/>
        </p:spPr>
        <p:txBody>
          <a:bodyPr wrap="square" lIns="0" tIns="0" rIns="0" bIns="0" rtlCol="0" anchor="t"/>
          <a:lstStyle/>
          <a:p>
            <a:pPr indent="0" marL="0">
              <a:buNone/>
            </a:pPr>
            <a:r>
              <a:rPr lang="en-US" sz="850" dirty="0">
                <a:solidFill>
                  <a:srgbClr val="1B2A41"/>
                </a:solidFill>
                <a:latin typeface="Calibri" pitchFamily="34" charset="0"/>
                <a:ea typeface="Calibri" pitchFamily="34" charset="-122"/>
                <a:cs typeface="Calibri" pitchFamily="34" charset="-120"/>
              </a:rPr>
              <a:t>needed for make check or make bench; the model tier is opt-in only</a:t>
            </a:r>
            <a:endParaRPr lang="en-US" sz="850" dirty="0"/>
          </a:p>
        </p:txBody>
      </p:sp>
      <p:sp>
        <p:nvSpPr>
          <p:cNvPr id="11" name="Shape 9"/>
          <p:cNvSpPr/>
          <p:nvPr/>
        </p:nvSpPr>
        <p:spPr>
          <a:xfrm>
            <a:off x="4663440" y="1188720"/>
            <a:ext cx="1965960" cy="1234440"/>
          </a:xfrm>
          <a:prstGeom prst="roundRect">
            <a:avLst>
              <a:gd name="adj" fmla="val 4444"/>
            </a:avLst>
          </a:prstGeom>
          <a:solidFill>
            <a:srgbClr val="F3F6FA"/>
          </a:solidFill>
          <a:ln w="9525">
            <a:solidFill>
              <a:srgbClr val="C9D3E0"/>
            </a:solidFill>
            <a:prstDash val="solid"/>
          </a:ln>
        </p:spPr>
      </p:sp>
      <p:sp>
        <p:nvSpPr>
          <p:cNvPr id="12" name="Text 10"/>
          <p:cNvSpPr txBox="1"/>
          <p:nvPr/>
        </p:nvSpPr>
        <p:spPr>
          <a:xfrm>
            <a:off x="4773168" y="1234440"/>
            <a:ext cx="1737360" cy="457200"/>
          </a:xfrm>
          <a:prstGeom prst="rect">
            <a:avLst/>
          </a:prstGeom>
          <a:noFill/>
          <a:ln/>
        </p:spPr>
        <p:txBody>
          <a:bodyPr wrap="square" lIns="0" tIns="0" rIns="0" bIns="0" rtlCol="0" anchor="ctr"/>
          <a:lstStyle/>
          <a:p>
            <a:pPr indent="0" marL="0">
              <a:buNone/>
            </a:pPr>
            <a:r>
              <a:rPr lang="en-US" sz="2200" b="1" dirty="0">
                <a:solidFill>
                  <a:srgbClr val="F2B134"/>
                </a:solidFill>
                <a:latin typeface="Cambria" pitchFamily="34" charset="0"/>
                <a:ea typeface="Cambria" pitchFamily="34" charset="-122"/>
                <a:cs typeface="Cambria" pitchFamily="34" charset="-120"/>
              </a:rPr>
              <a:t>~4.8s</a:t>
            </a:r>
            <a:endParaRPr lang="en-US" sz="2200" dirty="0"/>
          </a:p>
        </p:txBody>
      </p:sp>
      <p:sp>
        <p:nvSpPr>
          <p:cNvPr id="13" name="Text 11"/>
          <p:cNvSpPr txBox="1"/>
          <p:nvPr/>
        </p:nvSpPr>
        <p:spPr>
          <a:xfrm>
            <a:off x="4773168" y="1709928"/>
            <a:ext cx="1737360" cy="685800"/>
          </a:xfrm>
          <a:prstGeom prst="rect">
            <a:avLst/>
          </a:prstGeom>
          <a:noFill/>
          <a:ln/>
        </p:spPr>
        <p:txBody>
          <a:bodyPr wrap="square" lIns="0" tIns="0" rIns="0" bIns="0" rtlCol="0" anchor="t"/>
          <a:lstStyle/>
          <a:p>
            <a:pPr indent="0" marL="0">
              <a:buNone/>
            </a:pPr>
            <a:r>
              <a:rPr lang="en-US" sz="850" dirty="0">
                <a:solidFill>
                  <a:srgbClr val="1B2A41"/>
                </a:solidFill>
                <a:latin typeface="Calibri" pitchFamily="34" charset="0"/>
                <a:ea typeface="Calibri" pitchFamily="34" charset="-122"/>
                <a:cs typeface="Calibri" pitchFamily="34" charset="-120"/>
              </a:rPr>
              <a:t>python/tests (257 passed) in this run; go test ./... a few seconds more</a:t>
            </a:r>
            <a:endParaRPr lang="en-US" sz="850" dirty="0"/>
          </a:p>
        </p:txBody>
      </p:sp>
      <p:sp>
        <p:nvSpPr>
          <p:cNvPr id="14" name="Shape 12"/>
          <p:cNvSpPr/>
          <p:nvPr/>
        </p:nvSpPr>
        <p:spPr>
          <a:xfrm>
            <a:off x="6766560" y="1188720"/>
            <a:ext cx="1965960" cy="1234440"/>
          </a:xfrm>
          <a:prstGeom prst="roundRect">
            <a:avLst>
              <a:gd name="adj" fmla="val 4444"/>
            </a:avLst>
          </a:prstGeom>
          <a:solidFill>
            <a:srgbClr val="F3F6FA"/>
          </a:solidFill>
          <a:ln w="9525">
            <a:solidFill>
              <a:srgbClr val="C9D3E0"/>
            </a:solidFill>
            <a:prstDash val="solid"/>
          </a:ln>
        </p:spPr>
      </p:sp>
      <p:sp>
        <p:nvSpPr>
          <p:cNvPr id="15" name="Text 13"/>
          <p:cNvSpPr txBox="1"/>
          <p:nvPr/>
        </p:nvSpPr>
        <p:spPr>
          <a:xfrm>
            <a:off x="6876288" y="1234440"/>
            <a:ext cx="1737360" cy="457200"/>
          </a:xfrm>
          <a:prstGeom prst="rect">
            <a:avLst/>
          </a:prstGeom>
          <a:noFill/>
          <a:ln/>
        </p:spPr>
        <p:txBody>
          <a:bodyPr wrap="square" lIns="0" tIns="0" rIns="0" bIns="0" rtlCol="0" anchor="ctr"/>
          <a:lstStyle/>
          <a:p>
            <a:pPr indent="0" marL="0">
              <a:buNone/>
            </a:pPr>
            <a:r>
              <a:rPr lang="en-US" sz="2200" b="1" dirty="0">
                <a:solidFill>
                  <a:srgbClr val="F2B134"/>
                </a:solidFill>
                <a:latin typeface="Cambria" pitchFamily="34" charset="0"/>
                <a:ea typeface="Cambria" pitchFamily="34" charset="-122"/>
                <a:cs typeface="Cambria" pitchFamily="34" charset="-120"/>
              </a:rPr>
              <a:t>0 → next time</a:t>
            </a:r>
            <a:endParaRPr lang="en-US" sz="2200" dirty="0"/>
          </a:p>
        </p:txBody>
      </p:sp>
      <p:sp>
        <p:nvSpPr>
          <p:cNvPr id="16" name="Text 14"/>
          <p:cNvSpPr txBox="1"/>
          <p:nvPr/>
        </p:nvSpPr>
        <p:spPr>
          <a:xfrm>
            <a:off x="6876288" y="1709928"/>
            <a:ext cx="1737360" cy="685800"/>
          </a:xfrm>
          <a:prstGeom prst="rect">
            <a:avLst/>
          </a:prstGeom>
          <a:noFill/>
          <a:ln/>
        </p:spPr>
        <p:txBody>
          <a:bodyPr wrap="square" lIns="0" tIns="0" rIns="0" bIns="0" rtlCol="0" anchor="t"/>
          <a:lstStyle/>
          <a:p>
            <a:pPr indent="0" marL="0">
              <a:buNone/>
            </a:pPr>
            <a:r>
              <a:rPr lang="en-US" sz="850" dirty="0">
                <a:solidFill>
                  <a:srgbClr val="1B2A41"/>
                </a:solidFill>
                <a:latin typeface="Calibri" pitchFamily="34" charset="0"/>
                <a:ea typeface="Calibri" pitchFamily="34" charset="-122"/>
                <a:cs typeface="Calibri" pitchFamily="34" charset="-120"/>
              </a:rPr>
              <a:t>template-fingerprint cache: the second file with a known layout costs no model call</a:t>
            </a:r>
            <a:endParaRPr lang="en-US" sz="850" dirty="0"/>
          </a:p>
        </p:txBody>
      </p:sp>
      <p:sp>
        <p:nvSpPr>
          <p:cNvPr id="17" name="Shape 15"/>
          <p:cNvSpPr/>
          <p:nvPr/>
        </p:nvSpPr>
        <p:spPr>
          <a:xfrm>
            <a:off x="457200" y="2606040"/>
            <a:ext cx="4023360" cy="1828800"/>
          </a:xfrm>
          <a:prstGeom prst="roundRect">
            <a:avLst>
              <a:gd name="adj" fmla="val 3000"/>
            </a:avLst>
          </a:prstGeom>
          <a:solidFill>
            <a:srgbClr val="F3F6FA"/>
          </a:solidFill>
          <a:ln w="9525">
            <a:solidFill>
              <a:srgbClr val="C9D3E0"/>
            </a:solidFill>
            <a:prstDash val="solid"/>
          </a:ln>
        </p:spPr>
      </p:sp>
      <p:sp>
        <p:nvSpPr>
          <p:cNvPr id="18" name="Text 16"/>
          <p:cNvSpPr txBox="1"/>
          <p:nvPr/>
        </p:nvSpPr>
        <p:spPr>
          <a:xfrm>
            <a:off x="548640" y="2660904"/>
            <a:ext cx="3840480" cy="256032"/>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Operability</a:t>
            </a:r>
            <a:endParaRPr lang="en-US" sz="1100" dirty="0"/>
          </a:p>
        </p:txBody>
      </p:sp>
      <p:sp>
        <p:nvSpPr>
          <p:cNvPr id="19" name="Text 17"/>
          <p:cNvSpPr txBox="1"/>
          <p:nvPr/>
        </p:nvSpPr>
        <p:spPr>
          <a:xfrm>
            <a:off x="548640" y="2916936"/>
            <a:ext cx="3840480" cy="1463040"/>
          </a:xfrm>
          <a:prstGeom prst="rect">
            <a:avLst/>
          </a:prstGeom>
          <a:noFill/>
          <a:ln/>
        </p:spPr>
        <p:txBody>
          <a:bodyPr wrap="square" lIns="0" tIns="0" rIns="0" bIns="0" rtlCol="0" anchor="t"/>
          <a:lstStyle/>
          <a:p>
            <a:pPr indent="0" marL="0">
              <a:buNone/>
            </a:pPr>
            <a:r>
              <a:rPr lang="en-US" sz="900" dirty="0">
                <a:solidFill>
                  <a:srgbClr val="1B2A41"/>
                </a:solidFill>
                <a:latin typeface="Calibri" pitchFamily="34" charset="0"/>
                <a:ea typeface="Calibri" pitchFamily="34" charset="-122"/>
                <a:cs typeface="Calibri" pitchFamily="34" charset="-120"/>
              </a:rPr>
              <a:t>• Runbook: first checkout, running the stack, seeing it work, verifying the audit trail, configuration reference, what to do when something is wrong</a:t>
            </a:r>
            <a:endParaRPr lang="en-US" sz="900" dirty="0"/>
          </a:p>
          <a:p>
            <a:pPr indent="0" marL="0">
              <a:buNone/>
            </a:pPr>
            <a:r>
              <a:rPr lang="en-US" sz="900" dirty="0">
                <a:solidFill>
                  <a:srgbClr val="1B2A41"/>
                </a:solidFill>
                <a:latin typeface="Calibri" pitchFamily="34" charset="0"/>
                <a:ea typeface="Calibri" pitchFamily="34" charset="-122"/>
                <a:cs typeface="Calibri" pitchFamily="34" charset="-120"/>
              </a:rPr>
              <a:t>• make up targets healthy in under a minute (host-validated)</a:t>
            </a:r>
            <a:endParaRPr lang="en-US" sz="900" dirty="0"/>
          </a:p>
          <a:p>
            <a:pPr indent="0" marL="0">
              <a:buNone/>
            </a:pPr>
            <a:r>
              <a:rPr lang="en-US" sz="900" dirty="0">
                <a:solidFill>
                  <a:srgbClr val="1B2A41"/>
                </a:solidFill>
                <a:latin typeface="Calibri" pitchFamily="34" charset="0"/>
                <a:ea typeface="Calibri" pitchFamily="34" charset="-122"/>
                <a:cs typeface="Calibri" pitchFamily="34" charset="-120"/>
              </a:rPr>
              <a:t>• make demo narrates the twelve adversarial fixtures through the live board</a:t>
            </a:r>
            <a:endParaRPr lang="en-US" sz="900" dirty="0"/>
          </a:p>
          <a:p>
            <a:pPr indent="0" marL="0">
              <a:buNone/>
            </a:pPr>
            <a:r>
              <a:rPr lang="en-US" sz="900" dirty="0">
                <a:solidFill>
                  <a:srgbClr val="1B2A41"/>
                </a:solidFill>
                <a:latin typeface="Calibri" pitchFamily="34" charset="0"/>
                <a:ea typeface="Calibri" pitchFamily="34" charset="-122"/>
                <a:cs typeface="Calibri" pitchFamily="34" charset="-120"/>
              </a:rPr>
              <a:t>• Rollback: read models are projections, rebuilt by replaying topics from offset zero</a:t>
            </a:r>
            <a:endParaRPr lang="en-US" sz="900" dirty="0"/>
          </a:p>
        </p:txBody>
      </p:sp>
      <p:sp>
        <p:nvSpPr>
          <p:cNvPr id="20" name="Shape 18"/>
          <p:cNvSpPr/>
          <p:nvPr/>
        </p:nvSpPr>
        <p:spPr>
          <a:xfrm>
            <a:off x="4663440" y="2606040"/>
            <a:ext cx="4023360" cy="1828800"/>
          </a:xfrm>
          <a:prstGeom prst="roundRect">
            <a:avLst>
              <a:gd name="adj" fmla="val 3000"/>
            </a:avLst>
          </a:prstGeom>
          <a:solidFill>
            <a:srgbClr val="F3F6FA"/>
          </a:solidFill>
          <a:ln w="9525">
            <a:solidFill>
              <a:srgbClr val="C9D3E0"/>
            </a:solidFill>
            <a:prstDash val="solid"/>
          </a:ln>
        </p:spPr>
      </p:sp>
      <p:sp>
        <p:nvSpPr>
          <p:cNvPr id="21" name="Text 19"/>
          <p:cNvSpPr txBox="1"/>
          <p:nvPr/>
        </p:nvSpPr>
        <p:spPr>
          <a:xfrm>
            <a:off x="4754880" y="2660904"/>
            <a:ext cx="3840480" cy="256032"/>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Observability and audit</a:t>
            </a:r>
            <a:endParaRPr lang="en-US" sz="1100" dirty="0"/>
          </a:p>
        </p:txBody>
      </p:sp>
      <p:sp>
        <p:nvSpPr>
          <p:cNvPr id="22" name="Text 20"/>
          <p:cNvSpPr txBox="1"/>
          <p:nvPr/>
        </p:nvSpPr>
        <p:spPr>
          <a:xfrm>
            <a:off x="4754880" y="2916936"/>
            <a:ext cx="3840480" cy="1463040"/>
          </a:xfrm>
          <a:prstGeom prst="rect">
            <a:avLst/>
          </a:prstGeom>
          <a:noFill/>
          <a:ln/>
        </p:spPr>
        <p:txBody>
          <a:bodyPr wrap="square" lIns="0" tIns="0" rIns="0" bIns="0" rtlCol="0" anchor="t"/>
          <a:lstStyle/>
          <a:p>
            <a:pPr indent="0" marL="0">
              <a:buNone/>
            </a:pPr>
            <a:r>
              <a:rPr lang="en-US" sz="900" dirty="0">
                <a:solidFill>
                  <a:srgbClr val="1B2A41"/>
                </a:solidFill>
                <a:latin typeface="Calibri" pitchFamily="34" charset="0"/>
                <a:ea typeface="Calibri" pitchFamily="34" charset="-122"/>
                <a:cs typeface="Calibri" pitchFamily="34" charset="-120"/>
              </a:rPr>
              <a:t>• Structured JSON logs with correlation IDs (slog / structlog); no metrics stack by design (ADR-014)</a:t>
            </a:r>
            <a:endParaRPr lang="en-US" sz="900" dirty="0"/>
          </a:p>
          <a:p>
            <a:pPr indent="0" marL="0">
              <a:buNone/>
            </a:pPr>
            <a:r>
              <a:rPr lang="en-US" sz="900" dirty="0">
                <a:solidFill>
                  <a:srgbClr val="1B2A41"/>
                </a:solidFill>
                <a:latin typeface="Calibri" pitchFamily="34" charset="0"/>
                <a:ea typeface="Calibri" pitchFamily="34" charset="-122"/>
                <a:cs typeface="Calibri" pitchFamily="34" charset="-120"/>
              </a:rPr>
              <a:t>• Hash-chained audit.decisions topic, compacted and retained indefinitely</a:t>
            </a:r>
            <a:endParaRPr lang="en-US" sz="900" dirty="0"/>
          </a:p>
          <a:p>
            <a:pPr indent="0" marL="0">
              <a:buNone/>
            </a:pPr>
            <a:r>
              <a:rPr lang="en-US" sz="900" dirty="0">
                <a:solidFill>
                  <a:srgbClr val="1B2A41"/>
                </a:solidFill>
                <a:latin typeface="Calibri" pitchFamily="34" charset="0"/>
                <a:ea typeface="Calibri" pitchFamily="34" charset="-122"/>
                <a:cs typeface="Calibri" pitchFamily="34" charset="-120"/>
              </a:rPr>
              <a:t>• make verify-audit walks every chain and names the first break</a:t>
            </a:r>
            <a:endParaRPr lang="en-US" sz="900" dirty="0"/>
          </a:p>
          <a:p>
            <a:pPr indent="0" marL="0">
              <a:buNone/>
            </a:pPr>
            <a:r>
              <a:rPr lang="en-US" sz="900" dirty="0">
                <a:solidFill>
                  <a:srgbClr val="1B2A41"/>
                </a:solidFill>
                <a:latin typeface="Calibri" pitchFamily="34" charset="0"/>
                <a:ea typeface="Calibri" pitchFamily="34" charset="-122"/>
                <a:cs typeface="Calibri" pitchFamily="34" charset="-120"/>
              </a:rPr>
              <a:t>• Client YAML is schema-validated strictly at load: an unknown key fails loudly, never at 3 a.m.</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5486400" cy="228600"/>
          </a:xfrm>
          <a:prstGeom prst="rect">
            <a:avLst/>
          </a:prstGeom>
          <a:noFill/>
          <a:ln/>
        </p:spPr>
        <p:txBody>
          <a:bodyPr wrap="square" lIns="0" tIns="0" rIns="0" bIns="0" rtlCol="0" anchor="ctr"/>
          <a:lstStyle/>
          <a:p>
            <a:pPr indent="0" marL="0">
              <a:buNone/>
            </a:pPr>
            <a:r>
              <a:rPr lang="en-US" sz="1000" b="1" spc="200" kern="0" dirty="0">
                <a:solidFill>
                  <a:srgbClr val="2EC4B6"/>
                </a:solidFill>
                <a:latin typeface="Calibri" pitchFamily="34" charset="0"/>
                <a:ea typeface="Calibri" pitchFamily="34" charset="-122"/>
                <a:cs typeface="Calibri" pitchFamily="34" charset="-120"/>
              </a:rPr>
              <a:t>NEXT STEPS</a:t>
            </a:r>
            <a:endParaRPr lang="en-US" sz="1000" dirty="0"/>
          </a:p>
        </p:txBody>
      </p:sp>
      <p:sp>
        <p:nvSpPr>
          <p:cNvPr id="3" name="Text 1"/>
          <p:cNvSpPr txBox="1"/>
          <p:nvPr/>
        </p:nvSpPr>
        <p:spPr>
          <a:xfrm>
            <a:off x="457200" y="457200"/>
            <a:ext cx="8229600" cy="548640"/>
          </a:xfrm>
          <a:prstGeom prst="rect">
            <a:avLst/>
          </a:prstGeom>
          <a:noFill/>
          <a:ln/>
        </p:spPr>
        <p:txBody>
          <a:bodyPr wrap="square" lIns="0" tIns="0" rIns="0" bIns="0" rtlCol="0" anchor="ctr"/>
          <a:lstStyle/>
          <a:p>
            <a:pPr indent="0" marL="0">
              <a:buNone/>
            </a:pPr>
            <a:r>
              <a:rPr lang="en-US" sz="2600" b="1" dirty="0">
                <a:solidFill>
                  <a:srgbClr val="14213D"/>
                </a:solidFill>
                <a:latin typeface="Cambria" pitchFamily="34" charset="0"/>
                <a:ea typeface="Cambria" pitchFamily="34" charset="-122"/>
                <a:cs typeface="Cambria" pitchFamily="34" charset="-120"/>
              </a:rPr>
              <a:t>Roadmap to production validation</a:t>
            </a:r>
            <a:endParaRPr lang="en-US" sz="2600" dirty="0"/>
          </a:p>
        </p:txBody>
      </p:sp>
      <p:sp>
        <p:nvSpPr>
          <p:cNvPr id="4" name="Text 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800" dirty="0">
                <a:solidFill>
                  <a:srgbClr val="6B7A90"/>
                </a:solidFill>
                <a:latin typeface="Calibri" pitchFamily="34" charset="0"/>
                <a:ea typeface="Calibri" pitchFamily="34" charset="-122"/>
                <a:cs typeface="Calibri" pitchFamily="34" charset="-120"/>
              </a:rPr>
              <a:t>Harbormaster · AI Systems Architecture Review · 22</a:t>
            </a:r>
            <a:endParaRPr lang="en-US" sz="800" dirty="0"/>
          </a:p>
        </p:txBody>
      </p:sp>
      <p:sp>
        <p:nvSpPr>
          <p:cNvPr id="5" name="Shape 3"/>
          <p:cNvSpPr/>
          <p:nvPr/>
        </p:nvSpPr>
        <p:spPr>
          <a:xfrm>
            <a:off x="457200" y="1188720"/>
            <a:ext cx="1965960" cy="3200400"/>
          </a:xfrm>
          <a:prstGeom prst="roundRect">
            <a:avLst>
              <a:gd name="adj" fmla="val 2791"/>
            </a:avLst>
          </a:prstGeom>
          <a:solidFill>
            <a:srgbClr val="EEF6F4"/>
          </a:solidFill>
          <a:ln w="9525">
            <a:solidFill>
              <a:srgbClr val="2EC4B6"/>
            </a:solidFill>
            <a:prstDash val="solid"/>
          </a:ln>
        </p:spPr>
      </p:sp>
      <p:sp>
        <p:nvSpPr>
          <p:cNvPr id="6" name="Text 4"/>
          <p:cNvSpPr txBox="1"/>
          <p:nvPr/>
        </p:nvSpPr>
        <p:spPr>
          <a:xfrm>
            <a:off x="566928" y="1243584"/>
            <a:ext cx="1737360" cy="256032"/>
          </a:xfrm>
          <a:prstGeom prst="rect">
            <a:avLst/>
          </a:prstGeom>
          <a:noFill/>
          <a:ln/>
        </p:spPr>
        <p:txBody>
          <a:bodyPr wrap="square" lIns="0" tIns="0" rIns="0" bIns="0" rtlCol="0" anchor="ctr"/>
          <a:lstStyle/>
          <a:p>
            <a:pPr indent="0" marL="0">
              <a:buNone/>
            </a:pPr>
            <a:r>
              <a:rPr lang="en-US" sz="900" b="1" spc="100" kern="0" dirty="0">
                <a:solidFill>
                  <a:srgbClr val="2EC4B6"/>
                </a:solidFill>
                <a:latin typeface="Calibri" pitchFamily="34" charset="0"/>
                <a:ea typeface="Calibri" pitchFamily="34" charset="-122"/>
                <a:cs typeface="Calibri" pitchFamily="34" charset="-120"/>
              </a:rPr>
              <a:t>Now</a:t>
            </a:r>
            <a:endParaRPr lang="en-US" sz="900" dirty="0"/>
          </a:p>
        </p:txBody>
      </p:sp>
      <p:sp>
        <p:nvSpPr>
          <p:cNvPr id="7" name="Text 5"/>
          <p:cNvSpPr txBox="1"/>
          <p:nvPr/>
        </p:nvSpPr>
        <p:spPr>
          <a:xfrm>
            <a:off x="566928" y="1481328"/>
            <a:ext cx="1737360" cy="320040"/>
          </a:xfrm>
          <a:prstGeom prst="rect">
            <a:avLst/>
          </a:prstGeom>
          <a:noFill/>
          <a:ln/>
        </p:spPr>
        <p:txBody>
          <a:bodyPr wrap="square" lIns="0" tIns="0" rIns="0" bIns="0" rtlCol="0" anchor="ctr"/>
          <a:lstStyle/>
          <a:p>
            <a:pPr indent="0" marL="0">
              <a:buNone/>
            </a:pPr>
            <a:r>
              <a:rPr lang="en-US" sz="1300" b="1" dirty="0">
                <a:solidFill>
                  <a:srgbClr val="14213D"/>
                </a:solidFill>
                <a:latin typeface="Cambria" pitchFamily="34" charset="0"/>
                <a:ea typeface="Cambria" pitchFamily="34" charset="-122"/>
                <a:cs typeface="Cambria" pitchFamily="34" charset="-120"/>
              </a:rPr>
              <a:t>Host validation</a:t>
            </a:r>
            <a:endParaRPr lang="en-US" sz="1300" dirty="0"/>
          </a:p>
        </p:txBody>
      </p:sp>
      <p:sp>
        <p:nvSpPr>
          <p:cNvPr id="8" name="Text 6"/>
          <p:cNvSpPr txBox="1"/>
          <p:nvPr/>
        </p:nvSpPr>
        <p:spPr>
          <a:xfrm>
            <a:off x="566928" y="1874520"/>
            <a:ext cx="1737360" cy="2468880"/>
          </a:xfrm>
          <a:prstGeom prst="rect">
            <a:avLst/>
          </a:prstGeom>
          <a:noFill/>
          <a:ln/>
        </p:spPr>
        <p:txBody>
          <a:bodyPr wrap="square" lIns="0" tIns="0" rIns="0" bIns="0" rtlCol="0" anchor="t"/>
          <a:lstStyle/>
          <a:p>
            <a:pPr marL="342900" indent="-342900">
              <a:spcAft>
                <a:spcPts val="400"/>
              </a:spcAft>
              <a:buSzPct val="100000"/>
              <a:buChar char="•"/>
            </a:pPr>
            <a:r>
              <a:rPr lang="en-US" sz="850" dirty="0">
                <a:solidFill>
                  <a:srgbClr val="1B2A41"/>
                </a:solidFill>
                <a:latin typeface="Calibri" pitchFamily="34" charset="0"/>
                <a:ea typeface="Calibri" pitchFamily="34" charset="-122"/>
                <a:cs typeface="Calibri" pitchFamily="34" charset="-120"/>
              </a:rPr>
              <a:t>go mod tidy; make up &amp;&amp; make test-e2e on a machine with Docker</a:t>
            </a:r>
            <a:endParaRPr lang="en-US" sz="850" dirty="0"/>
          </a:p>
          <a:p>
            <a:pPr marL="342900" indent="-342900">
              <a:spcAft>
                <a:spcPts val="400"/>
              </a:spcAft>
              <a:buSzPct val="100000"/>
              <a:buChar char="•"/>
            </a:pPr>
            <a:r>
              <a:rPr lang="en-US" sz="850" dirty="0">
                <a:solidFill>
                  <a:srgbClr val="1B2A41"/>
                </a:solidFill>
                <a:latin typeface="Calibri" pitchFamily="34" charset="0"/>
                <a:ea typeface="Calibri" pitchFamily="34" charset="-122"/>
                <a:cs typeface="Calibri" pitchFamily="34" charset="-120"/>
              </a:rPr>
              <a:t>HM_LIVE=1 make test-live against the real Claude API</a:t>
            </a:r>
            <a:endParaRPr lang="en-US" sz="850" dirty="0"/>
          </a:p>
          <a:p>
            <a:pPr marL="342900" indent="-342900">
              <a:spcAft>
                <a:spcPts val="400"/>
              </a:spcAft>
              <a:buSzPct val="100000"/>
              <a:buChar char="•"/>
            </a:pPr>
            <a:r>
              <a:rPr lang="en-US" sz="850" dirty="0">
                <a:solidFill>
                  <a:srgbClr val="1B2A41"/>
                </a:solidFill>
                <a:latin typeface="Calibri" pitchFamily="34" charset="0"/>
                <a:ea typeface="Calibri" pitchFamily="34" charset="-122"/>
                <a:cs typeface="Calibri" pitchFamily="34" charset="-120"/>
              </a:rPr>
              <a:t>Confirm the 60s p95 / 180s p99 latency targets (NFR-2)</a:t>
            </a:r>
            <a:endParaRPr lang="en-US" sz="850" dirty="0"/>
          </a:p>
        </p:txBody>
      </p:sp>
      <p:sp>
        <p:nvSpPr>
          <p:cNvPr id="9" name="Shape 7"/>
          <p:cNvSpPr/>
          <p:nvPr/>
        </p:nvSpPr>
        <p:spPr>
          <a:xfrm>
            <a:off x="2560320" y="1188720"/>
            <a:ext cx="1965960" cy="3200400"/>
          </a:xfrm>
          <a:prstGeom prst="roundRect">
            <a:avLst>
              <a:gd name="adj" fmla="val 2791"/>
            </a:avLst>
          </a:prstGeom>
          <a:solidFill>
            <a:srgbClr val="F3F6FA"/>
          </a:solidFill>
          <a:ln w="9525">
            <a:solidFill>
              <a:srgbClr val="C9D3E0"/>
            </a:solidFill>
            <a:prstDash val="solid"/>
          </a:ln>
        </p:spPr>
      </p:sp>
      <p:sp>
        <p:nvSpPr>
          <p:cNvPr id="10" name="Text 8"/>
          <p:cNvSpPr txBox="1"/>
          <p:nvPr/>
        </p:nvSpPr>
        <p:spPr>
          <a:xfrm>
            <a:off x="2670048" y="1243584"/>
            <a:ext cx="1737360" cy="256032"/>
          </a:xfrm>
          <a:prstGeom prst="rect">
            <a:avLst/>
          </a:prstGeom>
          <a:noFill/>
          <a:ln/>
        </p:spPr>
        <p:txBody>
          <a:bodyPr wrap="square" lIns="0" tIns="0" rIns="0" bIns="0" rtlCol="0" anchor="ctr"/>
          <a:lstStyle/>
          <a:p>
            <a:pPr indent="0" marL="0">
              <a:buNone/>
            </a:pPr>
            <a:r>
              <a:rPr lang="en-US" sz="900" b="1" spc="100" kern="0" dirty="0">
                <a:solidFill>
                  <a:srgbClr val="2EC4B6"/>
                </a:solidFill>
                <a:latin typeface="Calibri" pitchFamily="34" charset="0"/>
                <a:ea typeface="Calibri" pitchFamily="34" charset="-122"/>
                <a:cs typeface="Calibri" pitchFamily="34" charset="-120"/>
              </a:rPr>
              <a:t>Near term</a:t>
            </a:r>
            <a:endParaRPr lang="en-US" sz="900" dirty="0"/>
          </a:p>
        </p:txBody>
      </p:sp>
      <p:sp>
        <p:nvSpPr>
          <p:cNvPr id="11" name="Text 9"/>
          <p:cNvSpPr txBox="1"/>
          <p:nvPr/>
        </p:nvSpPr>
        <p:spPr>
          <a:xfrm>
            <a:off x="2670048" y="1481328"/>
            <a:ext cx="1737360" cy="320040"/>
          </a:xfrm>
          <a:prstGeom prst="rect">
            <a:avLst/>
          </a:prstGeom>
          <a:noFill/>
          <a:ln/>
        </p:spPr>
        <p:txBody>
          <a:bodyPr wrap="square" lIns="0" tIns="0" rIns="0" bIns="0" rtlCol="0" anchor="ctr"/>
          <a:lstStyle/>
          <a:p>
            <a:pPr indent="0" marL="0">
              <a:buNone/>
            </a:pPr>
            <a:r>
              <a:rPr lang="en-US" sz="1300" b="1" dirty="0">
                <a:solidFill>
                  <a:srgbClr val="14213D"/>
                </a:solidFill>
                <a:latin typeface="Cambria" pitchFamily="34" charset="0"/>
                <a:ea typeface="Cambria" pitchFamily="34" charset="-122"/>
                <a:cs typeface="Cambria" pitchFamily="34" charset="-120"/>
              </a:rPr>
              <a:t>Close the recall gap</a:t>
            </a:r>
            <a:endParaRPr lang="en-US" sz="1300" dirty="0"/>
          </a:p>
        </p:txBody>
      </p:sp>
      <p:sp>
        <p:nvSpPr>
          <p:cNvPr id="12" name="Text 10"/>
          <p:cNvSpPr txBox="1"/>
          <p:nvPr/>
        </p:nvSpPr>
        <p:spPr>
          <a:xfrm>
            <a:off x="2670048" y="1874520"/>
            <a:ext cx="1737360" cy="2468880"/>
          </a:xfrm>
          <a:prstGeom prst="rect">
            <a:avLst/>
          </a:prstGeom>
          <a:noFill/>
          <a:ln/>
        </p:spPr>
        <p:txBody>
          <a:bodyPr wrap="square" lIns="0" tIns="0" rIns="0" bIns="0" rtlCol="0" anchor="t"/>
          <a:lstStyle/>
          <a:p>
            <a:pPr marL="342900" indent="-342900">
              <a:spcAft>
                <a:spcPts val="400"/>
              </a:spcAft>
              <a:buSzPct val="100000"/>
              <a:buChar char="•"/>
            </a:pPr>
            <a:r>
              <a:rPr lang="en-US" sz="850" dirty="0">
                <a:solidFill>
                  <a:srgbClr val="1B2A41"/>
                </a:solidFill>
                <a:latin typeface="Calibri" pitchFamily="34" charset="0"/>
                <a:ea typeface="Calibri" pitchFamily="34" charset="-122"/>
                <a:cs typeface="Calibri" pitchFamily="34" charset="-120"/>
              </a:rPr>
              <a:t>Investigate the missed quarantine case; consider a lower threshold or an added evidence source</a:t>
            </a:r>
            <a:endParaRPr lang="en-US" sz="850" dirty="0"/>
          </a:p>
          <a:p>
            <a:pPr marL="342900" indent="-342900">
              <a:spcAft>
                <a:spcPts val="400"/>
              </a:spcAft>
              <a:buSzPct val="100000"/>
              <a:buChar char="•"/>
            </a:pPr>
            <a:r>
              <a:rPr lang="en-US" sz="850" dirty="0">
                <a:solidFill>
                  <a:srgbClr val="1B2A41"/>
                </a:solidFill>
                <a:latin typeface="Calibri" pitchFamily="34" charset="0"/>
                <a:ea typeface="Calibri" pitchFamily="34" charset="-122"/>
                <a:cs typeface="Calibri" pitchFamily="34" charset="-120"/>
              </a:rPr>
              <a:t>Install fastembed and re-measure Tier 2 with real embeddings, not fuzzy-only</a:t>
            </a:r>
            <a:endParaRPr lang="en-US" sz="850" dirty="0"/>
          </a:p>
        </p:txBody>
      </p:sp>
      <p:sp>
        <p:nvSpPr>
          <p:cNvPr id="13" name="Shape 11"/>
          <p:cNvSpPr/>
          <p:nvPr/>
        </p:nvSpPr>
        <p:spPr>
          <a:xfrm>
            <a:off x="4663440" y="1188720"/>
            <a:ext cx="1965960" cy="3200400"/>
          </a:xfrm>
          <a:prstGeom prst="roundRect">
            <a:avLst>
              <a:gd name="adj" fmla="val 2791"/>
            </a:avLst>
          </a:prstGeom>
          <a:solidFill>
            <a:srgbClr val="F3F6FA"/>
          </a:solidFill>
          <a:ln w="9525">
            <a:solidFill>
              <a:srgbClr val="C9D3E0"/>
            </a:solidFill>
            <a:prstDash val="solid"/>
          </a:ln>
        </p:spPr>
      </p:sp>
      <p:sp>
        <p:nvSpPr>
          <p:cNvPr id="14" name="Text 12"/>
          <p:cNvSpPr txBox="1"/>
          <p:nvPr/>
        </p:nvSpPr>
        <p:spPr>
          <a:xfrm>
            <a:off x="4773168" y="1243584"/>
            <a:ext cx="1737360" cy="256032"/>
          </a:xfrm>
          <a:prstGeom prst="rect">
            <a:avLst/>
          </a:prstGeom>
          <a:noFill/>
          <a:ln/>
        </p:spPr>
        <p:txBody>
          <a:bodyPr wrap="square" lIns="0" tIns="0" rIns="0" bIns="0" rtlCol="0" anchor="ctr"/>
          <a:lstStyle/>
          <a:p>
            <a:pPr indent="0" marL="0">
              <a:buNone/>
            </a:pPr>
            <a:r>
              <a:rPr lang="en-US" sz="900" b="1" spc="100" kern="0" dirty="0">
                <a:solidFill>
                  <a:srgbClr val="2EC4B6"/>
                </a:solidFill>
                <a:latin typeface="Calibri" pitchFamily="34" charset="0"/>
                <a:ea typeface="Calibri" pitchFamily="34" charset="-122"/>
                <a:cs typeface="Calibri" pitchFamily="34" charset="-120"/>
              </a:rPr>
              <a:t>Before pilot</a:t>
            </a:r>
            <a:endParaRPr lang="en-US" sz="900" dirty="0"/>
          </a:p>
        </p:txBody>
      </p:sp>
      <p:sp>
        <p:nvSpPr>
          <p:cNvPr id="15" name="Text 13"/>
          <p:cNvSpPr txBox="1"/>
          <p:nvPr/>
        </p:nvSpPr>
        <p:spPr>
          <a:xfrm>
            <a:off x="4773168" y="1481328"/>
            <a:ext cx="1737360" cy="320040"/>
          </a:xfrm>
          <a:prstGeom prst="rect">
            <a:avLst/>
          </a:prstGeom>
          <a:noFill/>
          <a:ln/>
        </p:spPr>
        <p:txBody>
          <a:bodyPr wrap="square" lIns="0" tIns="0" rIns="0" bIns="0" rtlCol="0" anchor="ctr"/>
          <a:lstStyle/>
          <a:p>
            <a:pPr indent="0" marL="0">
              <a:buNone/>
            </a:pPr>
            <a:r>
              <a:rPr lang="en-US" sz="1300" b="1" dirty="0">
                <a:solidFill>
                  <a:srgbClr val="14213D"/>
                </a:solidFill>
                <a:latin typeface="Cambria" pitchFamily="34" charset="0"/>
                <a:ea typeface="Cambria" pitchFamily="34" charset="-122"/>
                <a:cs typeface="Cambria" pitchFamily="34" charset="-120"/>
              </a:rPr>
              <a:t>Operational hardening</a:t>
            </a:r>
            <a:endParaRPr lang="en-US" sz="1300" dirty="0"/>
          </a:p>
        </p:txBody>
      </p:sp>
      <p:sp>
        <p:nvSpPr>
          <p:cNvPr id="16" name="Text 14"/>
          <p:cNvSpPr txBox="1"/>
          <p:nvPr/>
        </p:nvSpPr>
        <p:spPr>
          <a:xfrm>
            <a:off x="4773168" y="1874520"/>
            <a:ext cx="1737360" cy="2468880"/>
          </a:xfrm>
          <a:prstGeom prst="rect">
            <a:avLst/>
          </a:prstGeom>
          <a:noFill/>
          <a:ln/>
        </p:spPr>
        <p:txBody>
          <a:bodyPr wrap="square" lIns="0" tIns="0" rIns="0" bIns="0" rtlCol="0" anchor="t"/>
          <a:lstStyle/>
          <a:p>
            <a:pPr marL="342900" indent="-342900">
              <a:spcAft>
                <a:spcPts val="400"/>
              </a:spcAft>
              <a:buSzPct val="100000"/>
              <a:buChar char="•"/>
            </a:pPr>
            <a:r>
              <a:rPr lang="en-US" sz="850" dirty="0">
                <a:solidFill>
                  <a:srgbClr val="1B2A41"/>
                </a:solidFill>
                <a:latin typeface="Calibri" pitchFamily="34" charset="0"/>
                <a:ea typeface="Calibri" pitchFamily="34" charset="-122"/>
                <a:cs typeface="Calibri" pitchFamily="34" charset="-120"/>
              </a:rPr>
              <a:t>Leader-elect the Berthmaster overdue sweep for multi-instance runs</a:t>
            </a:r>
            <a:endParaRPr lang="en-US" sz="850" dirty="0"/>
          </a:p>
          <a:p>
            <a:pPr marL="342900" indent="-342900">
              <a:spcAft>
                <a:spcPts val="400"/>
              </a:spcAft>
              <a:buSzPct val="100000"/>
              <a:buChar char="•"/>
            </a:pPr>
            <a:r>
              <a:rPr lang="en-US" sz="850" dirty="0">
                <a:solidFill>
                  <a:srgbClr val="1B2A41"/>
                </a:solidFill>
                <a:latin typeface="Calibri" pitchFamily="34" charset="0"/>
                <a:ea typeface="Calibri" pitchFamily="34" charset="-122"/>
                <a:cs typeface="Calibri" pitchFamily="34" charset="-120"/>
              </a:rPr>
              <a:t>SSO in front of the operations console</a:t>
            </a:r>
            <a:endParaRPr lang="en-US" sz="850" dirty="0"/>
          </a:p>
          <a:p>
            <a:pPr marL="342900" indent="-342900">
              <a:spcAft>
                <a:spcPts val="400"/>
              </a:spcAft>
              <a:buSzPct val="100000"/>
              <a:buChar char="•"/>
            </a:pPr>
            <a:r>
              <a:rPr lang="en-US" sz="850" dirty="0">
                <a:solidFill>
                  <a:srgbClr val="1B2A41"/>
                </a:solidFill>
                <a:latin typeface="Calibri" pitchFamily="34" charset="0"/>
                <a:ea typeface="Calibri" pitchFamily="34" charset="-122"/>
                <a:cs typeface="Calibri" pitchFamily="34" charset="-120"/>
              </a:rPr>
              <a:t>Load test the 1,000 arrivals/day envelope and the burst target</a:t>
            </a:r>
            <a:endParaRPr lang="en-US" sz="850" dirty="0"/>
          </a:p>
        </p:txBody>
      </p:sp>
      <p:sp>
        <p:nvSpPr>
          <p:cNvPr id="17" name="Shape 15"/>
          <p:cNvSpPr/>
          <p:nvPr/>
        </p:nvSpPr>
        <p:spPr>
          <a:xfrm>
            <a:off x="6766560" y="1188720"/>
            <a:ext cx="1965960" cy="3200400"/>
          </a:xfrm>
          <a:prstGeom prst="roundRect">
            <a:avLst>
              <a:gd name="adj" fmla="val 2791"/>
            </a:avLst>
          </a:prstGeom>
          <a:solidFill>
            <a:srgbClr val="F3F6FA"/>
          </a:solidFill>
          <a:ln w="9525">
            <a:solidFill>
              <a:srgbClr val="C9D3E0"/>
            </a:solidFill>
            <a:prstDash val="solid"/>
          </a:ln>
        </p:spPr>
      </p:sp>
      <p:sp>
        <p:nvSpPr>
          <p:cNvPr id="18" name="Text 16"/>
          <p:cNvSpPr txBox="1"/>
          <p:nvPr/>
        </p:nvSpPr>
        <p:spPr>
          <a:xfrm>
            <a:off x="6876288" y="1243584"/>
            <a:ext cx="1737360" cy="256032"/>
          </a:xfrm>
          <a:prstGeom prst="rect">
            <a:avLst/>
          </a:prstGeom>
          <a:noFill/>
          <a:ln/>
        </p:spPr>
        <p:txBody>
          <a:bodyPr wrap="square" lIns="0" tIns="0" rIns="0" bIns="0" rtlCol="0" anchor="ctr"/>
          <a:lstStyle/>
          <a:p>
            <a:pPr indent="0" marL="0">
              <a:buNone/>
            </a:pPr>
            <a:r>
              <a:rPr lang="en-US" sz="900" b="1" spc="100" kern="0" dirty="0">
                <a:solidFill>
                  <a:srgbClr val="2EC4B6"/>
                </a:solidFill>
                <a:latin typeface="Calibri" pitchFamily="34" charset="0"/>
                <a:ea typeface="Calibri" pitchFamily="34" charset="-122"/>
                <a:cs typeface="Calibri" pitchFamily="34" charset="-120"/>
              </a:rPr>
              <a:t>Scale</a:t>
            </a:r>
            <a:endParaRPr lang="en-US" sz="900" dirty="0"/>
          </a:p>
        </p:txBody>
      </p:sp>
      <p:sp>
        <p:nvSpPr>
          <p:cNvPr id="19" name="Text 17"/>
          <p:cNvSpPr txBox="1"/>
          <p:nvPr/>
        </p:nvSpPr>
        <p:spPr>
          <a:xfrm>
            <a:off x="6876288" y="1481328"/>
            <a:ext cx="1737360" cy="320040"/>
          </a:xfrm>
          <a:prstGeom prst="rect">
            <a:avLst/>
          </a:prstGeom>
          <a:noFill/>
          <a:ln/>
        </p:spPr>
        <p:txBody>
          <a:bodyPr wrap="square" lIns="0" tIns="0" rIns="0" bIns="0" rtlCol="0" anchor="ctr"/>
          <a:lstStyle/>
          <a:p>
            <a:pPr indent="0" marL="0">
              <a:buNone/>
            </a:pPr>
            <a:r>
              <a:rPr lang="en-US" sz="1300" b="1" dirty="0">
                <a:solidFill>
                  <a:srgbClr val="14213D"/>
                </a:solidFill>
                <a:latin typeface="Cambria" pitchFamily="34" charset="0"/>
                <a:ea typeface="Cambria" pitchFamily="34" charset="-122"/>
                <a:cs typeface="Cambria" pitchFamily="34" charset="-120"/>
              </a:rPr>
              <a:t>Beyond the prototype</a:t>
            </a:r>
            <a:endParaRPr lang="en-US" sz="1300" dirty="0"/>
          </a:p>
        </p:txBody>
      </p:sp>
      <p:sp>
        <p:nvSpPr>
          <p:cNvPr id="20" name="Text 18"/>
          <p:cNvSpPr txBox="1"/>
          <p:nvPr/>
        </p:nvSpPr>
        <p:spPr>
          <a:xfrm>
            <a:off x="6876288" y="1874520"/>
            <a:ext cx="1737360" cy="2468880"/>
          </a:xfrm>
          <a:prstGeom prst="rect">
            <a:avLst/>
          </a:prstGeom>
          <a:noFill/>
          <a:ln/>
        </p:spPr>
        <p:txBody>
          <a:bodyPr wrap="square" lIns="0" tIns="0" rIns="0" bIns="0" rtlCol="0" anchor="t"/>
          <a:lstStyle/>
          <a:p>
            <a:pPr marL="342900" indent="-342900">
              <a:spcAft>
                <a:spcPts val="400"/>
              </a:spcAft>
              <a:buSzPct val="100000"/>
              <a:buChar char="•"/>
            </a:pPr>
            <a:r>
              <a:rPr lang="en-US" sz="850" dirty="0">
                <a:solidFill>
                  <a:srgbClr val="1B2A41"/>
                </a:solidFill>
                <a:latin typeface="Calibri" pitchFamily="34" charset="0"/>
                <a:ea typeface="Calibri" pitchFamily="34" charset="-122"/>
                <a:cs typeface="Calibri" pitchFamily="34" charset="-120"/>
              </a:rPr>
              <a:t>Wire the already-implemented S3 object-store adapter</a:t>
            </a:r>
            <a:endParaRPr lang="en-US" sz="850" dirty="0"/>
          </a:p>
          <a:p>
            <a:pPr marL="342900" indent="-342900">
              <a:spcAft>
                <a:spcPts val="400"/>
              </a:spcAft>
              <a:buSzPct val="100000"/>
              <a:buChar char="•"/>
            </a:pPr>
            <a:r>
              <a:rPr lang="en-US" sz="850" dirty="0">
                <a:solidFill>
                  <a:srgbClr val="1B2A41"/>
                </a:solidFill>
                <a:latin typeface="Calibri" pitchFamily="34" charset="0"/>
                <a:ea typeface="Calibri" pitchFamily="34" charset="-122"/>
                <a:cs typeface="Calibri" pitchFamily="34" charset="-120"/>
              </a:rPr>
              <a:t>Extend the client dictionary from pilot-onboarding promotions</a:t>
            </a:r>
            <a:endParaRPr lang="en-US" sz="850" dirty="0"/>
          </a:p>
          <a:p>
            <a:pPr marL="342900" indent="-342900">
              <a:spcAft>
                <a:spcPts val="400"/>
              </a:spcAft>
              <a:buSzPct val="100000"/>
              <a:buChar char="•"/>
            </a:pPr>
            <a:r>
              <a:rPr lang="en-US" sz="850" dirty="0">
                <a:solidFill>
                  <a:srgbClr val="1B2A41"/>
                </a:solidFill>
                <a:latin typeface="Calibri" pitchFamily="34" charset="0"/>
                <a:ea typeface="Calibri" pitchFamily="34" charset="-122"/>
                <a:cs typeface="Calibri" pitchFamily="34" charset="-120"/>
              </a:rPr>
              <a:t>Revisit Redpanda vs. managed Kafka for production topology</a:t>
            </a:r>
            <a:endParaRPr lang="en-US" sz="850" dirty="0"/>
          </a:p>
        </p:txBody>
      </p:sp>
      <p:sp>
        <p:nvSpPr>
          <p:cNvPr id="21" name="Text 19"/>
          <p:cNvSpPr txBox="1"/>
          <p:nvPr/>
        </p:nvSpPr>
        <p:spPr>
          <a:xfrm>
            <a:off x="457200" y="4526280"/>
            <a:ext cx="8229600" cy="274320"/>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Every item above is additive: the contracts, the ladder, the confidence scoring and the audit chain do not change.</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5486400" cy="228600"/>
          </a:xfrm>
          <a:prstGeom prst="rect">
            <a:avLst/>
          </a:prstGeom>
          <a:noFill/>
          <a:ln/>
        </p:spPr>
        <p:txBody>
          <a:bodyPr wrap="square" lIns="0" tIns="0" rIns="0" bIns="0" rtlCol="0" anchor="ctr"/>
          <a:lstStyle/>
          <a:p>
            <a:pPr indent="0" marL="0">
              <a:buNone/>
            </a:pPr>
            <a:r>
              <a:rPr lang="en-US" sz="1000" b="1" spc="200" kern="0" dirty="0">
                <a:solidFill>
                  <a:srgbClr val="2EC4B6"/>
                </a:solidFill>
                <a:latin typeface="Calibri" pitchFamily="34" charset="0"/>
                <a:ea typeface="Calibri" pitchFamily="34" charset="-122"/>
                <a:cs typeface="Calibri" pitchFamily="34" charset="-120"/>
              </a:rPr>
              <a:t>APPENDIX</a:t>
            </a:r>
            <a:endParaRPr lang="en-US" sz="1000" dirty="0"/>
          </a:p>
        </p:txBody>
      </p:sp>
      <p:sp>
        <p:nvSpPr>
          <p:cNvPr id="3" name="Text 1"/>
          <p:cNvSpPr txBox="1"/>
          <p:nvPr/>
        </p:nvSpPr>
        <p:spPr>
          <a:xfrm>
            <a:off x="457200" y="457200"/>
            <a:ext cx="8229600" cy="548640"/>
          </a:xfrm>
          <a:prstGeom prst="rect">
            <a:avLst/>
          </a:prstGeom>
          <a:noFill/>
          <a:ln/>
        </p:spPr>
        <p:txBody>
          <a:bodyPr wrap="square" lIns="0" tIns="0" rIns="0" bIns="0" rtlCol="0" anchor="ctr"/>
          <a:lstStyle/>
          <a:p>
            <a:pPr indent="0" marL="0">
              <a:buNone/>
            </a:pPr>
            <a:r>
              <a:rPr lang="en-US" sz="2600" b="1" dirty="0">
                <a:solidFill>
                  <a:srgbClr val="14213D"/>
                </a:solidFill>
                <a:latin typeface="Cambria" pitchFamily="34" charset="0"/>
                <a:ea typeface="Cambria" pitchFamily="34" charset="-122"/>
                <a:cs typeface="Cambria" pitchFamily="34" charset="-120"/>
              </a:rPr>
              <a:t>Appendix A — Decision log (abridged, 20 total)</a:t>
            </a:r>
            <a:endParaRPr lang="en-US" sz="2600" dirty="0"/>
          </a:p>
        </p:txBody>
      </p:sp>
      <p:sp>
        <p:nvSpPr>
          <p:cNvPr id="4" name="Text 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800" dirty="0">
                <a:solidFill>
                  <a:srgbClr val="6B7A90"/>
                </a:solidFill>
                <a:latin typeface="Calibri" pitchFamily="34" charset="0"/>
                <a:ea typeface="Calibri" pitchFamily="34" charset="-122"/>
                <a:cs typeface="Calibri" pitchFamily="34" charset="-120"/>
              </a:rPr>
              <a:t>Harbormaster · AI Systems Architecture Review · 23</a:t>
            </a:r>
            <a:endParaRPr lang="en-US" sz="8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914400"/>
                <a:gridCol w="3840480"/>
                <a:gridCol w="3474720"/>
              </a:tblGrid>
              <a:tr h="0">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ID</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Decision</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Consequence</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solidFill>
                      <a:srgbClr val="14213D"/>
                    </a:solidFill>
                  </a:tcPr>
                </a:tc>
              </a:tr>
              <a:tr h="0">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ADR-001</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Event-driven log backbone (Kafka-compatible) over batch or sync calls</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Replay is an offset operation; the log is the audit trail</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r>
              <a:tr h="0">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ADR-002</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Polyglot split: Go at the edges, Python in the middle</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Each language fits its workload; a hard requirement for shared contracts</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r>
              <a:tr h="0">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ADR-003</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Protobuf single source of truth, buf-generated, protojson on the wire</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Contract drift becomes a build failure, not a production incident</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r>
              <a:tr h="0">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ADR-004</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Three-tier field mapping, not LLM-first</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Model dependence decreases over time; NFR-8 (≤2% once warm) achievable</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r>
              <a:tr h="0">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ADR-006</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Parquet for canonical output, not CSV</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Nulls and types survive; a missing price is never confused with zero</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r>
              <a:tr h="0">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ADR-011</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Masking: numbers masked to last-4, names visible</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Boards and screenshots stay safe without hiding who a client is</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r>
              <a:tr h="0">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ADR-016</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Poll the landing directory, not inotify</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Correct on the NFS/SMB mounts this actually runs on</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r>
              <a:tr h="0">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ADR-018</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Split validation between build and host environments</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No task marked done on unexecuted code; the gap is visible, not implied</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r>
              <a:tr h="0">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ADR-020</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Topics provisioned by infrastructure, not the application</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800" dirty="0">
                          <a:solidFill>
                            <a:srgbClr val="1B2A41"/>
                          </a:solidFill>
                          <a:latin typeface="Calibri" pitchFamily="34" charset="0"/>
                          <a:ea typeface="Calibri" pitchFamily="34" charset="-122"/>
                          <a:cs typeface="Calibri" pitchFamily="34" charset="-120"/>
                        </a:rPr>
                        <a:t>A topic typo fails loudly instead of silently stranding messages</a:t>
                      </a:r>
                      <a:endParaRPr lang="en-US" sz="8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5486400" cy="228600"/>
          </a:xfrm>
          <a:prstGeom prst="rect">
            <a:avLst/>
          </a:prstGeom>
          <a:noFill/>
          <a:ln/>
        </p:spPr>
        <p:txBody>
          <a:bodyPr wrap="square" lIns="0" tIns="0" rIns="0" bIns="0" rtlCol="0" anchor="ctr"/>
          <a:lstStyle/>
          <a:p>
            <a:pPr indent="0" marL="0">
              <a:buNone/>
            </a:pPr>
            <a:r>
              <a:rPr lang="en-US" sz="1000" b="1" spc="200" kern="0" dirty="0">
                <a:solidFill>
                  <a:srgbClr val="2EC4B6"/>
                </a:solidFill>
                <a:latin typeface="Calibri" pitchFamily="34" charset="0"/>
                <a:ea typeface="Calibri" pitchFamily="34" charset="-122"/>
                <a:cs typeface="Calibri" pitchFamily="34" charset="-120"/>
              </a:rPr>
              <a:t>APPENDIX</a:t>
            </a:r>
            <a:endParaRPr lang="en-US" sz="1000" dirty="0"/>
          </a:p>
        </p:txBody>
      </p:sp>
      <p:sp>
        <p:nvSpPr>
          <p:cNvPr id="3" name="Text 1"/>
          <p:cNvSpPr txBox="1"/>
          <p:nvPr/>
        </p:nvSpPr>
        <p:spPr>
          <a:xfrm>
            <a:off x="457200" y="457200"/>
            <a:ext cx="8229600" cy="548640"/>
          </a:xfrm>
          <a:prstGeom prst="rect">
            <a:avLst/>
          </a:prstGeom>
          <a:noFill/>
          <a:ln/>
        </p:spPr>
        <p:txBody>
          <a:bodyPr wrap="square" lIns="0" tIns="0" rIns="0" bIns="0" rtlCol="0" anchor="ctr"/>
          <a:lstStyle/>
          <a:p>
            <a:pPr indent="0" marL="0">
              <a:buNone/>
            </a:pPr>
            <a:r>
              <a:rPr lang="en-US" sz="2600" b="1" dirty="0">
                <a:solidFill>
                  <a:srgbClr val="14213D"/>
                </a:solidFill>
                <a:latin typeface="Cambria" pitchFamily="34" charset="0"/>
                <a:ea typeface="Cambria" pitchFamily="34" charset="-122"/>
                <a:cs typeface="Cambria" pitchFamily="34" charset="-120"/>
              </a:rPr>
              <a:t>Appendix B — Build statistics and defects found</a:t>
            </a:r>
            <a:endParaRPr lang="en-US" sz="2600" dirty="0"/>
          </a:p>
        </p:txBody>
      </p:sp>
      <p:sp>
        <p:nvSpPr>
          <p:cNvPr id="4" name="Text 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800" dirty="0">
                <a:solidFill>
                  <a:srgbClr val="6B7A90"/>
                </a:solidFill>
                <a:latin typeface="Calibri" pitchFamily="34" charset="0"/>
                <a:ea typeface="Calibri" pitchFamily="34" charset="-122"/>
                <a:cs typeface="Calibri" pitchFamily="34" charset="-120"/>
              </a:rPr>
              <a:t>Harbormaster · AI Systems Architecture Review · 24</a:t>
            </a:r>
            <a:endParaRPr lang="en-US" sz="8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2926080"/>
                <a:gridCol w="5303520"/>
              </a:tblGrid>
              <a:tr h="0">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Measure</a:t>
                      </a:r>
                      <a:endParaRPr lang="en-US" sz="9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solidFill>
                      <a:srgbClr val="14213D"/>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Count</a:t>
                      </a:r>
                      <a:endParaRPr lang="en-US" sz="9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solidFill>
                      <a:srgbClr val="14213D"/>
                    </a:solidFill>
                  </a:tcPr>
                </a:tc>
              </a:tr>
              <a:tr h="0">
                <a:tc>
                  <a:txBody>
                    <a:bodyPr/>
                    <a:lstStyle/>
                    <a:p>
                      <a:pPr indent="0" marL="0">
                        <a:buNone/>
                      </a:pPr>
                      <a:r>
                        <a:rPr lang="en-US" sz="900" dirty="0">
                          <a:solidFill>
                            <a:srgbClr val="1B2A41"/>
                          </a:solidFill>
                          <a:latin typeface="Calibri" pitchFamily="34" charset="0"/>
                          <a:ea typeface="Calibri" pitchFamily="34" charset="-122"/>
                          <a:cs typeface="Calibri" pitchFamily="34" charset="-120"/>
                        </a:rPr>
                        <a:t>Go source</a:t>
                      </a:r>
                      <a:endParaRPr lang="en-US" sz="9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900" dirty="0">
                          <a:solidFill>
                            <a:srgbClr val="1B2A41"/>
                          </a:solidFill>
                          <a:latin typeface="Calibri" pitchFamily="34" charset="0"/>
                          <a:ea typeface="Calibri" pitchFamily="34" charset="-122"/>
                          <a:cs typeface="Calibri" pitchFamily="34" charset="-120"/>
                        </a:rPr>
                        <a:t>4,991 lines across 12 packages and 3 binaries</a:t>
                      </a:r>
                      <a:endParaRPr lang="en-US" sz="9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r>
              <a:tr h="0">
                <a:tc>
                  <a:txBody>
                    <a:bodyPr/>
                    <a:lstStyle/>
                    <a:p>
                      <a:pPr indent="0" marL="0">
                        <a:buNone/>
                      </a:pPr>
                      <a:r>
                        <a:rPr lang="en-US" sz="900" dirty="0">
                          <a:solidFill>
                            <a:srgbClr val="1B2A41"/>
                          </a:solidFill>
                          <a:latin typeface="Calibri" pitchFamily="34" charset="0"/>
                          <a:ea typeface="Calibri" pitchFamily="34" charset="-122"/>
                          <a:cs typeface="Calibri" pitchFamily="34" charset="-120"/>
                        </a:rPr>
                        <a:t>Python source</a:t>
                      </a:r>
                      <a:endParaRPr lang="en-US" sz="9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900" dirty="0">
                          <a:solidFill>
                            <a:srgbClr val="1B2A41"/>
                          </a:solidFill>
                          <a:latin typeface="Calibri" pitchFamily="34" charset="0"/>
                          <a:ea typeface="Calibri" pitchFamily="34" charset="-122"/>
                          <a:cs typeface="Calibri" pitchFamily="34" charset="-120"/>
                        </a:rPr>
                        <a:t>6,295 lines</a:t>
                      </a:r>
                      <a:endParaRPr lang="en-US" sz="9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r>
              <a:tr h="0">
                <a:tc>
                  <a:txBody>
                    <a:bodyPr/>
                    <a:lstStyle/>
                    <a:p>
                      <a:pPr indent="0" marL="0">
                        <a:buNone/>
                      </a:pPr>
                      <a:r>
                        <a:rPr lang="en-US" sz="900" dirty="0">
                          <a:solidFill>
                            <a:srgbClr val="1B2A41"/>
                          </a:solidFill>
                          <a:latin typeface="Calibri" pitchFamily="34" charset="0"/>
                          <a:ea typeface="Calibri" pitchFamily="34" charset="-122"/>
                          <a:cs typeface="Calibri" pitchFamily="34" charset="-120"/>
                        </a:rPr>
                        <a:t>Go tests</a:t>
                      </a:r>
                      <a:endParaRPr lang="en-US" sz="9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900" dirty="0">
                          <a:solidFill>
                            <a:srgbClr val="1B2A41"/>
                          </a:solidFill>
                          <a:latin typeface="Calibri" pitchFamily="34" charset="0"/>
                          <a:ea typeface="Calibri" pitchFamily="34" charset="-122"/>
                          <a:cs typeface="Calibri" pitchFamily="34" charset="-120"/>
                        </a:rPr>
                        <a:t>73 passed, 47 skipped without a live Postgres, in this run</a:t>
                      </a:r>
                      <a:endParaRPr lang="en-US" sz="9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r>
              <a:tr h="0">
                <a:tc>
                  <a:txBody>
                    <a:bodyPr/>
                    <a:lstStyle/>
                    <a:p>
                      <a:pPr indent="0" marL="0">
                        <a:buNone/>
                      </a:pPr>
                      <a:r>
                        <a:rPr lang="en-US" sz="900" dirty="0">
                          <a:solidFill>
                            <a:srgbClr val="1B2A41"/>
                          </a:solidFill>
                          <a:latin typeface="Calibri" pitchFamily="34" charset="0"/>
                          <a:ea typeface="Calibri" pitchFamily="34" charset="-122"/>
                          <a:cs typeface="Calibri" pitchFamily="34" charset="-120"/>
                        </a:rPr>
                        <a:t>Python tests</a:t>
                      </a:r>
                      <a:endParaRPr lang="en-US" sz="9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900" dirty="0">
                          <a:solidFill>
                            <a:srgbClr val="1B2A41"/>
                          </a:solidFill>
                          <a:latin typeface="Calibri" pitchFamily="34" charset="0"/>
                          <a:ea typeface="Calibri" pitchFamily="34" charset="-122"/>
                          <a:cs typeface="Calibri" pitchFamily="34" charset="-120"/>
                        </a:rPr>
                        <a:t>257 passed / 262 collected (tests/), 17/17 (scenarios), in this run</a:t>
                      </a:r>
                      <a:endParaRPr lang="en-US" sz="9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r>
              <a:tr h="0">
                <a:tc>
                  <a:txBody>
                    <a:bodyPr/>
                    <a:lstStyle/>
                    <a:p>
                      <a:pPr indent="0" marL="0">
                        <a:buNone/>
                      </a:pPr>
                      <a:r>
                        <a:rPr lang="en-US" sz="900" dirty="0">
                          <a:solidFill>
                            <a:srgbClr val="1B2A41"/>
                          </a:solidFill>
                          <a:latin typeface="Calibri" pitchFamily="34" charset="0"/>
                          <a:ea typeface="Calibri" pitchFamily="34" charset="-122"/>
                          <a:cs typeface="Calibri" pitchFamily="34" charset="-120"/>
                        </a:rPr>
                        <a:t>Documentation</a:t>
                      </a:r>
                      <a:endParaRPr lang="en-US" sz="9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900" dirty="0">
                          <a:solidFill>
                            <a:srgbClr val="1B2A41"/>
                          </a:solidFill>
                          <a:latin typeface="Calibri" pitchFamily="34" charset="0"/>
                          <a:ea typeface="Calibri" pitchFamily="34" charset="-122"/>
                          <a:cs typeface="Calibri" pitchFamily="34" charset="-120"/>
                        </a:rPr>
                        <a:t>2,877 lines across requirements, HLD, LLD, ADRs, runbook, ship report</a:t>
                      </a:r>
                      <a:endParaRPr lang="en-US" sz="9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r>
              <a:tr h="0">
                <a:tc>
                  <a:txBody>
                    <a:bodyPr/>
                    <a:lstStyle/>
                    <a:p>
                      <a:pPr indent="0" marL="0">
                        <a:buNone/>
                      </a:pPr>
                      <a:r>
                        <a:rPr lang="en-US" sz="900" dirty="0">
                          <a:solidFill>
                            <a:srgbClr val="1B2A41"/>
                          </a:solidFill>
                          <a:latin typeface="Calibri" pitchFamily="34" charset="0"/>
                          <a:ea typeface="Calibri" pitchFamily="34" charset="-122"/>
                          <a:cs typeface="Calibri" pitchFamily="34" charset="-120"/>
                        </a:rPr>
                        <a:t>Task packs / ADRs</a:t>
                      </a:r>
                      <a:endParaRPr lang="en-US" sz="9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c>
                  <a:txBody>
                    <a:bodyPr/>
                    <a:lstStyle/>
                    <a:p>
                      <a:pPr indent="0" marL="0">
                        <a:buNone/>
                      </a:pPr>
                      <a:r>
                        <a:rPr lang="en-US" sz="900" dirty="0">
                          <a:solidFill>
                            <a:srgbClr val="1B2A41"/>
                          </a:solidFill>
                          <a:latin typeface="Calibri" pitchFamily="34" charset="0"/>
                          <a:ea typeface="Calibri" pitchFamily="34" charset="-122"/>
                          <a:cs typeface="Calibri" pitchFamily="34" charset="-120"/>
                        </a:rPr>
                        <a:t>50 task packs; 20 architecture decisions</a:t>
                      </a:r>
                      <a:endParaRPr lang="en-US" sz="900" dirty="0">
                        <a:latin typeface="Calibri" charset="0"/>
                        <a:ea typeface="Calibri" charset="0"/>
                        <a:cs typeface="Calibri" charset="0"/>
                      </a:endParaRPr>
                    </a:p>
                  </a:txBody>
                  <a:tcPr marL="91440" marR="91440" marT="45720" marB="45720">
                    <a:lnL w="6350" cap="flat" cmpd="sng" algn="ctr">
                      <a:solidFill>
                        <a:srgbClr val="C9D3E0"/>
                      </a:solidFill>
                      <a:prstDash val="solid"/>
                      <a:round/>
                      <a:headEnd type="none" w="med" len="med"/>
                      <a:tailEnd type="none" w="med" len="med"/>
                    </a:lnL>
                    <a:lnR w="6350" cap="flat" cmpd="sng" algn="ctr">
                      <a:solidFill>
                        <a:srgbClr val="C9D3E0"/>
                      </a:solidFill>
                      <a:prstDash val="solid"/>
                      <a:round/>
                      <a:headEnd type="none" w="med" len="med"/>
                      <a:tailEnd type="none" w="med" len="med"/>
                    </a:lnR>
                    <a:lnT w="6350" cap="flat" cmpd="sng" algn="ctr">
                      <a:solidFill>
                        <a:srgbClr val="C9D3E0"/>
                      </a:solidFill>
                      <a:prstDash val="solid"/>
                      <a:round/>
                      <a:headEnd type="none" w="med" len="med"/>
                      <a:tailEnd type="none" w="med" len="med"/>
                    </a:lnT>
                    <a:lnB w="6350" cap="flat" cmpd="sng" algn="ctr">
                      <a:solidFill>
                        <a:srgbClr val="C9D3E0"/>
                      </a:solidFill>
                      <a:prstDash val="solid"/>
                      <a:round/>
                      <a:headEnd type="none" w="med" len="med"/>
                      <a:tailEnd type="none" w="med" len="med"/>
                    </a:lnB>
                  </a:tcPr>
                </a:tc>
              </a:tr>
            </a:tbl>
          </a:graphicData>
        </a:graphic>
      </p:graphicFrame>
      <p:sp>
        <p:nvSpPr>
          <p:cNvPr id="6" name="Shape 3"/>
          <p:cNvSpPr/>
          <p:nvPr/>
        </p:nvSpPr>
        <p:spPr>
          <a:xfrm>
            <a:off x="457200" y="3063240"/>
            <a:ext cx="8229600" cy="1417320"/>
          </a:xfrm>
          <a:prstGeom prst="roundRect">
            <a:avLst>
              <a:gd name="adj" fmla="val 3871"/>
            </a:avLst>
          </a:prstGeom>
          <a:solidFill>
            <a:srgbClr val="F3F6FA"/>
          </a:solidFill>
          <a:ln w="9525">
            <a:solidFill>
              <a:srgbClr val="C9D3E0"/>
            </a:solidFill>
            <a:prstDash val="solid"/>
          </a:ln>
        </p:spPr>
      </p:sp>
      <p:sp>
        <p:nvSpPr>
          <p:cNvPr id="7" name="Text 4"/>
          <p:cNvSpPr txBox="1"/>
          <p:nvPr/>
        </p:nvSpPr>
        <p:spPr>
          <a:xfrm>
            <a:off x="548640" y="3118104"/>
            <a:ext cx="8046720" cy="256032"/>
          </a:xfrm>
          <a:prstGeom prst="rect">
            <a:avLst/>
          </a:prstGeom>
          <a:noFill/>
          <a:ln/>
        </p:spPr>
        <p:txBody>
          <a:bodyPr wrap="square" lIns="0" tIns="0" rIns="0" bIns="0" rtlCol="0" anchor="ctr"/>
          <a:lstStyle/>
          <a:p>
            <a:pPr indent="0" marL="0">
              <a:buNone/>
            </a:pPr>
            <a:r>
              <a:rPr lang="en-US" sz="1100" b="1" dirty="0">
                <a:solidFill>
                  <a:srgbClr val="14213D"/>
                </a:solidFill>
                <a:latin typeface="Calibri" pitchFamily="34" charset="0"/>
                <a:ea typeface="Calibri" pitchFamily="34" charset="-122"/>
                <a:cs typeface="Calibri" pitchFamily="34" charset="-120"/>
              </a:rPr>
              <a:t>Defects found and fixed during construction (from the ship report)</a:t>
            </a:r>
            <a:endParaRPr lang="en-US" sz="1100" dirty="0"/>
          </a:p>
        </p:txBody>
      </p:sp>
      <p:sp>
        <p:nvSpPr>
          <p:cNvPr id="8" name="Text 5"/>
          <p:cNvSpPr txBox="1"/>
          <p:nvPr/>
        </p:nvSpPr>
        <p:spPr>
          <a:xfrm>
            <a:off x="548640" y="3374136"/>
            <a:ext cx="8046720" cy="1051560"/>
          </a:xfrm>
          <a:prstGeom prst="rect">
            <a:avLst/>
          </a:prstGeom>
          <a:noFill/>
          <a:ln/>
        </p:spPr>
        <p:txBody>
          <a:bodyPr wrap="square" lIns="0" tIns="0" rIns="0" bIns="0" rtlCol="0" anchor="t"/>
          <a:lstStyle/>
          <a:p>
            <a:pPr indent="0" marL="0">
              <a:buNone/>
            </a:pPr>
            <a:r>
              <a:rPr lang="en-US" sz="850" dirty="0">
                <a:solidFill>
                  <a:srgbClr val="1B2A41"/>
                </a:solidFill>
                <a:latin typeface="Calibri" pitchFamily="34" charset="0"/>
                <a:ea typeface="Calibri" pitchFamily="34" charset="-122"/>
                <a:cs typeface="Calibri" pitchFamily="34" charset="-120"/>
              </a:rPr>
              <a:t>• Audit hashes recomputed differently on read: Postgres stores microseconds, Go carries nanoseconds — every chain would have failed verification</a:t>
            </a:r>
            <a:endParaRPr lang="en-US" sz="850" dirty="0"/>
          </a:p>
          <a:p>
            <a:pPr indent="0" marL="0">
              <a:buNone/>
            </a:pPr>
            <a:r>
              <a:rPr lang="en-US" sz="850" dirty="0">
                <a:solidFill>
                  <a:srgbClr val="1B2A41"/>
                </a:solidFill>
                <a:latin typeface="Calibri" pitchFamily="34" charset="0"/>
                <a:ea typeface="Calibri" pitchFamily="34" charset="-122"/>
                <a:cs typeface="Calibri" pitchFamily="34" charset="-120"/>
              </a:rPr>
              <a:t>• inputs/outcome stored as JSONB normalised key order, so hashed bytes did not match stored bytes — changed to TEXT</a:t>
            </a:r>
            <a:endParaRPr lang="en-US" sz="850" dirty="0"/>
          </a:p>
          <a:p>
            <a:pPr indent="0" marL="0">
              <a:buNone/>
            </a:pPr>
            <a:r>
              <a:rPr lang="en-US" sz="850" dirty="0">
                <a:solidFill>
                  <a:srgbClr val="1B2A41"/>
                </a:solidFill>
                <a:latin typeface="Calibri" pitchFamily="34" charset="0"/>
                <a:ea typeface="Calibri" pitchFamily="34" charset="-122"/>
                <a:cs typeface="Calibri" pitchFamily="34" charset="-120"/>
              </a:rPr>
              <a:t>• A description column full of commas beat the real pipe delimiter in the delimiter scorer</a:t>
            </a:r>
            <a:endParaRPr lang="en-US" sz="850" dirty="0"/>
          </a:p>
          <a:p>
            <a:pPr indent="0" marL="0">
              <a:buNone/>
            </a:pPr>
            <a:r>
              <a:rPr lang="en-US" sz="850" dirty="0">
                <a:solidFill>
                  <a:srgbClr val="1B2A41"/>
                </a:solidFill>
                <a:latin typeface="Calibri" pitchFamily="34" charset="0"/>
                <a:ea typeface="Calibri" pitchFamily="34" charset="-122"/>
                <a:cs typeface="Calibri" pitchFamily="34" charset="-120"/>
              </a:rPr>
              <a:t>• bv or "" in the recon stub made a genuine zero indistinguishable from null (Decimal("0") is falsy)</a:t>
            </a:r>
            <a:endParaRPr lang="en-US" sz="850" dirty="0"/>
          </a:p>
          <a:p>
            <a:pPr indent="0" marL="0">
              <a:buNone/>
            </a:pPr>
            <a:r>
              <a:rPr lang="en-US" sz="850" dirty="0">
                <a:solidFill>
                  <a:srgbClr val="1B2A41"/>
                </a:solidFill>
                <a:latin typeface="Calibri" pitchFamily="34" charset="0"/>
                <a:ea typeface="Calibri" pitchFamily="34" charset="-122"/>
                <a:cs typeface="Calibri" pitchFamily="34" charset="-120"/>
              </a:rPr>
              <a:t>• Masking revealed short account numbers in full: "last four" of a four-character value is all of it</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5486400" cy="228600"/>
          </a:xfrm>
          <a:prstGeom prst="rect">
            <a:avLst/>
          </a:prstGeom>
          <a:noFill/>
          <a:ln/>
        </p:spPr>
        <p:txBody>
          <a:bodyPr wrap="square" lIns="0" tIns="0" rIns="0" bIns="0" rtlCol="0" anchor="ctr"/>
          <a:lstStyle/>
          <a:p>
            <a:pPr indent="0" marL="0">
              <a:buNone/>
            </a:pPr>
            <a:r>
              <a:rPr lang="en-US" sz="1000" b="1" spc="200" kern="0" dirty="0">
                <a:solidFill>
                  <a:srgbClr val="2EC4B6"/>
                </a:solidFill>
                <a:latin typeface="Calibri" pitchFamily="34" charset="0"/>
                <a:ea typeface="Calibri" pitchFamily="34" charset="-122"/>
                <a:cs typeface="Calibri" pitchFamily="34" charset="-120"/>
              </a:rPr>
              <a:t>APPENDIX</a:t>
            </a:r>
            <a:endParaRPr lang="en-US" sz="1000" dirty="0"/>
          </a:p>
        </p:txBody>
      </p:sp>
      <p:sp>
        <p:nvSpPr>
          <p:cNvPr id="3" name="Text 1"/>
          <p:cNvSpPr txBox="1"/>
          <p:nvPr/>
        </p:nvSpPr>
        <p:spPr>
          <a:xfrm>
            <a:off x="457200" y="457200"/>
            <a:ext cx="8229600" cy="548640"/>
          </a:xfrm>
          <a:prstGeom prst="rect">
            <a:avLst/>
          </a:prstGeom>
          <a:noFill/>
          <a:ln/>
        </p:spPr>
        <p:txBody>
          <a:bodyPr wrap="square" lIns="0" tIns="0" rIns="0" bIns="0" rtlCol="0" anchor="ctr"/>
          <a:lstStyle/>
          <a:p>
            <a:pPr indent="0" marL="0">
              <a:buNone/>
            </a:pPr>
            <a:r>
              <a:rPr lang="en-US" sz="2600" b="1" dirty="0">
                <a:solidFill>
                  <a:srgbClr val="14213D"/>
                </a:solidFill>
                <a:latin typeface="Cambria" pitchFamily="34" charset="0"/>
                <a:ea typeface="Cambria" pitchFamily="34" charset="-122"/>
                <a:cs typeface="Cambria" pitchFamily="34" charset="-120"/>
              </a:rPr>
              <a:t>Appendix C — Repository map and how to run</a:t>
            </a:r>
            <a:endParaRPr lang="en-US" sz="2600" dirty="0"/>
          </a:p>
        </p:txBody>
      </p:sp>
      <p:sp>
        <p:nvSpPr>
          <p:cNvPr id="4" name="Text 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800" dirty="0">
                <a:solidFill>
                  <a:srgbClr val="6B7A90"/>
                </a:solidFill>
                <a:latin typeface="Calibri" pitchFamily="34" charset="0"/>
                <a:ea typeface="Calibri" pitchFamily="34" charset="-122"/>
                <a:cs typeface="Calibri" pitchFamily="34" charset="-120"/>
              </a:rPr>
              <a:t>Harbormaster · AI Systems Architecture Review · 25</a:t>
            </a:r>
            <a:endParaRPr lang="en-US" sz="800" dirty="0"/>
          </a:p>
        </p:txBody>
      </p:sp>
      <p:sp>
        <p:nvSpPr>
          <p:cNvPr id="5" name="Text 3"/>
          <p:cNvSpPr txBox="1"/>
          <p:nvPr/>
        </p:nvSpPr>
        <p:spPr>
          <a:xfrm>
            <a:off x="457200" y="1188720"/>
            <a:ext cx="5120640" cy="3017520"/>
          </a:xfrm>
          <a:prstGeom prst="rect">
            <a:avLst/>
          </a:prstGeom>
          <a:noFill/>
          <a:ln/>
        </p:spPr>
        <p:txBody>
          <a:bodyPr wrap="square" lIns="0" tIns="0" rIns="0" bIns="0" rtlCol="0" anchor="t"/>
          <a:lstStyle/>
          <a:p>
            <a:pPr indent="0" marL="0">
              <a:buNone/>
            </a:pPr>
            <a:r>
              <a:rPr lang="en-US" sz="750" dirty="0">
                <a:solidFill>
                  <a:srgbClr val="1B2A41"/>
                </a:solidFill>
                <a:latin typeface="Courier New" pitchFamily="34" charset="0"/>
                <a:ea typeface="Courier New" pitchFamily="34" charset="-122"/>
                <a:cs typeface="Courier New" pitchFamily="34" charset="-120"/>
              </a:rPr>
              <a:t>go/              portwatch, berthmaster, controlplane, auditcheck,</a:t>
            </a:r>
            <a:endParaRPr lang="en-US" sz="750" dirty="0"/>
          </a:p>
          <a:p>
            <a:pPr indent="0" marL="0">
              <a:buNone/>
            </a:pPr>
            <a:r>
              <a:rPr lang="en-US" sz="750" dirty="0">
                <a:solidFill>
                  <a:srgbClr val="1B2A41"/>
                </a:solidFill>
                <a:latin typeface="Courier New" pitchFamily="34" charset="0"/>
                <a:ea typeface="Courier New" pitchFamily="34" charset="-122"/>
                <a:cs typeface="Courier New" pitchFamily="34" charset="-120"/>
              </a:rPr>
              <a:t>                 internal/{arrival,audit,bus,contract,ingress,</a:t>
            </a:r>
            <a:endParaRPr lang="en-US" sz="750" dirty="0"/>
          </a:p>
          <a:p>
            <a:pPr indent="0" marL="0">
              <a:buNone/>
            </a:pPr>
            <a:r>
              <a:rPr lang="en-US" sz="750" dirty="0">
                <a:solidFill>
                  <a:srgbClr val="1B2A41"/>
                </a:solidFill>
                <a:latin typeface="Courier New" pitchFamily="34" charset="0"/>
                <a:ea typeface="Courier New" pitchFamily="34" charset="-122"/>
                <a:cs typeface="Courier New" pitchFamily="34" charset="-120"/>
              </a:rPr>
              <a:t>                 logging,masking,registry,slot,store,web}</a:t>
            </a:r>
            <a:endParaRPr lang="en-US" sz="750" dirty="0"/>
          </a:p>
          <a:p>
            <a:pPr indent="0" marL="0">
              <a:buNone/>
            </a:pPr>
            <a:r>
              <a:rPr lang="en-US" sz="750" dirty="0">
                <a:solidFill>
                  <a:srgbClr val="1B2A41"/>
                </a:solidFill>
                <a:latin typeface="Courier New" pitchFamily="34" charset="0"/>
                <a:ea typeface="Courier New" pitchFamily="34" charset="-122"/>
                <a:cs typeface="Courier New" pitchFamily="34" charset="-120"/>
              </a:rPr>
              <a:t>python/          inspector (parsers, mapping, valuedate,</a:t>
            </a:r>
            <a:endParaRPr lang="en-US" sz="750" dirty="0"/>
          </a:p>
          <a:p>
            <a:pPr indent="0" marL="0">
              <a:buNone/>
            </a:pPr>
            <a:r>
              <a:rPr lang="en-US" sz="750" dirty="0">
                <a:solidFill>
                  <a:srgbClr val="1B2A41"/>
                </a:solidFill>
                <a:latin typeface="Courier New" pitchFamily="34" charset="0"/>
                <a:ea typeface="Courier New" pitchFamily="34" charset="-122"/>
                <a:cs typeface="Courier New" pitchFamily="34" charset="-120"/>
              </a:rPr>
              <a:t>                 attribution, confidence), corpus, reconstub</a:t>
            </a:r>
            <a:endParaRPr lang="en-US" sz="750" dirty="0"/>
          </a:p>
          <a:p>
            <a:pPr indent="0" marL="0">
              <a:buNone/>
            </a:pPr>
            <a:r>
              <a:rPr lang="en-US" sz="750" dirty="0">
                <a:solidFill>
                  <a:srgbClr val="1B2A41"/>
                </a:solidFill>
                <a:latin typeface="Courier New" pitchFamily="34" charset="0"/>
                <a:ea typeface="Courier New" pitchFamily="34" charset="-122"/>
                <a:cs typeface="Courier New" pitchFamily="34" charset="-120"/>
              </a:rPr>
              <a:t>proto/           harbormaster.proto — single source of truth</a:t>
            </a:r>
            <a:endParaRPr lang="en-US" sz="750" dirty="0"/>
          </a:p>
          <a:p>
            <a:pPr indent="0" marL="0">
              <a:buNone/>
            </a:pPr>
            <a:r>
              <a:rPr lang="en-US" sz="750" dirty="0">
                <a:solidFill>
                  <a:srgbClr val="1B2A41"/>
                </a:solidFill>
                <a:latin typeface="Courier New" pitchFamily="34" charset="0"/>
                <a:ea typeface="Courier New" pitchFamily="34" charset="-122"/>
                <a:cs typeface="Courier New" pitchFamily="34" charset="-120"/>
              </a:rPr>
              <a:t>config/          clients/*.yaml, calendars/*.yaml</a:t>
            </a:r>
            <a:endParaRPr lang="en-US" sz="750" dirty="0"/>
          </a:p>
          <a:p>
            <a:pPr indent="0" marL="0">
              <a:buNone/>
            </a:pPr>
            <a:r>
              <a:rPr lang="en-US" sz="750" dirty="0">
                <a:solidFill>
                  <a:srgbClr val="1B2A41"/>
                </a:solidFill>
                <a:latin typeface="Courier New" pitchFamily="34" charset="0"/>
                <a:ea typeface="Courier New" pitchFamily="34" charset="-122"/>
                <a:cs typeface="Courier New" pitchFamily="34" charset="-120"/>
              </a:rPr>
              <a:t>bench/           onboard.py, golden/ — the fixed labelled corpus</a:t>
            </a:r>
            <a:endParaRPr lang="en-US" sz="750" dirty="0"/>
          </a:p>
          <a:p>
            <a:pPr indent="0" marL="0">
              <a:buNone/>
            </a:pPr>
            <a:r>
              <a:rPr lang="en-US" sz="750" dirty="0">
                <a:solidFill>
                  <a:srgbClr val="1B2A41"/>
                </a:solidFill>
                <a:latin typeface="Courier New" pitchFamily="34" charset="0"/>
                <a:ea typeface="Courier New" pitchFamily="34" charset="-122"/>
                <a:cs typeface="Courier New" pitchFamily="34" charset="-120"/>
              </a:rPr>
              <a:t>metrics/         headline.json, card.json, render.py (drift-checked)</a:t>
            </a:r>
            <a:endParaRPr lang="en-US" sz="750" dirty="0"/>
          </a:p>
          <a:p>
            <a:pPr indent="0" marL="0">
              <a:buNone/>
            </a:pPr>
            <a:r>
              <a:rPr lang="en-US" sz="750" dirty="0">
                <a:solidFill>
                  <a:srgbClr val="1B2A41"/>
                </a:solidFill>
                <a:latin typeface="Courier New" pitchFamily="34" charset="0"/>
                <a:ea typeface="Courier New" pitchFamily="34" charset="-122"/>
                <a:cs typeface="Courier New" pitchFamily="34" charset="-120"/>
              </a:rPr>
              <a:t>tests/scenarios/ the twelve adversarial fixtures, one test each</a:t>
            </a:r>
            <a:endParaRPr lang="en-US" sz="750" dirty="0"/>
          </a:p>
          <a:p>
            <a:pPr indent="0" marL="0">
              <a:buNone/>
            </a:pPr>
            <a:r>
              <a:rPr lang="en-US" sz="750" dirty="0">
                <a:solidFill>
                  <a:srgbClr val="1B2A41"/>
                </a:solidFill>
                <a:latin typeface="Courier New" pitchFamily="34" charset="0"/>
                <a:ea typeface="Courier New" pitchFamily="34" charset="-122"/>
                <a:cs typeface="Courier New" pitchFamily="34" charset="-120"/>
              </a:rPr>
              <a:t>docs/design/     requirements, HLD, LLD, execution plan, 20 ADRs</a:t>
            </a:r>
            <a:endParaRPr lang="en-US" sz="750" dirty="0"/>
          </a:p>
          <a:p>
            <a:pPr indent="0" marL="0">
              <a:buNone/>
            </a:pPr>
            <a:r>
              <a:rPr lang="en-US" sz="750" dirty="0">
                <a:solidFill>
                  <a:srgbClr val="1B2A41"/>
                </a:solidFill>
                <a:latin typeface="Courier New" pitchFamily="34" charset="0"/>
                <a:ea typeface="Courier New" pitchFamily="34" charset="-122"/>
                <a:cs typeface="Courier New" pitchFamily="34" charset="-120"/>
              </a:rPr>
              <a:t>docs/tasks/      50 task packs</a:t>
            </a:r>
            <a:endParaRPr lang="en-US" sz="750" dirty="0"/>
          </a:p>
          <a:p>
            <a:pPr indent="0" marL="0">
              <a:buNone/>
            </a:pPr>
            <a:r>
              <a:rPr lang="en-US" sz="750" dirty="0">
                <a:solidFill>
                  <a:srgbClr val="1B2A41"/>
                </a:solidFill>
                <a:latin typeface="Courier New" pitchFamily="34" charset="0"/>
                <a:ea typeface="Courier New" pitchFamily="34" charset="-122"/>
                <a:cs typeface="Courier New" pitchFamily="34" charset="-120"/>
              </a:rPr>
              <a:t>docs/pitch/      this deck</a:t>
            </a:r>
            <a:endParaRPr lang="en-US" sz="750" dirty="0"/>
          </a:p>
        </p:txBody>
      </p:sp>
      <p:sp>
        <p:nvSpPr>
          <p:cNvPr id="6" name="Shape 4"/>
          <p:cNvSpPr/>
          <p:nvPr/>
        </p:nvSpPr>
        <p:spPr>
          <a:xfrm>
            <a:off x="5760720" y="1188720"/>
            <a:ext cx="2926080" cy="3246120"/>
          </a:xfrm>
          <a:prstGeom prst="roundRect">
            <a:avLst>
              <a:gd name="adj" fmla="val 1875"/>
            </a:avLst>
          </a:prstGeom>
          <a:solidFill>
            <a:srgbClr val="1C2B4F"/>
          </a:solidFill>
          <a:ln w="9525">
            <a:solidFill>
              <a:srgbClr val="1C2B4F"/>
            </a:solidFill>
            <a:prstDash val="solid"/>
          </a:ln>
        </p:spPr>
      </p:sp>
      <p:sp>
        <p:nvSpPr>
          <p:cNvPr id="7" name="Text 5"/>
          <p:cNvSpPr txBox="1"/>
          <p:nvPr/>
        </p:nvSpPr>
        <p:spPr>
          <a:xfrm>
            <a:off x="5897880" y="1261872"/>
            <a:ext cx="2743200" cy="274320"/>
          </a:xfrm>
          <a:prstGeom prst="rect">
            <a:avLst/>
          </a:prstGeom>
          <a:noFill/>
          <a:ln/>
        </p:spPr>
        <p:txBody>
          <a:bodyPr wrap="square" lIns="0" tIns="0" rIns="0" bIns="0" rtlCol="0" anchor="ctr"/>
          <a:lstStyle/>
          <a:p>
            <a:pPr indent="0" marL="0">
              <a:buNone/>
            </a:pPr>
            <a:r>
              <a:rPr lang="en-US" sz="1100" b="1" dirty="0">
                <a:solidFill>
                  <a:srgbClr val="2EC4B6"/>
                </a:solidFill>
                <a:latin typeface="Calibri" pitchFamily="34" charset="0"/>
                <a:ea typeface="Calibri" pitchFamily="34" charset="-122"/>
                <a:cs typeface="Calibri" pitchFamily="34" charset="-120"/>
              </a:rPr>
              <a:t>Run it</a:t>
            </a:r>
            <a:endParaRPr lang="en-US" sz="1100" dirty="0"/>
          </a:p>
        </p:txBody>
      </p:sp>
      <p:sp>
        <p:nvSpPr>
          <p:cNvPr id="8" name="Text 6"/>
          <p:cNvSpPr txBox="1"/>
          <p:nvPr/>
        </p:nvSpPr>
        <p:spPr>
          <a:xfrm>
            <a:off x="5897880" y="1572768"/>
            <a:ext cx="2743200" cy="2788920"/>
          </a:xfrm>
          <a:prstGeom prst="rect">
            <a:avLst/>
          </a:prstGeom>
          <a:noFill/>
          <a:ln/>
        </p:spPr>
        <p:txBody>
          <a:bodyPr wrap="square" lIns="0" tIns="0" rIns="0" bIns="0" rtlCol="0" anchor="t"/>
          <a:lstStyle/>
          <a:p>
            <a:pPr indent="0" marL="0">
              <a:buNone/>
            </a:pPr>
            <a:r>
              <a:rPr lang="en-US" sz="850" dirty="0">
                <a:solidFill>
                  <a:srgbClr val="FFFFFF"/>
                </a:solidFill>
                <a:latin typeface="Courier New" pitchFamily="34" charset="0"/>
                <a:ea typeface="Courier New" pitchFamily="34" charset="-122"/>
                <a:cs typeface="Courier New" pitchFamily="34" charset="-120"/>
              </a:rPr>
              <a:t>cd go &amp;&amp; go mod tidy</a:t>
            </a:r>
            <a:endParaRPr lang="en-US" sz="850" dirty="0"/>
          </a:p>
          <a:p>
            <a:pPr indent="0" marL="0">
              <a:buNone/>
            </a:pPr>
            <a:r>
              <a:rPr lang="en-US" sz="850" dirty="0">
                <a:solidFill>
                  <a:srgbClr val="FFFFFF"/>
                </a:solidFill>
                <a:latin typeface="Courier New" pitchFamily="34" charset="0"/>
                <a:ea typeface="Courier New" pitchFamily="34" charset="-122"/>
                <a:cs typeface="Courier New" pitchFamily="34" charset="-120"/>
              </a:rPr>
              <a:t>cd .. &amp;&amp; make check</a:t>
            </a:r>
            <a:endParaRPr lang="en-US" sz="850" dirty="0"/>
          </a:p>
          <a:p>
            <a:pPr indent="0" marL="0">
              <a:buNone/>
            </a:pPr>
            <a:r>
              <a:rPr lang="en-US" sz="850" dirty="0">
                <a:solidFill>
                  <a:srgbClr val="FFFFFF"/>
                </a:solidFill>
                <a:latin typeface="Courier New" pitchFamily="34" charset="0"/>
                <a:ea typeface="Courier New" pitchFamily="34" charset="-122"/>
                <a:cs typeface="Courier New" pitchFamily="34" charset="-120"/>
              </a:rPr>
              <a:t>make bench &amp;&amp; make card</a:t>
            </a:r>
            <a:endParaRPr lang="en-US" sz="850" dirty="0"/>
          </a:p>
          <a:p>
            <a:pPr indent="0" marL="0">
              <a:buNone/>
            </a:pPr>
            <a:r>
              <a:rPr lang="en-US" sz="850" dirty="0">
                <a:solidFill>
                  <a:srgbClr val="FFFFFF"/>
                </a:solidFill>
                <a:latin typeface="Courier New" pitchFamily="34" charset="0"/>
                <a:ea typeface="Courier New" pitchFamily="34" charset="-122"/>
                <a:cs typeface="Courier New" pitchFamily="34" charset="-120"/>
              </a:rPr>
              <a:t>make test-scenarios</a:t>
            </a:r>
            <a:endParaRPr lang="en-US" sz="850" dirty="0"/>
          </a:p>
          <a:p>
            <a:pPr indent="0" marL="0">
              <a:buNone/>
            </a:pPr>
            <a:endParaRPr lang="en-US" sz="850" dirty="0"/>
          </a:p>
          <a:p>
            <a:pPr indent="0" marL="0">
              <a:buNone/>
            </a:pPr>
            <a:r>
              <a:rPr lang="en-US" sz="850" dirty="0">
                <a:solidFill>
                  <a:srgbClr val="FFFFFF"/>
                </a:solidFill>
                <a:latin typeface="Courier New" pitchFamily="34" charset="0"/>
                <a:ea typeface="Courier New" pitchFamily="34" charset="-122"/>
                <a:cs typeface="Courier New" pitchFamily="34" charset="-120"/>
              </a:rPr>
              <a:t># with Docker (host-validated)</a:t>
            </a:r>
            <a:endParaRPr lang="en-US" sz="850" dirty="0"/>
          </a:p>
          <a:p>
            <a:pPr indent="0" marL="0">
              <a:buNone/>
            </a:pPr>
            <a:r>
              <a:rPr lang="en-US" sz="850" dirty="0">
                <a:solidFill>
                  <a:srgbClr val="FFFFFF"/>
                </a:solidFill>
                <a:latin typeface="Courier New" pitchFamily="34" charset="0"/>
                <a:ea typeface="Courier New" pitchFamily="34" charset="-122"/>
                <a:cs typeface="Courier New" pitchFamily="34" charset="-120"/>
              </a:rPr>
              <a:t>make up</a:t>
            </a:r>
            <a:endParaRPr lang="en-US" sz="850" dirty="0"/>
          </a:p>
          <a:p>
            <a:pPr indent="0" marL="0">
              <a:buNone/>
            </a:pPr>
            <a:r>
              <a:rPr lang="en-US" sz="850" dirty="0">
                <a:solidFill>
                  <a:srgbClr val="FFFFFF"/>
                </a:solidFill>
                <a:latin typeface="Courier New" pitchFamily="34" charset="0"/>
                <a:ea typeface="Courier New" pitchFamily="34" charset="-122"/>
                <a:cs typeface="Courier New" pitchFamily="34" charset="-120"/>
              </a:rPr>
              <a:t>make demo</a:t>
            </a:r>
            <a:endParaRPr lang="en-US" sz="850" dirty="0"/>
          </a:p>
          <a:p>
            <a:pPr indent="0" marL="0">
              <a:buNone/>
            </a:pPr>
            <a:r>
              <a:rPr lang="en-US" sz="850" dirty="0">
                <a:solidFill>
                  <a:srgbClr val="FFFFFF"/>
                </a:solidFill>
                <a:latin typeface="Courier New" pitchFamily="34" charset="0"/>
                <a:ea typeface="Courier New" pitchFamily="34" charset="-122"/>
                <a:cs typeface="Courier New" pitchFamily="34" charset="-120"/>
              </a:rPr>
              <a:t>make verify-audit</a:t>
            </a:r>
            <a:endParaRPr lang="en-US" sz="850" dirty="0"/>
          </a:p>
          <a:p>
            <a:pPr indent="0" marL="0">
              <a:buNone/>
            </a:pPr>
            <a:endParaRPr lang="en-US" sz="850" dirty="0"/>
          </a:p>
          <a:p>
            <a:pPr indent="0" marL="0">
              <a:buNone/>
            </a:pPr>
            <a:r>
              <a:rPr lang="en-US" sz="850" dirty="0">
                <a:solidFill>
                  <a:srgbClr val="FFFFFF"/>
                </a:solidFill>
                <a:latin typeface="Courier New" pitchFamily="34" charset="0"/>
                <a:ea typeface="Courier New" pitchFamily="34" charset="-122"/>
                <a:cs typeface="Courier New" pitchFamily="34" charset="-120"/>
              </a:rPr>
              <a:t># the live model tier</a:t>
            </a:r>
            <a:endParaRPr lang="en-US" sz="850" dirty="0"/>
          </a:p>
          <a:p>
            <a:pPr indent="0" marL="0">
              <a:buNone/>
            </a:pPr>
            <a:r>
              <a:rPr lang="en-US" sz="850" dirty="0">
                <a:solidFill>
                  <a:srgbClr val="FFFFFF"/>
                </a:solidFill>
                <a:latin typeface="Courier New" pitchFamily="34" charset="0"/>
                <a:ea typeface="Courier New" pitchFamily="34" charset="-122"/>
                <a:cs typeface="Courier New" pitchFamily="34" charset="-120"/>
              </a:rPr>
              <a:t>export HM_ADJUDICATOR=claude</a:t>
            </a:r>
            <a:endParaRPr lang="en-US" sz="850" dirty="0"/>
          </a:p>
          <a:p>
            <a:pPr indent="0" marL="0">
              <a:buNone/>
            </a:pPr>
            <a:r>
              <a:rPr lang="en-US" sz="850" dirty="0">
                <a:solidFill>
                  <a:srgbClr val="FFFFFF"/>
                </a:solidFill>
                <a:latin typeface="Courier New" pitchFamily="34" charset="0"/>
                <a:ea typeface="Courier New" pitchFamily="34" charset="-122"/>
                <a:cs typeface="Courier New" pitchFamily="34" charset="-120"/>
              </a:rPr>
              <a:t>export ANTHROPIC_API_KEY=sk-...</a:t>
            </a:r>
            <a:endParaRPr lang="en-US" sz="850" dirty="0"/>
          </a:p>
          <a:p>
            <a:pPr indent="0" marL="0">
              <a:buNone/>
            </a:pPr>
            <a:r>
              <a:rPr lang="en-US" sz="850" dirty="0">
                <a:solidFill>
                  <a:srgbClr val="FFFFFF"/>
                </a:solidFill>
                <a:latin typeface="Courier New" pitchFamily="34" charset="0"/>
                <a:ea typeface="Courier New" pitchFamily="34" charset="-122"/>
                <a:cs typeface="Courier New" pitchFamily="34" charset="-120"/>
              </a:rPr>
              <a:t>HM_LIVE=1 make test-live</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548640" y="1737360"/>
            <a:ext cx="804672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Questions</a:t>
            </a:r>
            <a:endParaRPr lang="en-US" sz="3400" dirty="0"/>
          </a:p>
        </p:txBody>
      </p:sp>
      <p:sp>
        <p:nvSpPr>
          <p:cNvPr id="3" name="Text 1"/>
          <p:cNvSpPr txBox="1"/>
          <p:nvPr/>
        </p:nvSpPr>
        <p:spPr>
          <a:xfrm>
            <a:off x="548640" y="2606040"/>
            <a:ext cx="8046720" cy="548640"/>
          </a:xfrm>
          <a:prstGeom prst="rect">
            <a:avLst/>
          </a:prstGeom>
          <a:noFill/>
          <a:ln/>
        </p:spPr>
        <p:txBody>
          <a:bodyPr wrap="square" lIns="0" tIns="0" rIns="0" bIns="0" rtlCol="0" anchor="ctr"/>
          <a:lstStyle/>
          <a:p>
            <a:pPr indent="0" marL="0">
              <a:buNone/>
            </a:pPr>
            <a:r>
              <a:rPr lang="en-US" sz="1500" i="1" dirty="0">
                <a:solidFill>
                  <a:srgbClr val="DCE7F5"/>
                </a:solidFill>
                <a:latin typeface="Calibri" pitchFamily="34" charset="0"/>
                <a:ea typeface="Calibri" pitchFamily="34" charset="-122"/>
                <a:cs typeface="Calibri" pitchFamily="34" charset="-120"/>
              </a:rPr>
              <a:t>Harbormaster · roshanrana/harbormaster · design docs, decision log and runbook in the repository</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Harbormaster — AI Systems Architecture Review</dc:title>
  <dc:subject>PptxGenJS Presentation</dc:subject>
  <dc:creator>Roshan Rana</dc:creator>
  <cp:lastModifiedBy>Roshan Rana</cp:lastModifiedBy>
  <cp:revision>1</cp:revision>
  <dcterms:created xsi:type="dcterms:W3CDTF">2026-09-12T23:59:56Z</dcterms:created>
  <dcterms:modified xsi:type="dcterms:W3CDTF">2026-09-12T23:59:56Z</dcterms:modified>
</cp:coreProperties>
</file>